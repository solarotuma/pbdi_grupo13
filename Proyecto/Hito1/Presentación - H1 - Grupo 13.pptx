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Circe Contrast" charset="1" panose="020C0503080504020303"/>
      <p:regular r:id="rId33"/>
    </p:embeddedFont>
    <p:embeddedFont>
      <p:font typeface="Circe Bold" charset="1" panose="020B0602020203020203"/>
      <p:regular r:id="rId34"/>
    </p:embeddedFont>
    <p:embeddedFont>
      <p:font typeface="Circe" charset="1" panose="020B0502020203020203"/>
      <p:regular r:id="rId35"/>
    </p:embeddedFont>
    <p:embeddedFont>
      <p:font typeface="Circe Bold Italics" charset="1" panose="020B0602020203090203"/>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https://jtie.stekom.ac.id/index.php/jtie/article/view/550" TargetMode="External" Type="http://schemas.openxmlformats.org/officeDocument/2006/relationships/hyperlink"/><Relationship Id="rId5" Target="https://www.hardware-x.com/article/S2468-0672%2821%2900023-7/fulltext"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https://patents.google.com/patent/US20210093782A1/en?oq=US20210093782A1" TargetMode="External" Type="http://schemas.openxmlformats.org/officeDocument/2006/relationships/hyperlink"/><Relationship Id="rId7" Target="https://patents.google.com/patent/US20210093782A1/en?oq=US20210093782A1" TargetMode="External" Type="http://schemas.openxmlformats.org/officeDocument/2006/relationships/hyperlink"/><Relationship Id="rId8" Target="https://patents.google.com/patent/ES2741248T3/es?q=(goteo+intravenoso)&amp;oq=goteo+intravenoso" TargetMode="External" Type="http://schemas.openxmlformats.org/officeDocument/2006/relationships/hyperlink"/><Relationship Id="rId9" Target="https://patents.google.com/patent/AU2021203887B2/en?q=(infusion+pump+automated)&amp;oq=infusion+pump+automated&amp;page=4"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https://catalogs.bbraun-vetcare.com/en-V01/c/VETCARE0000000002/infusion-therapy" TargetMode="External" Type="http://schemas.openxmlformats.org/officeDocument/2006/relationships/hyperlink"/><Relationship Id="rId6" Target="https://catalogs.bbraun-vetcare.com/en-V01/c/VETCARE0000000002/infusion-therapy?utm_source" TargetMode="External" Type="http://schemas.openxmlformats.org/officeDocument/2006/relationships/hyperlink"/><Relationship Id="rId7" Target="https://catalogs.bbraun-vetcare.com/en-V01/c/VETCARE0000000002/infusion-therapy?utm_source" TargetMode="External" Type="http://schemas.openxmlformats.org/officeDocument/2006/relationships/hyperlink"/><Relationship Id="rId8" Target="https://catalogs.bbraun-vetcare.com/en-V01/c/VETCARE0000000002/infusion-therapy?utm_source" TargetMode="External" Type="http://schemas.openxmlformats.org/officeDocument/2006/relationships/hyperlink"/><Relationship Id="rId9" Target="https://www.fresenius-kabi.com/content/dam/fresenius-kabi/dk/products/product-documents/agilia-sp-mc-wifi/CC14265-0_catalogue_agilia_connect_280219.pdf.coredownload.inline.pdf" TargetMode="External" Type="http://schemas.openxmlformats.org/officeDocument/2006/relationships/hyperlink"/></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https://www.shiftlabs.com/purchase-now" TargetMode="External" Type="http://schemas.openxmlformats.org/officeDocument/2006/relationships/hyperlink"/><Relationship Id="rId5" Target="https://iemedic.com.pe/product/bomba-de-infusion/"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https://es.made-in-china.com/co_dpmmed/product_Hospital-Medical-Device-Supply-Fluids-or-Medication-Infusion-Pump_ysuunuugog.html?pv_id=1k2s6o8rl0b8&amp;faw_id=1k2s6o97u7b4&amp;bv_id=1k2s6oagk9d6&amp;pbv_id=1k2s6j4ql399u"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https://github.com/users/SolArotuma/projects/1/views/8" TargetMode="External" Type="http://schemas.openxmlformats.org/officeDocument/2006/relationships/hyperlink"/></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https://doi.org/10.1787/262a739e-es" TargetMode="External" Type="http://schemas.openxmlformats.org/officeDocument/2006/relationships/hyperlink"/><Relationship Id="rId5" Target="https://repositorio.upeu.edu.pe/server/api/core/bitstreams/d6d66ffc-21c1-4e95-a788-f539eb6c3787/content" TargetMode="External" Type="http://schemas.openxmlformats.org/officeDocument/2006/relationships/hyperlink"/><Relationship Id="rId6" Target="https://patents.google.com/patent/AU2021203887B2/en?q=(infusion+pump+automated)&amp;oq=infusion+pump+automated&amp;page=4" TargetMode="External" Type="http://schemas.openxmlformats.org/officeDocument/2006/relationships/hyperlink"/><Relationship Id="rId7" Target="https://patents.google.com/patent/US20210093782A1/en?oq=US20210093782A1" TargetMode="External" Type="http://schemas.openxmlformats.org/officeDocument/2006/relationships/hyperlink"/><Relationship Id="rId8" Target="https://patents.google.com/patent/ES2741248T3/es?q=(goteo+intravenoso)&amp;oq=goteo+intravenoso" TargetMode="External" Type="http://schemas.openxmlformats.org/officeDocument/2006/relationships/hyperlink"/><Relationship Id="rId9" Target="https://www.gob.pe/institucion/minsa/normas-legales/251365-013-2006-sa" TargetMode="External" Type="http://schemas.openxmlformats.org/officeDocument/2006/relationships/hyperlink"/></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6EEE8"/>
        </a:solidFill>
      </p:bgPr>
    </p:bg>
    <p:spTree>
      <p:nvGrpSpPr>
        <p:cNvPr id="1" name=""/>
        <p:cNvGrpSpPr/>
        <p:nvPr/>
      </p:nvGrpSpPr>
      <p:grpSpPr>
        <a:xfrm>
          <a:off x="0" y="0"/>
          <a:ext cx="0" cy="0"/>
          <a:chOff x="0" y="0"/>
          <a:chExt cx="0" cy="0"/>
        </a:xfrm>
      </p:grpSpPr>
      <p:grpSp>
        <p:nvGrpSpPr>
          <p:cNvPr name="Group 2" id="2"/>
          <p:cNvGrpSpPr/>
          <p:nvPr/>
        </p:nvGrpSpPr>
        <p:grpSpPr>
          <a:xfrm rot="0">
            <a:off x="-1093252" y="-846203"/>
            <a:ext cx="2455604" cy="11548014"/>
            <a:chOff x="0" y="0"/>
            <a:chExt cx="646744" cy="3041452"/>
          </a:xfrm>
        </p:grpSpPr>
        <p:sp>
          <p:nvSpPr>
            <p:cNvPr name="Freeform 3" id="3"/>
            <p:cNvSpPr/>
            <p:nvPr/>
          </p:nvSpPr>
          <p:spPr>
            <a:xfrm flipH="false" flipV="false" rot="0">
              <a:off x="0" y="0"/>
              <a:ext cx="646744" cy="3041452"/>
            </a:xfrm>
            <a:custGeom>
              <a:avLst/>
              <a:gdLst/>
              <a:ahLst/>
              <a:cxnLst/>
              <a:rect r="r" b="b" t="t" l="l"/>
              <a:pathLst>
                <a:path h="3041452" w="646744">
                  <a:moveTo>
                    <a:pt x="0" y="0"/>
                  </a:moveTo>
                  <a:lnTo>
                    <a:pt x="646744" y="0"/>
                  </a:lnTo>
                  <a:lnTo>
                    <a:pt x="646744" y="3041452"/>
                  </a:lnTo>
                  <a:lnTo>
                    <a:pt x="0" y="3041452"/>
                  </a:lnTo>
                  <a:close/>
                </a:path>
              </a:pathLst>
            </a:custGeom>
            <a:solidFill>
              <a:srgbClr val="D8CACA"/>
            </a:solidFill>
          </p:spPr>
        </p:sp>
        <p:sp>
          <p:nvSpPr>
            <p:cNvPr name="TextBox 4" id="4"/>
            <p:cNvSpPr txBox="true"/>
            <p:nvPr/>
          </p:nvSpPr>
          <p:spPr>
            <a:xfrm>
              <a:off x="0" y="-38100"/>
              <a:ext cx="646744" cy="30795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096529" y="1209675"/>
            <a:ext cx="10365366" cy="877570"/>
          </a:xfrm>
          <a:prstGeom prst="rect">
            <a:avLst/>
          </a:prstGeom>
        </p:spPr>
        <p:txBody>
          <a:bodyPr anchor="t" rtlCol="false" tIns="0" lIns="0" bIns="0" rIns="0">
            <a:spAutoFit/>
          </a:bodyPr>
          <a:lstStyle/>
          <a:p>
            <a:pPr algn="ctr">
              <a:lnSpc>
                <a:spcPts val="6440"/>
              </a:lnSpc>
            </a:pPr>
            <a:r>
              <a:rPr lang="en-US" sz="7000">
                <a:solidFill>
                  <a:srgbClr val="000000"/>
                </a:solidFill>
                <a:latin typeface="Circe Contrast"/>
                <a:ea typeface="Circe Contrast"/>
                <a:cs typeface="Circe Contrast"/>
                <a:sym typeface="Circe Contrast"/>
              </a:rPr>
              <a:t>HITO 1</a:t>
            </a:r>
          </a:p>
        </p:txBody>
      </p:sp>
      <p:grpSp>
        <p:nvGrpSpPr>
          <p:cNvPr name="Group 6" id="6"/>
          <p:cNvGrpSpPr>
            <a:grpSpLocks noChangeAspect="true"/>
          </p:cNvGrpSpPr>
          <p:nvPr/>
        </p:nvGrpSpPr>
        <p:grpSpPr>
          <a:xfrm rot="0">
            <a:off x="13008776" y="9258300"/>
            <a:ext cx="5246370" cy="5246370"/>
            <a:chOff x="0" y="0"/>
            <a:chExt cx="6355080" cy="6355080"/>
          </a:xfrm>
        </p:grpSpPr>
        <p:sp>
          <p:nvSpPr>
            <p:cNvPr name="Freeform 7" id="7"/>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sp>
      </p:grpSp>
      <p:grpSp>
        <p:nvGrpSpPr>
          <p:cNvPr name="Group 8" id="8"/>
          <p:cNvGrpSpPr>
            <a:grpSpLocks noChangeAspect="true"/>
          </p:cNvGrpSpPr>
          <p:nvPr/>
        </p:nvGrpSpPr>
        <p:grpSpPr>
          <a:xfrm rot="0">
            <a:off x="1613152" y="-4217670"/>
            <a:ext cx="5246370" cy="5246370"/>
            <a:chOff x="0" y="0"/>
            <a:chExt cx="6355080" cy="6355080"/>
          </a:xfrm>
        </p:grpSpPr>
        <p:sp>
          <p:nvSpPr>
            <p:cNvPr name="Freeform 9" id="9"/>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sp>
        <p:nvSpPr>
          <p:cNvPr name="TextBox 10" id="10"/>
          <p:cNvSpPr txBox="true"/>
          <p:nvPr/>
        </p:nvSpPr>
        <p:spPr>
          <a:xfrm rot="0">
            <a:off x="2480585" y="2827240"/>
            <a:ext cx="13326830" cy="2316260"/>
          </a:xfrm>
          <a:prstGeom prst="rect">
            <a:avLst/>
          </a:prstGeom>
        </p:spPr>
        <p:txBody>
          <a:bodyPr anchor="t" rtlCol="false" tIns="0" lIns="0" bIns="0" rIns="0">
            <a:spAutoFit/>
          </a:bodyPr>
          <a:lstStyle/>
          <a:p>
            <a:pPr algn="ctr">
              <a:lnSpc>
                <a:spcPts val="6207"/>
              </a:lnSpc>
            </a:pPr>
            <a:r>
              <a:rPr lang="en-US" b="true" sz="4433" spc="190">
                <a:solidFill>
                  <a:srgbClr val="725076"/>
                </a:solidFill>
                <a:latin typeface="Circe Bold"/>
                <a:ea typeface="Circe Bold"/>
                <a:cs typeface="Circe Bold"/>
                <a:sym typeface="Circe Bold"/>
              </a:rPr>
              <a:t>SISTEMA DE MONITOREO REMOTO Y DETECCIÓN TEMPRANA DE ANOMALÍAS EN TERAPIAS DE INFUSIÓN INTRAVENOSA</a:t>
            </a:r>
          </a:p>
        </p:txBody>
      </p:sp>
      <p:sp>
        <p:nvSpPr>
          <p:cNvPr name="TextBox 11" id="11"/>
          <p:cNvSpPr txBox="true"/>
          <p:nvPr/>
        </p:nvSpPr>
        <p:spPr>
          <a:xfrm rot="0">
            <a:off x="9144000" y="6029416"/>
            <a:ext cx="8995450" cy="4257584"/>
          </a:xfrm>
          <a:prstGeom prst="rect">
            <a:avLst/>
          </a:prstGeom>
        </p:spPr>
        <p:txBody>
          <a:bodyPr anchor="t" rtlCol="false" tIns="0" lIns="0" bIns="0" rIns="0">
            <a:spAutoFit/>
          </a:bodyPr>
          <a:lstStyle/>
          <a:p>
            <a:pPr algn="ctr">
              <a:lnSpc>
                <a:spcPts val="4205"/>
              </a:lnSpc>
            </a:pPr>
            <a:r>
              <a:rPr lang="en-US" sz="3003">
                <a:solidFill>
                  <a:srgbClr val="000000"/>
                </a:solidFill>
                <a:latin typeface="Circe"/>
                <a:ea typeface="Circe"/>
                <a:cs typeface="Circe"/>
                <a:sym typeface="Circe"/>
              </a:rPr>
              <a:t>GRUPO 13</a:t>
            </a:r>
          </a:p>
          <a:p>
            <a:pPr algn="l" marL="648474" indent="-324237" lvl="1">
              <a:lnSpc>
                <a:spcPts val="4205"/>
              </a:lnSpc>
              <a:buFont typeface="Arial"/>
              <a:buChar char="•"/>
            </a:pPr>
            <a:r>
              <a:rPr lang="en-US" sz="3003">
                <a:solidFill>
                  <a:srgbClr val="000000"/>
                </a:solidFill>
                <a:latin typeface="Circe"/>
                <a:ea typeface="Circe"/>
                <a:cs typeface="Circe"/>
                <a:sym typeface="Circe"/>
              </a:rPr>
              <a:t>AROTUMA PEDROZA, SOL FATIMA   </a:t>
            </a:r>
          </a:p>
          <a:p>
            <a:pPr algn="l" marL="648474" indent="-324237" lvl="1">
              <a:lnSpc>
                <a:spcPts val="4205"/>
              </a:lnSpc>
              <a:buFont typeface="Arial"/>
              <a:buChar char="•"/>
            </a:pPr>
            <a:r>
              <a:rPr lang="en-US" sz="3003">
                <a:solidFill>
                  <a:srgbClr val="000000"/>
                </a:solidFill>
                <a:latin typeface="Circe"/>
                <a:ea typeface="Circe"/>
                <a:cs typeface="Circe"/>
                <a:sym typeface="Circe"/>
              </a:rPr>
              <a:t>CCOA BANDA, VALERIA MILAGROS </a:t>
            </a:r>
          </a:p>
          <a:p>
            <a:pPr algn="l" marL="648474" indent="-324237" lvl="1">
              <a:lnSpc>
                <a:spcPts val="4205"/>
              </a:lnSpc>
              <a:buFont typeface="Arial"/>
              <a:buChar char="•"/>
            </a:pPr>
            <a:r>
              <a:rPr lang="en-US" sz="3003">
                <a:solidFill>
                  <a:srgbClr val="000000"/>
                </a:solidFill>
                <a:latin typeface="Circe"/>
                <a:ea typeface="Circe"/>
                <a:cs typeface="Circe"/>
                <a:sym typeface="Circe"/>
              </a:rPr>
              <a:t>CONDOR ORIHUELA, EZAEL SERGIO   </a:t>
            </a:r>
          </a:p>
          <a:p>
            <a:pPr algn="l" marL="648474" indent="-324237" lvl="1">
              <a:lnSpc>
                <a:spcPts val="4205"/>
              </a:lnSpc>
              <a:buFont typeface="Arial"/>
              <a:buChar char="•"/>
            </a:pPr>
            <a:r>
              <a:rPr lang="en-US" sz="3003">
                <a:solidFill>
                  <a:srgbClr val="000000"/>
                </a:solidFill>
                <a:latin typeface="Circe"/>
                <a:ea typeface="Circe"/>
                <a:cs typeface="Circe"/>
                <a:sym typeface="Circe"/>
              </a:rPr>
              <a:t>ESPINOZA PADILLA, SEBASTIAN AMADEUS</a:t>
            </a:r>
          </a:p>
          <a:p>
            <a:pPr algn="l" marL="648474" indent="-324237" lvl="1">
              <a:lnSpc>
                <a:spcPts val="4205"/>
              </a:lnSpc>
              <a:buFont typeface="Arial"/>
              <a:buChar char="•"/>
            </a:pPr>
            <a:r>
              <a:rPr lang="en-US" sz="3003">
                <a:solidFill>
                  <a:srgbClr val="000000"/>
                </a:solidFill>
                <a:latin typeface="Circe"/>
                <a:ea typeface="Circe"/>
                <a:cs typeface="Circe"/>
                <a:sym typeface="Circe"/>
              </a:rPr>
              <a:t>HUAMANVILCA ARANDA, ALEXANDER PIERO  </a:t>
            </a:r>
          </a:p>
          <a:p>
            <a:pPr algn="l" marL="648474" indent="-324237" lvl="1">
              <a:lnSpc>
                <a:spcPts val="4205"/>
              </a:lnSpc>
              <a:buFont typeface="Arial"/>
              <a:buChar char="•"/>
            </a:pPr>
            <a:r>
              <a:rPr lang="en-US" sz="3003">
                <a:solidFill>
                  <a:srgbClr val="000000"/>
                </a:solidFill>
                <a:latin typeface="Circe"/>
                <a:ea typeface="Circe"/>
                <a:cs typeface="Circe"/>
                <a:sym typeface="Circe"/>
              </a:rPr>
              <a:t>HUIZA QUISPE, NATHALIE ANTONELLA   </a:t>
            </a:r>
          </a:p>
          <a:p>
            <a:pPr algn="l">
              <a:lnSpc>
                <a:spcPts val="4205"/>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227623">
            <a:off x="16592986" y="1073344"/>
            <a:ext cx="3315235" cy="2947545"/>
          </a:xfrm>
          <a:custGeom>
            <a:avLst/>
            <a:gdLst/>
            <a:ahLst/>
            <a:cxnLst/>
            <a:rect r="r" b="b" t="t" l="l"/>
            <a:pathLst>
              <a:path h="2947545" w="3315235">
                <a:moveTo>
                  <a:pt x="0" y="0"/>
                </a:moveTo>
                <a:lnTo>
                  <a:pt x="3315235" y="0"/>
                </a:lnTo>
                <a:lnTo>
                  <a:pt x="3315235" y="2947545"/>
                </a:lnTo>
                <a:lnTo>
                  <a:pt x="0" y="29475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52791" y="1606961"/>
            <a:ext cx="7525813" cy="3719029"/>
            <a:chOff x="0" y="0"/>
            <a:chExt cx="3423820" cy="1691949"/>
          </a:xfrm>
        </p:grpSpPr>
        <p:sp>
          <p:nvSpPr>
            <p:cNvPr name="Freeform 4" id="4"/>
            <p:cNvSpPr/>
            <p:nvPr/>
          </p:nvSpPr>
          <p:spPr>
            <a:xfrm flipH="false" flipV="false" rot="0">
              <a:off x="0" y="0"/>
              <a:ext cx="3423820" cy="1691949"/>
            </a:xfrm>
            <a:custGeom>
              <a:avLst/>
              <a:gdLst/>
              <a:ahLst/>
              <a:cxnLst/>
              <a:rect r="r" b="b" t="t" l="l"/>
              <a:pathLst>
                <a:path h="1691949" w="3423820">
                  <a:moveTo>
                    <a:pt x="3299360" y="1691949"/>
                  </a:moveTo>
                  <a:lnTo>
                    <a:pt x="124460" y="1691949"/>
                  </a:lnTo>
                  <a:cubicBezTo>
                    <a:pt x="55880" y="1691949"/>
                    <a:pt x="0" y="1636069"/>
                    <a:pt x="0" y="1567489"/>
                  </a:cubicBezTo>
                  <a:lnTo>
                    <a:pt x="0" y="124460"/>
                  </a:lnTo>
                  <a:cubicBezTo>
                    <a:pt x="0" y="55880"/>
                    <a:pt x="55880" y="0"/>
                    <a:pt x="124460" y="0"/>
                  </a:cubicBezTo>
                  <a:lnTo>
                    <a:pt x="3299360" y="0"/>
                  </a:lnTo>
                  <a:cubicBezTo>
                    <a:pt x="3367940" y="0"/>
                    <a:pt x="3423820" y="55880"/>
                    <a:pt x="3423820" y="124460"/>
                  </a:cubicBezTo>
                  <a:lnTo>
                    <a:pt x="3423820" y="1567489"/>
                  </a:lnTo>
                  <a:cubicBezTo>
                    <a:pt x="3423820" y="1636069"/>
                    <a:pt x="3367940" y="1691949"/>
                    <a:pt x="3299360" y="1691949"/>
                  </a:cubicBezTo>
                  <a:close/>
                </a:path>
              </a:pathLst>
            </a:custGeom>
            <a:solidFill>
              <a:srgbClr val="F6EEE8"/>
            </a:solidFill>
          </p:spPr>
        </p:sp>
      </p:grpSp>
      <p:grpSp>
        <p:nvGrpSpPr>
          <p:cNvPr name="Group 5" id="5"/>
          <p:cNvGrpSpPr/>
          <p:nvPr/>
        </p:nvGrpSpPr>
        <p:grpSpPr>
          <a:xfrm rot="0">
            <a:off x="8041119" y="4901317"/>
            <a:ext cx="7537484" cy="3232114"/>
            <a:chOff x="0" y="0"/>
            <a:chExt cx="3429130" cy="1470430"/>
          </a:xfrm>
        </p:grpSpPr>
        <p:sp>
          <p:nvSpPr>
            <p:cNvPr name="Freeform 6" id="6"/>
            <p:cNvSpPr/>
            <p:nvPr/>
          </p:nvSpPr>
          <p:spPr>
            <a:xfrm flipH="false" flipV="false" rot="0">
              <a:off x="0" y="0"/>
              <a:ext cx="3429130" cy="1470430"/>
            </a:xfrm>
            <a:custGeom>
              <a:avLst/>
              <a:gdLst/>
              <a:ahLst/>
              <a:cxnLst/>
              <a:rect r="r" b="b" t="t" l="l"/>
              <a:pathLst>
                <a:path h="1470430" w="3429130">
                  <a:moveTo>
                    <a:pt x="3304670" y="1470430"/>
                  </a:moveTo>
                  <a:lnTo>
                    <a:pt x="124460" y="1470430"/>
                  </a:lnTo>
                  <a:cubicBezTo>
                    <a:pt x="55880" y="1470430"/>
                    <a:pt x="0" y="1414550"/>
                    <a:pt x="0" y="1345969"/>
                  </a:cubicBezTo>
                  <a:lnTo>
                    <a:pt x="0" y="124460"/>
                  </a:lnTo>
                  <a:cubicBezTo>
                    <a:pt x="0" y="55880"/>
                    <a:pt x="55880" y="0"/>
                    <a:pt x="124460" y="0"/>
                  </a:cubicBezTo>
                  <a:lnTo>
                    <a:pt x="3304670" y="0"/>
                  </a:lnTo>
                  <a:cubicBezTo>
                    <a:pt x="3373250" y="0"/>
                    <a:pt x="3429130" y="55880"/>
                    <a:pt x="3429130" y="124460"/>
                  </a:cubicBezTo>
                  <a:lnTo>
                    <a:pt x="3429130" y="1345970"/>
                  </a:lnTo>
                  <a:cubicBezTo>
                    <a:pt x="3429130" y="1414550"/>
                    <a:pt x="3373250" y="1470430"/>
                    <a:pt x="3304670" y="1470430"/>
                  </a:cubicBezTo>
                  <a:close/>
                </a:path>
              </a:pathLst>
            </a:custGeom>
            <a:solidFill>
              <a:srgbClr val="D8CACA"/>
            </a:solidFill>
          </p:spPr>
        </p:sp>
      </p:grpSp>
      <p:sp>
        <p:nvSpPr>
          <p:cNvPr name="TextBox 7" id="7"/>
          <p:cNvSpPr txBox="true"/>
          <p:nvPr/>
        </p:nvSpPr>
        <p:spPr>
          <a:xfrm rot="0">
            <a:off x="0" y="4409193"/>
            <a:ext cx="8676282" cy="1250949"/>
          </a:xfrm>
          <a:prstGeom prst="rect">
            <a:avLst/>
          </a:prstGeom>
        </p:spPr>
        <p:txBody>
          <a:bodyPr anchor="t" rtlCol="false" tIns="0" lIns="0" bIns="0" rIns="0">
            <a:spAutoFit/>
          </a:bodyPr>
          <a:lstStyle/>
          <a:p>
            <a:pPr algn="ctr">
              <a:lnSpc>
                <a:spcPts val="9199"/>
              </a:lnSpc>
            </a:pPr>
            <a:r>
              <a:rPr lang="en-US" sz="9999">
                <a:solidFill>
                  <a:srgbClr val="412D44"/>
                </a:solidFill>
                <a:latin typeface="Circe Contrast"/>
                <a:ea typeface="Circe Contrast"/>
                <a:cs typeface="Circe Contrast"/>
                <a:sym typeface="Circe Contrast"/>
              </a:rPr>
              <a:t>ÍNDICE</a:t>
            </a:r>
          </a:p>
        </p:txBody>
      </p:sp>
      <p:sp>
        <p:nvSpPr>
          <p:cNvPr name="TextBox 8" id="8"/>
          <p:cNvSpPr txBox="true"/>
          <p:nvPr/>
        </p:nvSpPr>
        <p:spPr>
          <a:xfrm rot="0">
            <a:off x="8092303" y="1762804"/>
            <a:ext cx="7203056" cy="6267852"/>
          </a:xfrm>
          <a:prstGeom prst="rect">
            <a:avLst/>
          </a:prstGeom>
        </p:spPr>
        <p:txBody>
          <a:bodyPr anchor="t" rtlCol="false" tIns="0" lIns="0" bIns="0" rIns="0">
            <a:spAutoFit/>
          </a:bodyPr>
          <a:lstStyle/>
          <a:p>
            <a:pPr algn="l" marL="644285" indent="-322143" lvl="1">
              <a:lnSpc>
                <a:spcPts val="4177"/>
              </a:lnSpc>
              <a:buAutoNum type="arabicPeriod" startAt="1"/>
            </a:pPr>
            <a:r>
              <a:rPr lang="en-US" b="true" sz="2984" spc="-83">
                <a:solidFill>
                  <a:srgbClr val="583D5B"/>
                </a:solidFill>
                <a:latin typeface="Circe Bold"/>
                <a:ea typeface="Circe Bold"/>
                <a:cs typeface="Circe Bold"/>
                <a:sym typeface="Circe Bold"/>
              </a:rPr>
              <a:t>PROBLEMÁTICA</a:t>
            </a:r>
          </a:p>
          <a:p>
            <a:pPr algn="l" marL="644285" indent="-322143" lvl="1">
              <a:lnSpc>
                <a:spcPts val="4177"/>
              </a:lnSpc>
              <a:buAutoNum type="arabicPeriod" startAt="1"/>
            </a:pPr>
            <a:r>
              <a:rPr lang="en-US" b="true" sz="2984" spc="-83">
                <a:solidFill>
                  <a:srgbClr val="583D5B"/>
                </a:solidFill>
                <a:latin typeface="Circe Bold"/>
                <a:ea typeface="Circe Bold"/>
                <a:cs typeface="Circe Bold"/>
                <a:sym typeface="Circe Bold"/>
              </a:rPr>
              <a:t>ESTADO DEL ARTE</a:t>
            </a:r>
          </a:p>
          <a:p>
            <a:pPr algn="l">
              <a:lnSpc>
                <a:spcPts val="4177"/>
              </a:lnSpc>
            </a:pPr>
            <a:r>
              <a:rPr lang="en-US" b="true" sz="2984" spc="-83">
                <a:solidFill>
                  <a:srgbClr val="583D5B"/>
                </a:solidFill>
                <a:latin typeface="Circe Bold"/>
                <a:ea typeface="Circe Bold"/>
                <a:cs typeface="Circe Bold"/>
                <a:sym typeface="Circe Bold"/>
              </a:rPr>
              <a:t> </a:t>
            </a:r>
            <a:r>
              <a:rPr lang="en-US" sz="2984" spc="-83">
                <a:solidFill>
                  <a:srgbClr val="583D5B"/>
                </a:solidFill>
                <a:latin typeface="Circe"/>
                <a:ea typeface="Circe"/>
                <a:cs typeface="Circe"/>
                <a:sym typeface="Circe"/>
              </a:rPr>
              <a:t>        2.1. ARTICULOS ACADÉMINOS</a:t>
            </a:r>
          </a:p>
          <a:p>
            <a:pPr algn="l">
              <a:lnSpc>
                <a:spcPts val="4177"/>
              </a:lnSpc>
            </a:pPr>
            <a:r>
              <a:rPr lang="en-US" sz="2984" spc="-83">
                <a:solidFill>
                  <a:srgbClr val="583D5B"/>
                </a:solidFill>
                <a:latin typeface="Circe"/>
                <a:ea typeface="Circe"/>
                <a:cs typeface="Circe"/>
                <a:sym typeface="Circe"/>
              </a:rPr>
              <a:t>        2.2. PATENTES</a:t>
            </a:r>
          </a:p>
          <a:p>
            <a:pPr algn="l">
              <a:lnSpc>
                <a:spcPts val="4177"/>
              </a:lnSpc>
            </a:pPr>
            <a:r>
              <a:rPr lang="en-US" sz="2984" spc="-83">
                <a:solidFill>
                  <a:srgbClr val="583D5B"/>
                </a:solidFill>
                <a:latin typeface="Circe"/>
                <a:ea typeface="Circe"/>
                <a:cs typeface="Circe"/>
                <a:sym typeface="Circe"/>
              </a:rPr>
              <a:t>        2.3. REVISTAS DE CATÁLOGOS</a:t>
            </a:r>
          </a:p>
          <a:p>
            <a:pPr algn="l">
              <a:lnSpc>
                <a:spcPts val="4177"/>
              </a:lnSpc>
            </a:pPr>
            <a:r>
              <a:rPr lang="en-US" sz="2984" spc="-83">
                <a:solidFill>
                  <a:srgbClr val="583D5B"/>
                </a:solidFill>
                <a:latin typeface="Circe"/>
                <a:ea typeface="Circe"/>
                <a:cs typeface="Circe"/>
                <a:sym typeface="Circe"/>
              </a:rPr>
              <a:t>        2.4. PÁGINAS DE FABRICANTES</a:t>
            </a:r>
          </a:p>
          <a:p>
            <a:pPr algn="l" marL="644285" indent="-322143" lvl="1">
              <a:lnSpc>
                <a:spcPts val="4177"/>
              </a:lnSpc>
              <a:buAutoNum type="arabicPeriod" startAt="1"/>
            </a:pPr>
            <a:r>
              <a:rPr lang="en-US" b="true" sz="2984" spc="-83">
                <a:solidFill>
                  <a:srgbClr val="583D5B"/>
                </a:solidFill>
                <a:latin typeface="Circe Bold"/>
                <a:ea typeface="Circe Bold"/>
                <a:cs typeface="Circe Bold"/>
                <a:sym typeface="Circe Bold"/>
              </a:rPr>
              <a:t>LISTA DE EXIGENCIAS</a:t>
            </a:r>
          </a:p>
          <a:p>
            <a:pPr algn="l" marL="644285" indent="-322143" lvl="1">
              <a:lnSpc>
                <a:spcPts val="4177"/>
              </a:lnSpc>
              <a:buAutoNum type="arabicPeriod" startAt="1"/>
            </a:pPr>
            <a:r>
              <a:rPr lang="en-US" b="true" sz="2984" spc="-83">
                <a:solidFill>
                  <a:srgbClr val="583D5B"/>
                </a:solidFill>
                <a:latin typeface="Circe Bold"/>
                <a:ea typeface="Circe Bold"/>
                <a:cs typeface="Circe Bold"/>
                <a:sym typeface="Circe Bold"/>
              </a:rPr>
              <a:t>ESTRUCTURA DE FUNCIONES</a:t>
            </a:r>
          </a:p>
          <a:p>
            <a:pPr algn="l">
              <a:lnSpc>
                <a:spcPts val="4177"/>
              </a:lnSpc>
            </a:pPr>
            <a:r>
              <a:rPr lang="en-US" b="true" sz="2984" spc="-83">
                <a:solidFill>
                  <a:srgbClr val="583D5B"/>
                </a:solidFill>
                <a:latin typeface="Circe Bold"/>
                <a:ea typeface="Circe Bold"/>
                <a:cs typeface="Circe Bold"/>
                <a:sym typeface="Circe Bold"/>
              </a:rPr>
              <a:t>         </a:t>
            </a:r>
            <a:r>
              <a:rPr lang="en-US" sz="2984" spc="-83">
                <a:solidFill>
                  <a:srgbClr val="583D5B"/>
                </a:solidFill>
                <a:latin typeface="Circe"/>
                <a:ea typeface="Circe"/>
                <a:cs typeface="Circe"/>
                <a:sym typeface="Circe"/>
              </a:rPr>
              <a:t>4.1. BLACK BOX</a:t>
            </a:r>
          </a:p>
          <a:p>
            <a:pPr algn="l">
              <a:lnSpc>
                <a:spcPts val="4177"/>
              </a:lnSpc>
            </a:pPr>
            <a:r>
              <a:rPr lang="en-US" sz="2984" spc="-83">
                <a:solidFill>
                  <a:srgbClr val="583D5B"/>
                </a:solidFill>
                <a:latin typeface="Circe"/>
                <a:ea typeface="Circe"/>
                <a:cs typeface="Circe"/>
                <a:sym typeface="Circe"/>
              </a:rPr>
              <a:t>        4.2. SECUENCIA DE OPERACIONES Y          </a:t>
            </a:r>
          </a:p>
          <a:p>
            <a:pPr algn="l">
              <a:lnSpc>
                <a:spcPts val="4177"/>
              </a:lnSpc>
            </a:pPr>
            <a:r>
              <a:rPr lang="en-US" sz="2984" spc="-83">
                <a:solidFill>
                  <a:srgbClr val="583D5B"/>
                </a:solidFill>
                <a:latin typeface="Circe"/>
                <a:ea typeface="Circe"/>
                <a:cs typeface="Circe"/>
                <a:sym typeface="Circe"/>
              </a:rPr>
              <a:t>                ESTRUCTURA DE FUNCIONES</a:t>
            </a:r>
          </a:p>
          <a:p>
            <a:pPr algn="l" marL="644285" indent="-322143" lvl="1">
              <a:lnSpc>
                <a:spcPts val="4177"/>
              </a:lnSpc>
              <a:buAutoNum type="arabicPeriod" startAt="1"/>
            </a:pPr>
            <a:r>
              <a:rPr lang="en-US" b="true" sz="2984" spc="-83">
                <a:solidFill>
                  <a:srgbClr val="583D5B"/>
                </a:solidFill>
                <a:latin typeface="Circe Bold"/>
                <a:ea typeface="Circe Bold"/>
                <a:cs typeface="Circe Bold"/>
                <a:sym typeface="Circe Bold"/>
              </a:rPr>
              <a:t>GANTT</a:t>
            </a:r>
          </a:p>
        </p:txBody>
      </p:sp>
      <p:sp>
        <p:nvSpPr>
          <p:cNvPr name="Freeform 9" id="9"/>
          <p:cNvSpPr/>
          <p:nvPr/>
        </p:nvSpPr>
        <p:spPr>
          <a:xfrm flipH="false" flipV="false" rot="7689246">
            <a:off x="-1657617" y="6088825"/>
            <a:ext cx="3315235" cy="2947545"/>
          </a:xfrm>
          <a:custGeom>
            <a:avLst/>
            <a:gdLst/>
            <a:ahLst/>
            <a:cxnLst/>
            <a:rect r="r" b="b" t="t" l="l"/>
            <a:pathLst>
              <a:path h="2947545" w="3315235">
                <a:moveTo>
                  <a:pt x="0" y="0"/>
                </a:moveTo>
                <a:lnTo>
                  <a:pt x="3315234" y="0"/>
                </a:lnTo>
                <a:lnTo>
                  <a:pt x="3315234" y="2947546"/>
                </a:lnTo>
                <a:lnTo>
                  <a:pt x="0" y="2947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sp>
        <p:nvSpPr>
          <p:cNvPr name="AutoShape 2" id="2"/>
          <p:cNvSpPr/>
          <p:nvPr/>
        </p:nvSpPr>
        <p:spPr>
          <a:xfrm rot="0">
            <a:off x="-970562" y="652445"/>
            <a:ext cx="19821877" cy="0"/>
          </a:xfrm>
          <a:prstGeom prst="line">
            <a:avLst/>
          </a:prstGeom>
          <a:ln cap="flat" w="114300">
            <a:solidFill>
              <a:srgbClr val="FFFFFF"/>
            </a:solidFill>
            <a:prstDash val="solid"/>
            <a:headEnd type="none" len="sm" w="sm"/>
            <a:tailEnd type="none" len="sm" w="sm"/>
          </a:ln>
        </p:spPr>
      </p:sp>
      <p:sp>
        <p:nvSpPr>
          <p:cNvPr name="Freeform 3" id="3"/>
          <p:cNvSpPr/>
          <p:nvPr/>
        </p:nvSpPr>
        <p:spPr>
          <a:xfrm flipH="false" flipV="false" rot="0">
            <a:off x="16578450" y="8533032"/>
            <a:ext cx="712262" cy="336706"/>
          </a:xfrm>
          <a:custGeom>
            <a:avLst/>
            <a:gdLst/>
            <a:ahLst/>
            <a:cxnLst/>
            <a:rect r="r" b="b" t="t" l="l"/>
            <a:pathLst>
              <a:path h="336706" w="712262">
                <a:moveTo>
                  <a:pt x="0" y="0"/>
                </a:moveTo>
                <a:lnTo>
                  <a:pt x="712262" y="0"/>
                </a:lnTo>
                <a:lnTo>
                  <a:pt x="712262" y="336705"/>
                </a:lnTo>
                <a:lnTo>
                  <a:pt x="0" y="336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121500" y="4405317"/>
            <a:ext cx="14045000" cy="1876417"/>
          </a:xfrm>
          <a:prstGeom prst="rect">
            <a:avLst/>
          </a:prstGeom>
        </p:spPr>
        <p:txBody>
          <a:bodyPr anchor="t" rtlCol="false" tIns="0" lIns="0" bIns="0" rIns="0">
            <a:spAutoFit/>
          </a:bodyPr>
          <a:lstStyle/>
          <a:p>
            <a:pPr algn="l">
              <a:lnSpc>
                <a:spcPts val="13799"/>
              </a:lnSpc>
            </a:pPr>
            <a:r>
              <a:rPr lang="en-US" sz="14999">
                <a:solidFill>
                  <a:srgbClr val="412D44"/>
                </a:solidFill>
                <a:latin typeface="Circe Contrast"/>
                <a:ea typeface="Circe Contrast"/>
                <a:cs typeface="Circe Contrast"/>
                <a:sym typeface="Circe Contrast"/>
              </a:rPr>
              <a:t>PROBLEMÁTICA</a:t>
            </a:r>
          </a:p>
        </p:txBody>
      </p:sp>
      <p:sp>
        <p:nvSpPr>
          <p:cNvPr name="AutoShape 5" id="5"/>
          <p:cNvSpPr/>
          <p:nvPr/>
        </p:nvSpPr>
        <p:spPr>
          <a:xfrm rot="0">
            <a:off x="-818960" y="404795"/>
            <a:ext cx="19821877" cy="0"/>
          </a:xfrm>
          <a:prstGeom prst="line">
            <a:avLst/>
          </a:prstGeom>
          <a:ln cap="flat" w="114300">
            <a:solidFill>
              <a:srgbClr val="FFFFFF"/>
            </a:solidFill>
            <a:prstDash val="solid"/>
            <a:headEnd type="none" len="sm" w="sm"/>
            <a:tailEnd type="none" len="sm" w="sm"/>
          </a:ln>
        </p:spPr>
      </p:sp>
      <p:sp>
        <p:nvSpPr>
          <p:cNvPr name="AutoShape 6" id="6"/>
          <p:cNvSpPr/>
          <p:nvPr/>
        </p:nvSpPr>
        <p:spPr>
          <a:xfrm rot="0">
            <a:off x="-574329" y="9672305"/>
            <a:ext cx="19821877" cy="0"/>
          </a:xfrm>
          <a:prstGeom prst="line">
            <a:avLst/>
          </a:prstGeom>
          <a:ln cap="flat" w="114300">
            <a:solidFill>
              <a:srgbClr val="FFFFFF"/>
            </a:solidFill>
            <a:prstDash val="solid"/>
            <a:headEnd type="none" len="sm" w="sm"/>
            <a:tailEnd type="none" len="sm" w="sm"/>
          </a:ln>
        </p:spPr>
      </p:sp>
      <p:sp>
        <p:nvSpPr>
          <p:cNvPr name="AutoShape 7" id="7"/>
          <p:cNvSpPr/>
          <p:nvPr/>
        </p:nvSpPr>
        <p:spPr>
          <a:xfrm rot="0">
            <a:off x="-422728" y="9424655"/>
            <a:ext cx="19821877" cy="0"/>
          </a:xfrm>
          <a:prstGeom prst="line">
            <a:avLst/>
          </a:prstGeom>
          <a:ln cap="flat" w="114300">
            <a:solidFill>
              <a:srgbClr val="FFFFFF"/>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970562" y="652445"/>
            <a:ext cx="19821877" cy="0"/>
          </a:xfrm>
          <a:prstGeom prst="line">
            <a:avLst/>
          </a:prstGeom>
          <a:ln cap="flat" w="114300">
            <a:solidFill>
              <a:srgbClr val="FFFFFF"/>
            </a:solidFill>
            <a:prstDash val="solid"/>
            <a:headEnd type="none" len="sm" w="sm"/>
            <a:tailEnd type="none" len="sm" w="sm"/>
          </a:ln>
        </p:spPr>
      </p:sp>
      <p:grpSp>
        <p:nvGrpSpPr>
          <p:cNvPr name="Group 3" id="3"/>
          <p:cNvGrpSpPr/>
          <p:nvPr/>
        </p:nvGrpSpPr>
        <p:grpSpPr>
          <a:xfrm rot="0">
            <a:off x="447485" y="1439571"/>
            <a:ext cx="17393030" cy="4127107"/>
            <a:chOff x="0" y="0"/>
            <a:chExt cx="14639683" cy="3473779"/>
          </a:xfrm>
        </p:grpSpPr>
        <p:sp>
          <p:nvSpPr>
            <p:cNvPr name="Freeform 4" id="4"/>
            <p:cNvSpPr/>
            <p:nvPr/>
          </p:nvSpPr>
          <p:spPr>
            <a:xfrm flipH="false" flipV="false" rot="0">
              <a:off x="0" y="0"/>
              <a:ext cx="14639683" cy="3473779"/>
            </a:xfrm>
            <a:custGeom>
              <a:avLst/>
              <a:gdLst/>
              <a:ahLst/>
              <a:cxnLst/>
              <a:rect r="r" b="b" t="t" l="l"/>
              <a:pathLst>
                <a:path h="3473779" w="14639683">
                  <a:moveTo>
                    <a:pt x="14515224" y="3473779"/>
                  </a:moveTo>
                  <a:lnTo>
                    <a:pt x="124460" y="3473779"/>
                  </a:lnTo>
                  <a:cubicBezTo>
                    <a:pt x="55880" y="3473779"/>
                    <a:pt x="0" y="3417899"/>
                    <a:pt x="0" y="3349319"/>
                  </a:cubicBezTo>
                  <a:lnTo>
                    <a:pt x="0" y="124460"/>
                  </a:lnTo>
                  <a:cubicBezTo>
                    <a:pt x="0" y="55880"/>
                    <a:pt x="55880" y="0"/>
                    <a:pt x="124460" y="0"/>
                  </a:cubicBezTo>
                  <a:lnTo>
                    <a:pt x="14515224" y="0"/>
                  </a:lnTo>
                  <a:cubicBezTo>
                    <a:pt x="14583803" y="0"/>
                    <a:pt x="14639683" y="55880"/>
                    <a:pt x="14639683" y="124460"/>
                  </a:cubicBezTo>
                  <a:lnTo>
                    <a:pt x="14639683" y="3349319"/>
                  </a:lnTo>
                  <a:cubicBezTo>
                    <a:pt x="14639683" y="3417899"/>
                    <a:pt x="14583803" y="3473779"/>
                    <a:pt x="14515224" y="3473779"/>
                  </a:cubicBezTo>
                  <a:close/>
                </a:path>
              </a:pathLst>
            </a:custGeom>
            <a:solidFill>
              <a:srgbClr val="E6D4E1">
                <a:alpha val="48627"/>
              </a:srgbClr>
            </a:solidFill>
          </p:spPr>
        </p:sp>
      </p:grpSp>
      <p:sp>
        <p:nvSpPr>
          <p:cNvPr name="AutoShape 5" id="5"/>
          <p:cNvSpPr/>
          <p:nvPr/>
        </p:nvSpPr>
        <p:spPr>
          <a:xfrm>
            <a:off x="-1614219" y="138870"/>
            <a:ext cx="19821877" cy="0"/>
          </a:xfrm>
          <a:prstGeom prst="line">
            <a:avLst/>
          </a:prstGeom>
          <a:ln cap="flat" w="114300">
            <a:solidFill>
              <a:srgbClr val="FFFFFF"/>
            </a:solidFill>
            <a:prstDash val="solid"/>
            <a:headEnd type="none" len="sm" w="sm"/>
            <a:tailEnd type="none" len="sm" w="sm"/>
          </a:ln>
        </p:spPr>
      </p:sp>
      <p:sp>
        <p:nvSpPr>
          <p:cNvPr name="AutoShape 6" id="6"/>
          <p:cNvSpPr/>
          <p:nvPr/>
        </p:nvSpPr>
        <p:spPr>
          <a:xfrm rot="0">
            <a:off x="-574329" y="9672305"/>
            <a:ext cx="19821877" cy="0"/>
          </a:xfrm>
          <a:prstGeom prst="line">
            <a:avLst/>
          </a:prstGeom>
          <a:ln cap="flat" w="114300">
            <a:solidFill>
              <a:srgbClr val="FFFFFF"/>
            </a:solidFill>
            <a:prstDash val="solid"/>
            <a:headEnd type="none" len="sm" w="sm"/>
            <a:tailEnd type="none" len="sm" w="sm"/>
          </a:ln>
        </p:spPr>
      </p:sp>
      <p:grpSp>
        <p:nvGrpSpPr>
          <p:cNvPr name="Group 7" id="7"/>
          <p:cNvGrpSpPr>
            <a:grpSpLocks noChangeAspect="true"/>
          </p:cNvGrpSpPr>
          <p:nvPr/>
        </p:nvGrpSpPr>
        <p:grpSpPr>
          <a:xfrm rot="0">
            <a:off x="14162352" y="-4323221"/>
            <a:ext cx="5246370" cy="5246370"/>
            <a:chOff x="0" y="0"/>
            <a:chExt cx="6355080" cy="6355080"/>
          </a:xfrm>
        </p:grpSpPr>
        <p:sp>
          <p:nvSpPr>
            <p:cNvPr name="Freeform 8" id="8"/>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grpSp>
        <p:nvGrpSpPr>
          <p:cNvPr name="Group 9" id="9"/>
          <p:cNvGrpSpPr>
            <a:grpSpLocks noChangeAspect="true"/>
          </p:cNvGrpSpPr>
          <p:nvPr/>
        </p:nvGrpSpPr>
        <p:grpSpPr>
          <a:xfrm rot="0">
            <a:off x="-1466955" y="9617883"/>
            <a:ext cx="5246370" cy="5246370"/>
            <a:chOff x="0" y="0"/>
            <a:chExt cx="6355080" cy="6355080"/>
          </a:xfrm>
        </p:grpSpPr>
        <p:sp>
          <p:nvSpPr>
            <p:cNvPr name="Freeform 10" id="10"/>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sp>
        <p:nvSpPr>
          <p:cNvPr name="Freeform 11" id="11"/>
          <p:cNvSpPr/>
          <p:nvPr/>
        </p:nvSpPr>
        <p:spPr>
          <a:xfrm flipH="false" flipV="false" rot="0">
            <a:off x="281865" y="1180727"/>
            <a:ext cx="509218" cy="517689"/>
          </a:xfrm>
          <a:custGeom>
            <a:avLst/>
            <a:gdLst/>
            <a:ahLst/>
            <a:cxnLst/>
            <a:rect r="r" b="b" t="t" l="l"/>
            <a:pathLst>
              <a:path h="517689" w="509218">
                <a:moveTo>
                  <a:pt x="0" y="0"/>
                </a:moveTo>
                <a:lnTo>
                  <a:pt x="509218" y="0"/>
                </a:lnTo>
                <a:lnTo>
                  <a:pt x="509218" y="517689"/>
                </a:lnTo>
                <a:lnTo>
                  <a:pt x="0" y="5176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5187125" y="5711223"/>
            <a:ext cx="7615527" cy="4368903"/>
          </a:xfrm>
          <a:custGeom>
            <a:avLst/>
            <a:gdLst/>
            <a:ahLst/>
            <a:cxnLst/>
            <a:rect r="r" b="b" t="t" l="l"/>
            <a:pathLst>
              <a:path h="4368903" w="7615527">
                <a:moveTo>
                  <a:pt x="0" y="0"/>
                </a:moveTo>
                <a:lnTo>
                  <a:pt x="7615527" y="0"/>
                </a:lnTo>
                <a:lnTo>
                  <a:pt x="7615527" y="4368903"/>
                </a:lnTo>
                <a:lnTo>
                  <a:pt x="0" y="4368903"/>
                </a:lnTo>
                <a:lnTo>
                  <a:pt x="0" y="0"/>
                </a:lnTo>
                <a:close/>
              </a:path>
            </a:pathLst>
          </a:custGeom>
          <a:blipFill>
            <a:blip r:embed="rId4"/>
            <a:stretch>
              <a:fillRect l="0" t="0" r="-1957" b="0"/>
            </a:stretch>
          </a:blipFill>
        </p:spPr>
      </p:sp>
      <p:sp>
        <p:nvSpPr>
          <p:cNvPr name="TextBox 13" id="13"/>
          <p:cNvSpPr txBox="true"/>
          <p:nvPr/>
        </p:nvSpPr>
        <p:spPr>
          <a:xfrm rot="0">
            <a:off x="281865" y="397947"/>
            <a:ext cx="15293302" cy="782779"/>
          </a:xfrm>
          <a:prstGeom prst="rect">
            <a:avLst/>
          </a:prstGeom>
        </p:spPr>
        <p:txBody>
          <a:bodyPr anchor="t" rtlCol="false" tIns="0" lIns="0" bIns="0" rIns="0">
            <a:spAutoFit/>
          </a:bodyPr>
          <a:lstStyle/>
          <a:p>
            <a:pPr algn="l">
              <a:lnSpc>
                <a:spcPts val="5714"/>
              </a:lnSpc>
            </a:pPr>
            <a:r>
              <a:rPr lang="en-US" sz="6210">
                <a:solidFill>
                  <a:srgbClr val="412D44"/>
                </a:solidFill>
                <a:latin typeface="Circe Contrast"/>
                <a:ea typeface="Circe Contrast"/>
                <a:cs typeface="Circe Contrast"/>
                <a:sym typeface="Circe Contrast"/>
              </a:rPr>
              <a:t>Principal problemática identificada</a:t>
            </a:r>
          </a:p>
        </p:txBody>
      </p:sp>
      <p:sp>
        <p:nvSpPr>
          <p:cNvPr name="TextBox 14" id="14"/>
          <p:cNvSpPr txBox="true"/>
          <p:nvPr/>
        </p:nvSpPr>
        <p:spPr>
          <a:xfrm rot="0">
            <a:off x="636104" y="1550509"/>
            <a:ext cx="17015793" cy="3724257"/>
          </a:xfrm>
          <a:prstGeom prst="rect">
            <a:avLst/>
          </a:prstGeom>
        </p:spPr>
        <p:txBody>
          <a:bodyPr anchor="t" rtlCol="false" tIns="0" lIns="0" bIns="0" rIns="0">
            <a:spAutoFit/>
          </a:bodyPr>
          <a:lstStyle/>
          <a:p>
            <a:pPr algn="l">
              <a:lnSpc>
                <a:spcPts val="4200"/>
              </a:lnSpc>
              <a:spcBef>
                <a:spcPct val="0"/>
              </a:spcBef>
            </a:pPr>
            <a:r>
              <a:rPr lang="en-US" sz="3000">
                <a:solidFill>
                  <a:srgbClr val="412D44"/>
                </a:solidFill>
                <a:latin typeface="Circe"/>
                <a:ea typeface="Circe"/>
                <a:cs typeface="Circe"/>
                <a:sym typeface="Circe"/>
              </a:rPr>
              <a:t>En el Perú, el sistema de salud enfrenta un déficit crónico de personal asistencial que se traduce en una carga de trabajo excesiva para el personal de enfermería. Según el reporte de la OCDE sobre la salud en el Perú, realizado en agosto de 2025, solo hay dos enfermeros por cada mil pacientes. Esta escasez es reflejada en las largas esperas de atención y en la sobrecarga de los profesionales disponibles, repercute directamente en la calidad y continuidad de los cuidados que reciben los pacientes hospitalizados, y de manera particular en el manejo de la terapia intravenosa, uno de los procedimientos más frecuentes e invasivos que realiza el personal de enfermería. [1]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970562" y="850336"/>
            <a:ext cx="19821877" cy="0"/>
          </a:xfrm>
          <a:prstGeom prst="line">
            <a:avLst/>
          </a:prstGeom>
          <a:ln cap="flat" w="114300">
            <a:solidFill>
              <a:srgbClr val="FFFFFF"/>
            </a:solidFill>
            <a:prstDash val="solid"/>
            <a:headEnd type="none" len="sm" w="sm"/>
            <a:tailEnd type="none" len="sm" w="sm"/>
          </a:ln>
        </p:spPr>
      </p:sp>
      <p:sp>
        <p:nvSpPr>
          <p:cNvPr name="AutoShape 3" id="3"/>
          <p:cNvSpPr/>
          <p:nvPr/>
        </p:nvSpPr>
        <p:spPr>
          <a:xfrm>
            <a:off x="-446182" y="2176723"/>
            <a:ext cx="19821877" cy="0"/>
          </a:xfrm>
          <a:prstGeom prst="line">
            <a:avLst/>
          </a:prstGeom>
          <a:ln cap="flat" w="114300">
            <a:solidFill>
              <a:srgbClr val="FFFFFF"/>
            </a:solidFill>
            <a:prstDash val="solid"/>
            <a:headEnd type="none" len="sm" w="sm"/>
            <a:tailEnd type="none" len="sm" w="sm"/>
          </a:ln>
        </p:spPr>
      </p:sp>
      <p:grpSp>
        <p:nvGrpSpPr>
          <p:cNvPr name="Group 4" id="4"/>
          <p:cNvGrpSpPr>
            <a:grpSpLocks noChangeAspect="true"/>
          </p:cNvGrpSpPr>
          <p:nvPr/>
        </p:nvGrpSpPr>
        <p:grpSpPr>
          <a:xfrm rot="0">
            <a:off x="12450083" y="9717290"/>
            <a:ext cx="5246370" cy="5246370"/>
            <a:chOff x="0" y="0"/>
            <a:chExt cx="6355080" cy="6355080"/>
          </a:xfrm>
        </p:grpSpPr>
        <p:sp>
          <p:nvSpPr>
            <p:cNvPr name="Freeform 5" id="5"/>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grpSp>
        <p:nvGrpSpPr>
          <p:cNvPr name="Group 6" id="6"/>
          <p:cNvGrpSpPr>
            <a:grpSpLocks noChangeAspect="true"/>
          </p:cNvGrpSpPr>
          <p:nvPr/>
        </p:nvGrpSpPr>
        <p:grpSpPr>
          <a:xfrm rot="0">
            <a:off x="1363646" y="-4646295"/>
            <a:ext cx="5246370" cy="5246370"/>
            <a:chOff x="0" y="0"/>
            <a:chExt cx="6355080" cy="6355080"/>
          </a:xfrm>
        </p:grpSpPr>
        <p:sp>
          <p:nvSpPr>
            <p:cNvPr name="Freeform 7" id="7"/>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grpSp>
        <p:nvGrpSpPr>
          <p:cNvPr name="Group 8" id="8"/>
          <p:cNvGrpSpPr/>
          <p:nvPr/>
        </p:nvGrpSpPr>
        <p:grpSpPr>
          <a:xfrm rot="0">
            <a:off x="6629066" y="977057"/>
            <a:ext cx="10630234" cy="4433905"/>
            <a:chOff x="0" y="0"/>
            <a:chExt cx="8947449" cy="3732011"/>
          </a:xfrm>
        </p:grpSpPr>
        <p:sp>
          <p:nvSpPr>
            <p:cNvPr name="Freeform 9" id="9"/>
            <p:cNvSpPr/>
            <p:nvPr/>
          </p:nvSpPr>
          <p:spPr>
            <a:xfrm flipH="false" flipV="false" rot="0">
              <a:off x="0" y="0"/>
              <a:ext cx="8947449" cy="3732011"/>
            </a:xfrm>
            <a:custGeom>
              <a:avLst/>
              <a:gdLst/>
              <a:ahLst/>
              <a:cxnLst/>
              <a:rect r="r" b="b" t="t" l="l"/>
              <a:pathLst>
                <a:path h="3732011" w="8947449">
                  <a:moveTo>
                    <a:pt x="8822989" y="3732011"/>
                  </a:moveTo>
                  <a:lnTo>
                    <a:pt x="124460" y="3732011"/>
                  </a:lnTo>
                  <a:cubicBezTo>
                    <a:pt x="55880" y="3732011"/>
                    <a:pt x="0" y="3676131"/>
                    <a:pt x="0" y="3607550"/>
                  </a:cubicBezTo>
                  <a:lnTo>
                    <a:pt x="0" y="124460"/>
                  </a:lnTo>
                  <a:cubicBezTo>
                    <a:pt x="0" y="55880"/>
                    <a:pt x="55880" y="0"/>
                    <a:pt x="124460" y="0"/>
                  </a:cubicBezTo>
                  <a:lnTo>
                    <a:pt x="8822989" y="0"/>
                  </a:lnTo>
                  <a:cubicBezTo>
                    <a:pt x="8891569" y="0"/>
                    <a:pt x="8947449" y="55880"/>
                    <a:pt x="8947449" y="124460"/>
                  </a:cubicBezTo>
                  <a:lnTo>
                    <a:pt x="8947449" y="3607551"/>
                  </a:lnTo>
                  <a:cubicBezTo>
                    <a:pt x="8947449" y="3676131"/>
                    <a:pt x="8891569" y="3732011"/>
                    <a:pt x="8822989" y="3732011"/>
                  </a:cubicBezTo>
                  <a:close/>
                </a:path>
              </a:pathLst>
            </a:custGeom>
            <a:solidFill>
              <a:srgbClr val="E6D4E1">
                <a:alpha val="48627"/>
              </a:srgbClr>
            </a:solidFill>
          </p:spPr>
        </p:sp>
      </p:grpSp>
      <p:sp>
        <p:nvSpPr>
          <p:cNvPr name="Freeform 10" id="10"/>
          <p:cNvSpPr/>
          <p:nvPr/>
        </p:nvSpPr>
        <p:spPr>
          <a:xfrm flipH="false" flipV="false" rot="0">
            <a:off x="1028700" y="1028700"/>
            <a:ext cx="4604381" cy="8215659"/>
          </a:xfrm>
          <a:custGeom>
            <a:avLst/>
            <a:gdLst/>
            <a:ahLst/>
            <a:cxnLst/>
            <a:rect r="r" b="b" t="t" l="l"/>
            <a:pathLst>
              <a:path h="8215659" w="4604381">
                <a:moveTo>
                  <a:pt x="0" y="0"/>
                </a:moveTo>
                <a:lnTo>
                  <a:pt x="4604381" y="0"/>
                </a:lnTo>
                <a:lnTo>
                  <a:pt x="4604381" y="8215659"/>
                </a:lnTo>
                <a:lnTo>
                  <a:pt x="0" y="8215659"/>
                </a:lnTo>
                <a:lnTo>
                  <a:pt x="0" y="0"/>
                </a:lnTo>
                <a:close/>
              </a:path>
            </a:pathLst>
          </a:custGeom>
          <a:blipFill>
            <a:blip r:embed="rId2"/>
            <a:stretch>
              <a:fillRect l="0" t="0" r="0" b="0"/>
            </a:stretch>
          </a:blipFill>
        </p:spPr>
      </p:sp>
      <p:sp>
        <p:nvSpPr>
          <p:cNvPr name="TextBox 11" id="11"/>
          <p:cNvSpPr txBox="true"/>
          <p:nvPr/>
        </p:nvSpPr>
        <p:spPr>
          <a:xfrm rot="0">
            <a:off x="6771156" y="1020281"/>
            <a:ext cx="10346055" cy="4791030"/>
          </a:xfrm>
          <a:prstGeom prst="rect">
            <a:avLst/>
          </a:prstGeom>
        </p:spPr>
        <p:txBody>
          <a:bodyPr anchor="t" rtlCol="false" tIns="0" lIns="0" bIns="0" rIns="0">
            <a:spAutoFit/>
          </a:bodyPr>
          <a:lstStyle/>
          <a:p>
            <a:pPr algn="just">
              <a:lnSpc>
                <a:spcPts val="4202"/>
              </a:lnSpc>
              <a:spcBef>
                <a:spcPct val="0"/>
              </a:spcBef>
            </a:pPr>
            <a:r>
              <a:rPr lang="en-US" sz="3001">
                <a:solidFill>
                  <a:srgbClr val="412D44"/>
                </a:solidFill>
                <a:latin typeface="Circe"/>
                <a:ea typeface="Circe"/>
                <a:cs typeface="Circe"/>
                <a:sym typeface="Circe"/>
              </a:rPr>
              <a:t>En este contexto de sobrecarga , uno de los aspectos más sensibles y a la vez más descuidados es el control del caudal de la infusión, ya que en los sistemas por gravedad el goteo no es constante, cambios de posición del paciente, acodamiento del catéter o de la tubuladura, variaciones en la altura del frasco, desplazamiento del catéter o incluso el movimiento accidental de la pinza reguladora pueden acelerar o detener el flujo sin previo aviso. [2]</a:t>
            </a:r>
          </a:p>
          <a:p>
            <a:pPr algn="just">
              <a:lnSpc>
                <a:spcPts val="4202"/>
              </a:lnSpc>
              <a:spcBef>
                <a:spcPct val="0"/>
              </a:spcBef>
            </a:pPr>
          </a:p>
        </p:txBody>
      </p:sp>
      <p:sp>
        <p:nvSpPr>
          <p:cNvPr name="TextBox 12" id="12"/>
          <p:cNvSpPr txBox="true"/>
          <p:nvPr/>
        </p:nvSpPr>
        <p:spPr>
          <a:xfrm rot="0">
            <a:off x="6662376" y="5753674"/>
            <a:ext cx="9738962" cy="3236077"/>
          </a:xfrm>
          <a:prstGeom prst="rect">
            <a:avLst/>
          </a:prstGeom>
        </p:spPr>
        <p:txBody>
          <a:bodyPr anchor="t" rtlCol="false" tIns="0" lIns="0" bIns="0" rIns="0">
            <a:spAutoFit/>
          </a:bodyPr>
          <a:lstStyle/>
          <a:p>
            <a:pPr algn="just">
              <a:lnSpc>
                <a:spcPts val="4342"/>
              </a:lnSpc>
              <a:spcBef>
                <a:spcPct val="0"/>
              </a:spcBef>
            </a:pPr>
            <a:r>
              <a:rPr lang="en-US" b="true" sz="3101">
                <a:solidFill>
                  <a:srgbClr val="412D44"/>
                </a:solidFill>
                <a:latin typeface="Circe Bold"/>
                <a:ea typeface="Circe Bold"/>
                <a:cs typeface="Circe Bold"/>
                <a:sym typeface="Circe Bold"/>
              </a:rPr>
              <a:t>Estos cambios son señales de alerta temprana que deben notificarse de inmediato. Un goteo que disminuye puede anticipar una obstrucción, infiltración o extravasación; uno demasiado rápido puede provocar sobrecarga circulatoria y edema pulmonar; y uno demasiado lento compromete la dosis terapéutica recibida.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sp>
        <p:nvSpPr>
          <p:cNvPr name="AutoShape 2" id="2"/>
          <p:cNvSpPr/>
          <p:nvPr/>
        </p:nvSpPr>
        <p:spPr>
          <a:xfrm rot="0">
            <a:off x="-970562" y="652445"/>
            <a:ext cx="19821877" cy="0"/>
          </a:xfrm>
          <a:prstGeom prst="line">
            <a:avLst/>
          </a:prstGeom>
          <a:ln cap="flat" w="114300">
            <a:solidFill>
              <a:srgbClr val="FFFFFF"/>
            </a:solidFill>
            <a:prstDash val="solid"/>
            <a:headEnd type="none" len="sm" w="sm"/>
            <a:tailEnd type="none" len="sm" w="sm"/>
          </a:ln>
        </p:spPr>
      </p:sp>
      <p:sp>
        <p:nvSpPr>
          <p:cNvPr name="Freeform 3" id="3"/>
          <p:cNvSpPr/>
          <p:nvPr/>
        </p:nvSpPr>
        <p:spPr>
          <a:xfrm flipH="false" flipV="false" rot="0">
            <a:off x="16578450" y="8533032"/>
            <a:ext cx="712262" cy="336706"/>
          </a:xfrm>
          <a:custGeom>
            <a:avLst/>
            <a:gdLst/>
            <a:ahLst/>
            <a:cxnLst/>
            <a:rect r="r" b="b" t="t" l="l"/>
            <a:pathLst>
              <a:path h="336706" w="712262">
                <a:moveTo>
                  <a:pt x="0" y="0"/>
                </a:moveTo>
                <a:lnTo>
                  <a:pt x="712262" y="0"/>
                </a:lnTo>
                <a:lnTo>
                  <a:pt x="712262" y="336705"/>
                </a:lnTo>
                <a:lnTo>
                  <a:pt x="0" y="336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121500" y="4405317"/>
            <a:ext cx="14045000" cy="3619492"/>
          </a:xfrm>
          <a:prstGeom prst="rect">
            <a:avLst/>
          </a:prstGeom>
        </p:spPr>
        <p:txBody>
          <a:bodyPr anchor="t" rtlCol="false" tIns="0" lIns="0" bIns="0" rIns="0">
            <a:spAutoFit/>
          </a:bodyPr>
          <a:lstStyle/>
          <a:p>
            <a:pPr algn="l">
              <a:lnSpc>
                <a:spcPts val="13799"/>
              </a:lnSpc>
            </a:pPr>
            <a:r>
              <a:rPr lang="en-US" sz="14999">
                <a:solidFill>
                  <a:srgbClr val="412D44"/>
                </a:solidFill>
                <a:latin typeface="Circe Contrast"/>
                <a:ea typeface="Circe Contrast"/>
                <a:cs typeface="Circe Contrast"/>
                <a:sym typeface="Circe Contrast"/>
              </a:rPr>
              <a:t>ESTADO DEL ARTE</a:t>
            </a:r>
          </a:p>
        </p:txBody>
      </p:sp>
      <p:sp>
        <p:nvSpPr>
          <p:cNvPr name="AutoShape 5" id="5"/>
          <p:cNvSpPr/>
          <p:nvPr/>
        </p:nvSpPr>
        <p:spPr>
          <a:xfrm rot="0">
            <a:off x="-818960" y="404795"/>
            <a:ext cx="19821877" cy="0"/>
          </a:xfrm>
          <a:prstGeom prst="line">
            <a:avLst/>
          </a:prstGeom>
          <a:ln cap="flat" w="114300">
            <a:solidFill>
              <a:srgbClr val="FFFFFF"/>
            </a:solidFill>
            <a:prstDash val="solid"/>
            <a:headEnd type="none" len="sm" w="sm"/>
            <a:tailEnd type="none" len="sm" w="sm"/>
          </a:ln>
        </p:spPr>
      </p:sp>
      <p:sp>
        <p:nvSpPr>
          <p:cNvPr name="AutoShape 6" id="6"/>
          <p:cNvSpPr/>
          <p:nvPr/>
        </p:nvSpPr>
        <p:spPr>
          <a:xfrm rot="0">
            <a:off x="-574329" y="9672305"/>
            <a:ext cx="19821877" cy="0"/>
          </a:xfrm>
          <a:prstGeom prst="line">
            <a:avLst/>
          </a:prstGeom>
          <a:ln cap="flat" w="114300">
            <a:solidFill>
              <a:srgbClr val="FFFFFF"/>
            </a:solidFill>
            <a:prstDash val="solid"/>
            <a:headEnd type="none" len="sm" w="sm"/>
            <a:tailEnd type="none" len="sm" w="sm"/>
          </a:ln>
        </p:spPr>
      </p:sp>
      <p:sp>
        <p:nvSpPr>
          <p:cNvPr name="AutoShape 7" id="7"/>
          <p:cNvSpPr/>
          <p:nvPr/>
        </p:nvSpPr>
        <p:spPr>
          <a:xfrm rot="0">
            <a:off x="-422728" y="9424655"/>
            <a:ext cx="19821877" cy="0"/>
          </a:xfrm>
          <a:prstGeom prst="line">
            <a:avLst/>
          </a:prstGeom>
          <a:ln cap="flat" w="114300">
            <a:solidFill>
              <a:srgbClr val="FFFFFF"/>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846713"/>
            <a:ext cx="15615244" cy="8141890"/>
            <a:chOff x="0" y="0"/>
            <a:chExt cx="4309747" cy="2247130"/>
          </a:xfrm>
        </p:grpSpPr>
        <p:sp>
          <p:nvSpPr>
            <p:cNvPr name="Freeform 3" id="3"/>
            <p:cNvSpPr/>
            <p:nvPr/>
          </p:nvSpPr>
          <p:spPr>
            <a:xfrm flipH="false" flipV="false" rot="0">
              <a:off x="0" y="0"/>
              <a:ext cx="4309747" cy="2247130"/>
            </a:xfrm>
            <a:custGeom>
              <a:avLst/>
              <a:gdLst/>
              <a:ahLst/>
              <a:cxnLst/>
              <a:rect r="r" b="b" t="t" l="l"/>
              <a:pathLst>
                <a:path h="2247130" w="4309747">
                  <a:moveTo>
                    <a:pt x="0" y="0"/>
                  </a:moveTo>
                  <a:lnTo>
                    <a:pt x="4309747" y="0"/>
                  </a:lnTo>
                  <a:lnTo>
                    <a:pt x="4309747" y="2247130"/>
                  </a:lnTo>
                  <a:lnTo>
                    <a:pt x="0" y="2247130"/>
                  </a:lnTo>
                  <a:close/>
                </a:path>
              </a:pathLst>
            </a:custGeom>
            <a:solidFill>
              <a:srgbClr val="F6EEE8"/>
            </a:solidFill>
          </p:spPr>
        </p:sp>
        <p:sp>
          <p:nvSpPr>
            <p:cNvPr name="TextBox 4" id="4"/>
            <p:cNvSpPr txBox="true"/>
            <p:nvPr/>
          </p:nvSpPr>
          <p:spPr>
            <a:xfrm>
              <a:off x="0" y="-38100"/>
              <a:ext cx="4309747" cy="228523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454041" y="726960"/>
            <a:ext cx="10881745" cy="774929"/>
          </a:xfrm>
          <a:prstGeom prst="rect">
            <a:avLst/>
          </a:prstGeom>
        </p:spPr>
        <p:txBody>
          <a:bodyPr anchor="t" rtlCol="false" tIns="0" lIns="0" bIns="0" rIns="0">
            <a:spAutoFit/>
          </a:bodyPr>
          <a:lstStyle/>
          <a:p>
            <a:pPr algn="ctr">
              <a:lnSpc>
                <a:spcPts val="5755"/>
              </a:lnSpc>
            </a:pPr>
            <a:r>
              <a:rPr lang="en-US" sz="6256">
                <a:solidFill>
                  <a:srgbClr val="412D44"/>
                </a:solidFill>
                <a:latin typeface="Circe Contrast"/>
                <a:ea typeface="Circe Contrast"/>
                <a:cs typeface="Circe Contrast"/>
                <a:sym typeface="Circe Contrast"/>
              </a:rPr>
              <a:t>Artículos académicos</a:t>
            </a:r>
          </a:p>
        </p:txBody>
      </p:sp>
      <p:grpSp>
        <p:nvGrpSpPr>
          <p:cNvPr name="Group 6" id="6"/>
          <p:cNvGrpSpPr>
            <a:grpSpLocks noChangeAspect="true"/>
          </p:cNvGrpSpPr>
          <p:nvPr/>
        </p:nvGrpSpPr>
        <p:grpSpPr>
          <a:xfrm rot="0">
            <a:off x="1363646" y="-4646295"/>
            <a:ext cx="5246370" cy="5246370"/>
            <a:chOff x="0" y="0"/>
            <a:chExt cx="6355080" cy="6355080"/>
          </a:xfrm>
        </p:grpSpPr>
        <p:sp>
          <p:nvSpPr>
            <p:cNvPr name="Freeform 7" id="7"/>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grpSp>
        <p:nvGrpSpPr>
          <p:cNvPr name="Group 8" id="8"/>
          <p:cNvGrpSpPr>
            <a:grpSpLocks noChangeAspect="true"/>
          </p:cNvGrpSpPr>
          <p:nvPr/>
        </p:nvGrpSpPr>
        <p:grpSpPr>
          <a:xfrm rot="0">
            <a:off x="12450083" y="9717290"/>
            <a:ext cx="5246370" cy="5246370"/>
            <a:chOff x="0" y="0"/>
            <a:chExt cx="6355080" cy="6355080"/>
          </a:xfrm>
        </p:grpSpPr>
        <p:sp>
          <p:nvSpPr>
            <p:cNvPr name="Freeform 9" id="9"/>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sp>
        <p:nvSpPr>
          <p:cNvPr name="Freeform 10" id="10"/>
          <p:cNvSpPr/>
          <p:nvPr/>
        </p:nvSpPr>
        <p:spPr>
          <a:xfrm flipH="false" flipV="false" rot="0">
            <a:off x="2480875" y="2033956"/>
            <a:ext cx="4686083" cy="2739909"/>
          </a:xfrm>
          <a:custGeom>
            <a:avLst/>
            <a:gdLst/>
            <a:ahLst/>
            <a:cxnLst/>
            <a:rect r="r" b="b" t="t" l="l"/>
            <a:pathLst>
              <a:path h="2739909" w="4686083">
                <a:moveTo>
                  <a:pt x="0" y="0"/>
                </a:moveTo>
                <a:lnTo>
                  <a:pt x="4686084" y="0"/>
                </a:lnTo>
                <a:lnTo>
                  <a:pt x="4686084" y="2739909"/>
                </a:lnTo>
                <a:lnTo>
                  <a:pt x="0" y="2739909"/>
                </a:lnTo>
                <a:lnTo>
                  <a:pt x="0" y="0"/>
                </a:lnTo>
                <a:close/>
              </a:path>
            </a:pathLst>
          </a:custGeom>
          <a:blipFill>
            <a:blip r:embed="rId2"/>
            <a:stretch>
              <a:fillRect l="0" t="0" r="0" b="0"/>
            </a:stretch>
          </a:blipFill>
        </p:spPr>
      </p:sp>
      <p:sp>
        <p:nvSpPr>
          <p:cNvPr name="Freeform 11" id="11"/>
          <p:cNvSpPr/>
          <p:nvPr/>
        </p:nvSpPr>
        <p:spPr>
          <a:xfrm flipH="false" flipV="false" rot="0">
            <a:off x="10806771" y="2033956"/>
            <a:ext cx="3286626" cy="3175841"/>
          </a:xfrm>
          <a:custGeom>
            <a:avLst/>
            <a:gdLst/>
            <a:ahLst/>
            <a:cxnLst/>
            <a:rect r="r" b="b" t="t" l="l"/>
            <a:pathLst>
              <a:path h="3175841" w="3286626">
                <a:moveTo>
                  <a:pt x="0" y="0"/>
                </a:moveTo>
                <a:lnTo>
                  <a:pt x="3286625" y="0"/>
                </a:lnTo>
                <a:lnTo>
                  <a:pt x="3286625" y="3175841"/>
                </a:lnTo>
                <a:lnTo>
                  <a:pt x="0" y="3175841"/>
                </a:lnTo>
                <a:lnTo>
                  <a:pt x="0" y="0"/>
                </a:lnTo>
                <a:close/>
              </a:path>
            </a:pathLst>
          </a:custGeom>
          <a:blipFill>
            <a:blip r:embed="rId3"/>
            <a:stretch>
              <a:fillRect l="0" t="0" r="0" b="0"/>
            </a:stretch>
          </a:blipFill>
        </p:spPr>
      </p:sp>
      <p:sp>
        <p:nvSpPr>
          <p:cNvPr name="TextBox 12" id="12"/>
          <p:cNvSpPr txBox="true"/>
          <p:nvPr/>
        </p:nvSpPr>
        <p:spPr>
          <a:xfrm rot="0">
            <a:off x="1707507" y="6780162"/>
            <a:ext cx="6232820" cy="2390079"/>
          </a:xfrm>
          <a:prstGeom prst="rect">
            <a:avLst/>
          </a:prstGeom>
        </p:spPr>
        <p:txBody>
          <a:bodyPr anchor="t" rtlCol="false" tIns="0" lIns="0" bIns="0" rIns="0">
            <a:spAutoFit/>
          </a:bodyPr>
          <a:lstStyle/>
          <a:p>
            <a:pPr algn="just" marL="0" indent="0" lvl="0">
              <a:lnSpc>
                <a:spcPts val="2388"/>
              </a:lnSpc>
              <a:spcBef>
                <a:spcPct val="0"/>
              </a:spcBef>
            </a:pPr>
            <a:r>
              <a:rPr lang="en-US" sz="1990" strike="noStrike" u="none">
                <a:solidFill>
                  <a:srgbClr val="000000"/>
                </a:solidFill>
                <a:latin typeface="Circe"/>
                <a:ea typeface="Circe"/>
                <a:cs typeface="Circe"/>
                <a:sym typeface="Circe"/>
              </a:rPr>
              <a:t>Es un Sistema Inteligente de Goteo Intravenoso Basado en IoT (IBIVDS) para la monitorización en tiempo real de los niveles de fluidos intravenosos y el reflujo sanguíneo. También, envía automáticamente alertas al personal sanitario cuando se alcanzan umbrales predefinidos. Se generan notificaciones al 50 % del fluido restante y de nuevo al 20 %, esta última acompañada de una alerta sonora. [3]</a:t>
            </a:r>
          </a:p>
        </p:txBody>
      </p:sp>
      <p:sp>
        <p:nvSpPr>
          <p:cNvPr name="TextBox 13" id="13"/>
          <p:cNvSpPr txBox="true"/>
          <p:nvPr/>
        </p:nvSpPr>
        <p:spPr>
          <a:xfrm rot="0">
            <a:off x="9365491" y="6780162"/>
            <a:ext cx="6169184" cy="2664608"/>
          </a:xfrm>
          <a:prstGeom prst="rect">
            <a:avLst/>
          </a:prstGeom>
        </p:spPr>
        <p:txBody>
          <a:bodyPr anchor="t" rtlCol="false" tIns="0" lIns="0" bIns="0" rIns="0">
            <a:spAutoFit/>
          </a:bodyPr>
          <a:lstStyle/>
          <a:p>
            <a:pPr algn="just" marL="0" indent="0" lvl="0">
              <a:lnSpc>
                <a:spcPts val="2388"/>
              </a:lnSpc>
              <a:spcBef>
                <a:spcPct val="0"/>
              </a:spcBef>
            </a:pPr>
            <a:r>
              <a:rPr lang="en-US" sz="1990" strike="noStrike" u="none">
                <a:solidFill>
                  <a:srgbClr val="000000"/>
                </a:solidFill>
                <a:latin typeface="Circe"/>
                <a:ea typeface="Circe"/>
                <a:cs typeface="Circe"/>
                <a:sym typeface="Circe"/>
              </a:rPr>
              <a:t>Es una bomba de jeringa de código abierto que se adapta a las necesidades de cada investigador. El dispositivo diseñado se controla mediante un Arduino Leonardo y un controlador de motor paso a paso. Para enviar comandos y recibir la posición actual del émbolo, se desarrolló un software en C# con comunicación serial a través de USB. Además, los modelos 3D se crearon de forma universal, lo que permite el uso de jeringas de cualquier tamaño. [4]</a:t>
            </a:r>
          </a:p>
        </p:txBody>
      </p:sp>
      <p:sp>
        <p:nvSpPr>
          <p:cNvPr name="TextBox 14" id="14"/>
          <p:cNvSpPr txBox="true"/>
          <p:nvPr/>
        </p:nvSpPr>
        <p:spPr>
          <a:xfrm rot="0">
            <a:off x="1028700" y="4927536"/>
            <a:ext cx="7590434" cy="1598940"/>
          </a:xfrm>
          <a:prstGeom prst="rect">
            <a:avLst/>
          </a:prstGeom>
        </p:spPr>
        <p:txBody>
          <a:bodyPr anchor="t" rtlCol="false" tIns="0" lIns="0" bIns="0" rIns="0">
            <a:spAutoFit/>
          </a:bodyPr>
          <a:lstStyle/>
          <a:p>
            <a:pPr algn="ctr">
              <a:lnSpc>
                <a:spcPts val="3190"/>
              </a:lnSpc>
            </a:pPr>
            <a:r>
              <a:rPr lang="en-US" b="true" sz="2900">
                <a:solidFill>
                  <a:srgbClr val="000000"/>
                </a:solidFill>
                <a:latin typeface="Circe Bold"/>
                <a:ea typeface="Circe Bold"/>
                <a:cs typeface="Circe Bold"/>
                <a:sym typeface="Circe Bold"/>
                <a:hlinkClick r:id="rId4" tooltip="https://jtie.stekom.ac.id/index.php/jtie/article/view/550"/>
              </a:rPr>
              <a:t>INTELLIGENT IOT-BASED ALERT SYSTEM FOR MONITORING DRIP OF INTRAVENOUS FLUIDS (IV) AND REVERSE BLOOD FLOW</a:t>
            </a:r>
          </a:p>
        </p:txBody>
      </p:sp>
      <p:sp>
        <p:nvSpPr>
          <p:cNvPr name="TextBox 15" id="15"/>
          <p:cNvSpPr txBox="true"/>
          <p:nvPr/>
        </p:nvSpPr>
        <p:spPr>
          <a:xfrm rot="0">
            <a:off x="9080712" y="5409822"/>
            <a:ext cx="6738744" cy="1198890"/>
          </a:xfrm>
          <a:prstGeom prst="rect">
            <a:avLst/>
          </a:prstGeom>
        </p:spPr>
        <p:txBody>
          <a:bodyPr anchor="t" rtlCol="false" tIns="0" lIns="0" bIns="0" rIns="0">
            <a:spAutoFit/>
          </a:bodyPr>
          <a:lstStyle/>
          <a:p>
            <a:pPr algn="ctr">
              <a:lnSpc>
                <a:spcPts val="3190"/>
              </a:lnSpc>
            </a:pPr>
            <a:r>
              <a:rPr lang="en-US" b="true" sz="2900">
                <a:solidFill>
                  <a:srgbClr val="000000"/>
                </a:solidFill>
                <a:latin typeface="Circe Bold"/>
                <a:ea typeface="Circe Bold"/>
                <a:cs typeface="Circe Bold"/>
                <a:sym typeface="Circe Bold"/>
                <a:hlinkClick r:id="rId5" tooltip="https://www.hardware-x.com/article/S2468-0672%2821%2900023-7/fulltext"/>
              </a:rPr>
              <a:t>LOW-COST, PROGRAMMABLE INFUSION PUMP WITH BOLUS MODE FOR IN-VIVO IMAGING</a:t>
            </a:r>
          </a:p>
        </p:txBody>
      </p:sp>
      <p:sp>
        <p:nvSpPr>
          <p:cNvPr name="AutoShape 16" id="16"/>
          <p:cNvSpPr/>
          <p:nvPr/>
        </p:nvSpPr>
        <p:spPr>
          <a:xfrm flipV="true">
            <a:off x="8638184" y="4506075"/>
            <a:ext cx="0" cy="5211215"/>
          </a:xfrm>
          <a:prstGeom prst="line">
            <a:avLst/>
          </a:prstGeom>
          <a:ln cap="flat" w="38100">
            <a:solidFill>
              <a:srgbClr val="994A66"/>
            </a:solidFill>
            <a:prstDash val="sysDash"/>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07043" y="1801857"/>
            <a:ext cx="15615244" cy="8141890"/>
            <a:chOff x="0" y="0"/>
            <a:chExt cx="4309747" cy="2247130"/>
          </a:xfrm>
        </p:grpSpPr>
        <p:sp>
          <p:nvSpPr>
            <p:cNvPr name="Freeform 3" id="3"/>
            <p:cNvSpPr/>
            <p:nvPr/>
          </p:nvSpPr>
          <p:spPr>
            <a:xfrm flipH="false" flipV="false" rot="0">
              <a:off x="0" y="0"/>
              <a:ext cx="4309747" cy="2247130"/>
            </a:xfrm>
            <a:custGeom>
              <a:avLst/>
              <a:gdLst/>
              <a:ahLst/>
              <a:cxnLst/>
              <a:rect r="r" b="b" t="t" l="l"/>
              <a:pathLst>
                <a:path h="2247130" w="4309747">
                  <a:moveTo>
                    <a:pt x="0" y="0"/>
                  </a:moveTo>
                  <a:lnTo>
                    <a:pt x="4309747" y="0"/>
                  </a:lnTo>
                  <a:lnTo>
                    <a:pt x="4309747" y="2247130"/>
                  </a:lnTo>
                  <a:lnTo>
                    <a:pt x="0" y="2247130"/>
                  </a:lnTo>
                  <a:close/>
                </a:path>
              </a:pathLst>
            </a:custGeom>
            <a:solidFill>
              <a:srgbClr val="F6EEE8"/>
            </a:solidFill>
          </p:spPr>
        </p:sp>
        <p:sp>
          <p:nvSpPr>
            <p:cNvPr name="TextBox 4" id="4"/>
            <p:cNvSpPr txBox="true"/>
            <p:nvPr/>
          </p:nvSpPr>
          <p:spPr>
            <a:xfrm>
              <a:off x="0" y="-38100"/>
              <a:ext cx="4309747" cy="228523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454041" y="726960"/>
            <a:ext cx="10881745" cy="774929"/>
          </a:xfrm>
          <a:prstGeom prst="rect">
            <a:avLst/>
          </a:prstGeom>
        </p:spPr>
        <p:txBody>
          <a:bodyPr anchor="t" rtlCol="false" tIns="0" lIns="0" bIns="0" rIns="0">
            <a:spAutoFit/>
          </a:bodyPr>
          <a:lstStyle/>
          <a:p>
            <a:pPr algn="ctr">
              <a:lnSpc>
                <a:spcPts val="5755"/>
              </a:lnSpc>
            </a:pPr>
            <a:r>
              <a:rPr lang="en-US" sz="6256">
                <a:solidFill>
                  <a:srgbClr val="412D44"/>
                </a:solidFill>
                <a:latin typeface="Circe Contrast"/>
                <a:ea typeface="Circe Contrast"/>
                <a:cs typeface="Circe Contrast"/>
                <a:sym typeface="Circe Contrast"/>
              </a:rPr>
              <a:t>Artículos académicos</a:t>
            </a:r>
          </a:p>
        </p:txBody>
      </p:sp>
      <p:grpSp>
        <p:nvGrpSpPr>
          <p:cNvPr name="Group 6" id="6"/>
          <p:cNvGrpSpPr>
            <a:grpSpLocks noChangeAspect="true"/>
          </p:cNvGrpSpPr>
          <p:nvPr/>
        </p:nvGrpSpPr>
        <p:grpSpPr>
          <a:xfrm rot="0">
            <a:off x="1363646" y="-4646295"/>
            <a:ext cx="5246370" cy="5246370"/>
            <a:chOff x="0" y="0"/>
            <a:chExt cx="6355080" cy="6355080"/>
          </a:xfrm>
        </p:grpSpPr>
        <p:sp>
          <p:nvSpPr>
            <p:cNvPr name="Freeform 7" id="7"/>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grpSp>
        <p:nvGrpSpPr>
          <p:cNvPr name="Group 8" id="8"/>
          <p:cNvGrpSpPr>
            <a:grpSpLocks noChangeAspect="true"/>
          </p:cNvGrpSpPr>
          <p:nvPr/>
        </p:nvGrpSpPr>
        <p:grpSpPr>
          <a:xfrm rot="0">
            <a:off x="12450083" y="9717290"/>
            <a:ext cx="5246370" cy="5246370"/>
            <a:chOff x="0" y="0"/>
            <a:chExt cx="6355080" cy="6355080"/>
          </a:xfrm>
        </p:grpSpPr>
        <p:sp>
          <p:nvSpPr>
            <p:cNvPr name="Freeform 9" id="9"/>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sp>
        <p:nvSpPr>
          <p:cNvPr name="Freeform 10" id="10"/>
          <p:cNvSpPr/>
          <p:nvPr/>
        </p:nvSpPr>
        <p:spPr>
          <a:xfrm flipH="false" flipV="false" rot="0">
            <a:off x="2346220" y="2644756"/>
            <a:ext cx="5365892" cy="5993711"/>
          </a:xfrm>
          <a:custGeom>
            <a:avLst/>
            <a:gdLst/>
            <a:ahLst/>
            <a:cxnLst/>
            <a:rect r="r" b="b" t="t" l="l"/>
            <a:pathLst>
              <a:path h="5993711" w="5365892">
                <a:moveTo>
                  <a:pt x="0" y="0"/>
                </a:moveTo>
                <a:lnTo>
                  <a:pt x="5365892" y="0"/>
                </a:lnTo>
                <a:lnTo>
                  <a:pt x="5365892" y="5993711"/>
                </a:lnTo>
                <a:lnTo>
                  <a:pt x="0" y="5993711"/>
                </a:lnTo>
                <a:lnTo>
                  <a:pt x="0" y="0"/>
                </a:lnTo>
                <a:close/>
              </a:path>
            </a:pathLst>
          </a:custGeom>
          <a:blipFill>
            <a:blip r:embed="rId2"/>
            <a:stretch>
              <a:fillRect l="0" t="0" r="0" b="0"/>
            </a:stretch>
          </a:blipFill>
        </p:spPr>
      </p:sp>
      <p:sp>
        <p:nvSpPr>
          <p:cNvPr name="TextBox 11" id="11"/>
          <p:cNvSpPr txBox="true"/>
          <p:nvPr/>
        </p:nvSpPr>
        <p:spPr>
          <a:xfrm rot="0">
            <a:off x="8904084" y="5394113"/>
            <a:ext cx="6169184" cy="1476105"/>
          </a:xfrm>
          <a:prstGeom prst="rect">
            <a:avLst/>
          </a:prstGeom>
        </p:spPr>
        <p:txBody>
          <a:bodyPr anchor="t" rtlCol="false" tIns="0" lIns="0" bIns="0" rIns="0">
            <a:spAutoFit/>
          </a:bodyPr>
          <a:lstStyle/>
          <a:p>
            <a:pPr algn="just" marL="0" indent="0" lvl="0">
              <a:lnSpc>
                <a:spcPts val="2388"/>
              </a:lnSpc>
              <a:spcBef>
                <a:spcPct val="0"/>
              </a:spcBef>
            </a:pPr>
            <a:r>
              <a:rPr lang="en-US" sz="1990">
                <a:solidFill>
                  <a:srgbClr val="000000"/>
                </a:solidFill>
                <a:latin typeface="Circe"/>
                <a:ea typeface="Circe"/>
                <a:cs typeface="Circe"/>
                <a:sym typeface="Circe"/>
              </a:rPr>
              <a:t>Si</a:t>
            </a:r>
            <a:r>
              <a:rPr lang="en-US" sz="1990" strike="noStrike" u="none">
                <a:solidFill>
                  <a:srgbClr val="000000"/>
                </a:solidFill>
                <a:latin typeface="Circe"/>
                <a:ea typeface="Circe"/>
                <a:cs typeface="Circe"/>
                <a:sym typeface="Circe"/>
              </a:rPr>
              <a:t>s</a:t>
            </a:r>
            <a:r>
              <a:rPr lang="en-US" sz="1990" strike="noStrike" u="none">
                <a:solidFill>
                  <a:srgbClr val="000000"/>
                </a:solidFill>
                <a:latin typeface="Circe"/>
                <a:ea typeface="Circe"/>
                <a:cs typeface="Circe"/>
                <a:sym typeface="Circe"/>
              </a:rPr>
              <a:t>tema</a:t>
            </a:r>
            <a:r>
              <a:rPr lang="en-US" sz="1990" strike="noStrike" u="none">
                <a:solidFill>
                  <a:srgbClr val="000000"/>
                </a:solidFill>
                <a:latin typeface="Circe"/>
                <a:ea typeface="Circe"/>
                <a:cs typeface="Circe"/>
                <a:sym typeface="Circe"/>
              </a:rPr>
              <a:t> </a:t>
            </a:r>
            <a:r>
              <a:rPr lang="en-US" sz="1990" strike="noStrike" u="none">
                <a:solidFill>
                  <a:srgbClr val="000000"/>
                </a:solidFill>
                <a:latin typeface="Circe"/>
                <a:ea typeface="Circe"/>
                <a:cs typeface="Circe"/>
                <a:sym typeface="Circe"/>
              </a:rPr>
              <a:t>a</a:t>
            </a:r>
            <a:r>
              <a:rPr lang="en-US" sz="1990" strike="noStrike" u="none">
                <a:solidFill>
                  <a:srgbClr val="000000"/>
                </a:solidFill>
                <a:latin typeface="Circe"/>
                <a:ea typeface="Circe"/>
                <a:cs typeface="Circe"/>
                <a:sym typeface="Circe"/>
              </a:rPr>
              <a:t>u</a:t>
            </a:r>
            <a:r>
              <a:rPr lang="en-US" sz="1990" strike="noStrike" u="none">
                <a:solidFill>
                  <a:srgbClr val="000000"/>
                </a:solidFill>
                <a:latin typeface="Circe"/>
                <a:ea typeface="Circe"/>
                <a:cs typeface="Circe"/>
                <a:sym typeface="Circe"/>
              </a:rPr>
              <a:t>t</a:t>
            </a:r>
            <a:r>
              <a:rPr lang="en-US" sz="1990" strike="noStrike" u="none">
                <a:solidFill>
                  <a:srgbClr val="000000"/>
                </a:solidFill>
                <a:latin typeface="Circe"/>
                <a:ea typeface="Circe"/>
                <a:cs typeface="Circe"/>
                <a:sym typeface="Circe"/>
              </a:rPr>
              <a:t>oma</a:t>
            </a:r>
            <a:r>
              <a:rPr lang="en-US" sz="1990" strike="noStrike" u="none">
                <a:solidFill>
                  <a:srgbClr val="000000"/>
                </a:solidFill>
                <a:latin typeface="Circe"/>
                <a:ea typeface="Circe"/>
                <a:cs typeface="Circe"/>
                <a:sym typeface="Circe"/>
              </a:rPr>
              <a:t>t</a:t>
            </a:r>
            <a:r>
              <a:rPr lang="en-US" sz="1990" strike="noStrike" u="none">
                <a:solidFill>
                  <a:srgbClr val="000000"/>
                </a:solidFill>
                <a:latin typeface="Circe"/>
                <a:ea typeface="Circe"/>
                <a:cs typeface="Circe"/>
                <a:sym typeface="Circe"/>
              </a:rPr>
              <a:t>i</a:t>
            </a:r>
            <a:r>
              <a:rPr lang="en-US" sz="1990" strike="noStrike" u="none">
                <a:solidFill>
                  <a:srgbClr val="000000"/>
                </a:solidFill>
                <a:latin typeface="Circe"/>
                <a:ea typeface="Circe"/>
                <a:cs typeface="Circe"/>
                <a:sym typeface="Circe"/>
              </a:rPr>
              <a:t>z</a:t>
            </a:r>
            <a:r>
              <a:rPr lang="en-US" sz="1990" strike="noStrike" u="none">
                <a:solidFill>
                  <a:srgbClr val="000000"/>
                </a:solidFill>
                <a:latin typeface="Circe"/>
                <a:ea typeface="Circe"/>
                <a:cs typeface="Circe"/>
                <a:sym typeface="Circe"/>
              </a:rPr>
              <a:t>a</a:t>
            </a:r>
            <a:r>
              <a:rPr lang="en-US" sz="1990" strike="noStrike" u="none">
                <a:solidFill>
                  <a:srgbClr val="000000"/>
                </a:solidFill>
                <a:latin typeface="Circe"/>
                <a:ea typeface="Circe"/>
                <a:cs typeface="Circe"/>
                <a:sym typeface="Circe"/>
              </a:rPr>
              <a:t>do</a:t>
            </a:r>
            <a:r>
              <a:rPr lang="en-US" sz="1990" strike="noStrike" u="none">
                <a:solidFill>
                  <a:srgbClr val="000000"/>
                </a:solidFill>
                <a:latin typeface="Circe"/>
                <a:ea typeface="Circe"/>
                <a:cs typeface="Circe"/>
                <a:sym typeface="Circe"/>
              </a:rPr>
              <a:t> de </a:t>
            </a:r>
            <a:r>
              <a:rPr lang="en-US" sz="1990" strike="noStrike" u="none">
                <a:solidFill>
                  <a:srgbClr val="000000"/>
                </a:solidFill>
                <a:latin typeface="Circe"/>
                <a:ea typeface="Circe"/>
                <a:cs typeface="Circe"/>
                <a:sym typeface="Circe"/>
              </a:rPr>
              <a:t>infusi</a:t>
            </a:r>
            <a:r>
              <a:rPr lang="en-US" sz="1990" strike="noStrike" u="none">
                <a:solidFill>
                  <a:srgbClr val="000000"/>
                </a:solidFill>
                <a:latin typeface="Circe"/>
                <a:ea typeface="Circe"/>
                <a:cs typeface="Circe"/>
                <a:sym typeface="Circe"/>
              </a:rPr>
              <a:t>ó</a:t>
            </a:r>
            <a:r>
              <a:rPr lang="en-US" sz="1990" strike="noStrike" u="none">
                <a:solidFill>
                  <a:srgbClr val="000000"/>
                </a:solidFill>
                <a:latin typeface="Circe"/>
                <a:ea typeface="Circe"/>
                <a:cs typeface="Circe"/>
                <a:sym typeface="Circe"/>
              </a:rPr>
              <a:t>n</a:t>
            </a:r>
            <a:r>
              <a:rPr lang="en-US" sz="1990" strike="noStrike" u="none">
                <a:solidFill>
                  <a:srgbClr val="000000"/>
                </a:solidFill>
                <a:latin typeface="Circe"/>
                <a:ea typeface="Circe"/>
                <a:cs typeface="Circe"/>
                <a:sym typeface="Circe"/>
              </a:rPr>
              <a:t> i</a:t>
            </a:r>
            <a:r>
              <a:rPr lang="en-US" sz="1990" strike="noStrike" u="none">
                <a:solidFill>
                  <a:srgbClr val="000000"/>
                </a:solidFill>
                <a:latin typeface="Circe"/>
                <a:ea typeface="Circe"/>
                <a:cs typeface="Circe"/>
                <a:sym typeface="Circe"/>
              </a:rPr>
              <a:t>ntrav</a:t>
            </a:r>
            <a:r>
              <a:rPr lang="en-US" sz="1990" strike="noStrike" u="none">
                <a:solidFill>
                  <a:srgbClr val="000000"/>
                </a:solidFill>
                <a:latin typeface="Circe"/>
                <a:ea typeface="Circe"/>
                <a:cs typeface="Circe"/>
                <a:sym typeface="Circe"/>
              </a:rPr>
              <a:t>e</a:t>
            </a:r>
            <a:r>
              <a:rPr lang="en-US" sz="1990" strike="noStrike" u="none">
                <a:solidFill>
                  <a:srgbClr val="000000"/>
                </a:solidFill>
                <a:latin typeface="Circe"/>
                <a:ea typeface="Circe"/>
                <a:cs typeface="Circe"/>
                <a:sym typeface="Circe"/>
              </a:rPr>
              <a:t>n</a:t>
            </a:r>
            <a:r>
              <a:rPr lang="en-US" sz="1990" strike="noStrike" u="none">
                <a:solidFill>
                  <a:srgbClr val="000000"/>
                </a:solidFill>
                <a:latin typeface="Circe"/>
                <a:ea typeface="Circe"/>
                <a:cs typeface="Circe"/>
                <a:sym typeface="Circe"/>
              </a:rPr>
              <a:t>o</a:t>
            </a:r>
            <a:r>
              <a:rPr lang="en-US" sz="1990" strike="noStrike" u="none">
                <a:solidFill>
                  <a:srgbClr val="000000"/>
                </a:solidFill>
                <a:latin typeface="Circe"/>
                <a:ea typeface="Circe"/>
                <a:cs typeface="Circe"/>
                <a:sym typeface="Circe"/>
              </a:rPr>
              <a:t>sa</a:t>
            </a:r>
            <a:r>
              <a:rPr lang="en-US" sz="1990" strike="noStrike" u="none">
                <a:solidFill>
                  <a:srgbClr val="000000"/>
                </a:solidFill>
                <a:latin typeface="Circe"/>
                <a:ea typeface="Circe"/>
                <a:cs typeface="Circe"/>
                <a:sym typeface="Circe"/>
              </a:rPr>
              <a:t> que </a:t>
            </a:r>
            <a:r>
              <a:rPr lang="en-US" sz="1990" strike="noStrike" u="none">
                <a:solidFill>
                  <a:srgbClr val="000000"/>
                </a:solidFill>
                <a:latin typeface="Circe"/>
                <a:ea typeface="Circe"/>
                <a:cs typeface="Circe"/>
                <a:sym typeface="Circe"/>
              </a:rPr>
              <a:t>d</a:t>
            </a:r>
            <a:r>
              <a:rPr lang="en-US" sz="1990" strike="noStrike" u="none">
                <a:solidFill>
                  <a:srgbClr val="000000"/>
                </a:solidFill>
                <a:latin typeface="Circe"/>
                <a:ea typeface="Circe"/>
                <a:cs typeface="Circe"/>
                <a:sym typeface="Circe"/>
              </a:rPr>
              <a:t>etec</a:t>
            </a:r>
            <a:r>
              <a:rPr lang="en-US" sz="1990" strike="noStrike" u="none">
                <a:solidFill>
                  <a:srgbClr val="000000"/>
                </a:solidFill>
                <a:latin typeface="Circe"/>
                <a:ea typeface="Circe"/>
                <a:cs typeface="Circe"/>
                <a:sym typeface="Circe"/>
              </a:rPr>
              <a:t>t</a:t>
            </a:r>
            <a:r>
              <a:rPr lang="en-US" sz="1990" strike="noStrike" u="none">
                <a:solidFill>
                  <a:srgbClr val="000000"/>
                </a:solidFill>
                <a:latin typeface="Circe"/>
                <a:ea typeface="Circe"/>
                <a:cs typeface="Circe"/>
                <a:sym typeface="Circe"/>
              </a:rPr>
              <a:t>a </a:t>
            </a:r>
            <a:r>
              <a:rPr lang="en-US" sz="1990" strike="noStrike" u="none">
                <a:solidFill>
                  <a:srgbClr val="000000"/>
                </a:solidFill>
                <a:latin typeface="Circe"/>
                <a:ea typeface="Circe"/>
                <a:cs typeface="Circe"/>
                <a:sym typeface="Circe"/>
              </a:rPr>
              <a:t>y</a:t>
            </a:r>
            <a:r>
              <a:rPr lang="en-US" sz="1990" strike="noStrike" u="none">
                <a:solidFill>
                  <a:srgbClr val="000000"/>
                </a:solidFill>
                <a:latin typeface="Circe"/>
                <a:ea typeface="Circe"/>
                <a:cs typeface="Circe"/>
                <a:sym typeface="Circe"/>
              </a:rPr>
              <a:t> c</a:t>
            </a:r>
            <a:r>
              <a:rPr lang="en-US" sz="1990" strike="noStrike" u="none">
                <a:solidFill>
                  <a:srgbClr val="000000"/>
                </a:solidFill>
                <a:latin typeface="Circe"/>
                <a:ea typeface="Circe"/>
                <a:cs typeface="Circe"/>
                <a:sym typeface="Circe"/>
              </a:rPr>
              <a:t>ue</a:t>
            </a:r>
            <a:r>
              <a:rPr lang="en-US" sz="1990" strike="noStrike" u="none">
                <a:solidFill>
                  <a:srgbClr val="000000"/>
                </a:solidFill>
                <a:latin typeface="Circe"/>
                <a:ea typeface="Circe"/>
                <a:cs typeface="Circe"/>
                <a:sym typeface="Circe"/>
              </a:rPr>
              <a:t>nta las </a:t>
            </a:r>
            <a:r>
              <a:rPr lang="en-US" sz="1990" strike="noStrike" u="none">
                <a:solidFill>
                  <a:srgbClr val="000000"/>
                </a:solidFill>
                <a:latin typeface="Circe"/>
                <a:ea typeface="Circe"/>
                <a:cs typeface="Circe"/>
                <a:sym typeface="Circe"/>
              </a:rPr>
              <a:t>g</a:t>
            </a:r>
            <a:r>
              <a:rPr lang="en-US" sz="1990" strike="noStrike" u="none">
                <a:solidFill>
                  <a:srgbClr val="000000"/>
                </a:solidFill>
                <a:latin typeface="Circe"/>
                <a:ea typeface="Circe"/>
                <a:cs typeface="Circe"/>
                <a:sym typeface="Circe"/>
              </a:rPr>
              <a:t>ota</a:t>
            </a:r>
            <a:r>
              <a:rPr lang="en-US" sz="1990" strike="noStrike" u="none">
                <a:solidFill>
                  <a:srgbClr val="000000"/>
                </a:solidFill>
                <a:latin typeface="Circe"/>
                <a:ea typeface="Circe"/>
                <a:cs typeface="Circe"/>
                <a:sym typeface="Circe"/>
              </a:rPr>
              <a:t>s</a:t>
            </a:r>
            <a:r>
              <a:rPr lang="en-US" sz="1990" strike="noStrike" u="none">
                <a:solidFill>
                  <a:srgbClr val="000000"/>
                </a:solidFill>
                <a:latin typeface="Circe"/>
                <a:ea typeface="Circe"/>
                <a:cs typeface="Circe"/>
                <a:sym typeface="Circe"/>
              </a:rPr>
              <a:t> mediante un </a:t>
            </a:r>
            <a:r>
              <a:rPr lang="en-US" sz="1990" strike="noStrike" u="none">
                <a:solidFill>
                  <a:srgbClr val="000000"/>
                </a:solidFill>
                <a:latin typeface="Circe"/>
                <a:ea typeface="Circe"/>
                <a:cs typeface="Circe"/>
                <a:sym typeface="Circe"/>
              </a:rPr>
              <a:t>se</a:t>
            </a:r>
            <a:r>
              <a:rPr lang="en-US" sz="1990" strike="noStrike" u="none">
                <a:solidFill>
                  <a:srgbClr val="000000"/>
                </a:solidFill>
                <a:latin typeface="Circe"/>
                <a:ea typeface="Circe"/>
                <a:cs typeface="Circe"/>
                <a:sym typeface="Circe"/>
              </a:rPr>
              <a:t>n</a:t>
            </a:r>
            <a:r>
              <a:rPr lang="en-US" sz="1990" strike="noStrike" u="none">
                <a:solidFill>
                  <a:srgbClr val="000000"/>
                </a:solidFill>
                <a:latin typeface="Circe"/>
                <a:ea typeface="Circe"/>
                <a:cs typeface="Circe"/>
                <a:sym typeface="Circe"/>
              </a:rPr>
              <a:t>s</a:t>
            </a:r>
            <a:r>
              <a:rPr lang="en-US" sz="1990" strike="noStrike" u="none">
                <a:solidFill>
                  <a:srgbClr val="000000"/>
                </a:solidFill>
                <a:latin typeface="Circe"/>
                <a:ea typeface="Circe"/>
                <a:cs typeface="Circe"/>
                <a:sym typeface="Circe"/>
              </a:rPr>
              <a:t>o</a:t>
            </a:r>
            <a:r>
              <a:rPr lang="en-US" sz="1990" strike="noStrike" u="none">
                <a:solidFill>
                  <a:srgbClr val="000000"/>
                </a:solidFill>
                <a:latin typeface="Circe"/>
                <a:ea typeface="Circe"/>
                <a:cs typeface="Circe"/>
                <a:sym typeface="Circe"/>
              </a:rPr>
              <a:t>r</a:t>
            </a:r>
            <a:r>
              <a:rPr lang="en-US" sz="1990" strike="noStrike" u="none">
                <a:solidFill>
                  <a:srgbClr val="000000"/>
                </a:solidFill>
                <a:latin typeface="Circe"/>
                <a:ea typeface="Circe"/>
                <a:cs typeface="Circe"/>
                <a:sym typeface="Circe"/>
              </a:rPr>
              <a:t> </a:t>
            </a:r>
            <a:r>
              <a:rPr lang="en-US" sz="1990" strike="noStrike" u="none">
                <a:solidFill>
                  <a:srgbClr val="000000"/>
                </a:solidFill>
                <a:latin typeface="Circe"/>
                <a:ea typeface="Circe"/>
                <a:cs typeface="Circe"/>
                <a:sym typeface="Circe"/>
              </a:rPr>
              <a:t>i</a:t>
            </a:r>
            <a:r>
              <a:rPr lang="en-US" sz="1990" strike="noStrike" u="none">
                <a:solidFill>
                  <a:srgbClr val="000000"/>
                </a:solidFill>
                <a:latin typeface="Circe"/>
                <a:ea typeface="Circe"/>
                <a:cs typeface="Circe"/>
                <a:sym typeface="Circe"/>
              </a:rPr>
              <a:t>n</a:t>
            </a:r>
            <a:r>
              <a:rPr lang="en-US" sz="1990" strike="noStrike" u="none">
                <a:solidFill>
                  <a:srgbClr val="000000"/>
                </a:solidFill>
                <a:latin typeface="Circe"/>
                <a:ea typeface="Circe"/>
                <a:cs typeface="Circe"/>
                <a:sym typeface="Circe"/>
              </a:rPr>
              <a:t>fr</a:t>
            </a:r>
            <a:r>
              <a:rPr lang="en-US" sz="1990" strike="noStrike" u="none">
                <a:solidFill>
                  <a:srgbClr val="000000"/>
                </a:solidFill>
                <a:latin typeface="Circe"/>
                <a:ea typeface="Circe"/>
                <a:cs typeface="Circe"/>
                <a:sym typeface="Circe"/>
              </a:rPr>
              <a:t>arro</a:t>
            </a:r>
            <a:r>
              <a:rPr lang="en-US" sz="1990" strike="noStrike" u="none">
                <a:solidFill>
                  <a:srgbClr val="000000"/>
                </a:solidFill>
                <a:latin typeface="Circe"/>
                <a:ea typeface="Circe"/>
                <a:cs typeface="Circe"/>
                <a:sym typeface="Circe"/>
              </a:rPr>
              <a:t>j</a:t>
            </a:r>
            <a:r>
              <a:rPr lang="en-US" sz="1990" strike="noStrike" u="none">
                <a:solidFill>
                  <a:srgbClr val="000000"/>
                </a:solidFill>
                <a:latin typeface="Circe"/>
                <a:ea typeface="Circe"/>
                <a:cs typeface="Circe"/>
                <a:sym typeface="Circe"/>
              </a:rPr>
              <a:t>o </a:t>
            </a:r>
            <a:r>
              <a:rPr lang="en-US" sz="1990" strike="noStrike" u="none">
                <a:solidFill>
                  <a:srgbClr val="000000"/>
                </a:solidFill>
                <a:latin typeface="Circe"/>
                <a:ea typeface="Circe"/>
                <a:cs typeface="Circe"/>
                <a:sym typeface="Circe"/>
              </a:rPr>
              <a:t>(IR),</a:t>
            </a:r>
            <a:r>
              <a:rPr lang="en-US" sz="1990" strike="noStrike" u="none">
                <a:solidFill>
                  <a:srgbClr val="000000"/>
                </a:solidFill>
                <a:latin typeface="Circe"/>
                <a:ea typeface="Circe"/>
                <a:cs typeface="Circe"/>
                <a:sym typeface="Circe"/>
              </a:rPr>
              <a:t> mo</a:t>
            </a:r>
            <a:r>
              <a:rPr lang="en-US" sz="1990" strike="noStrike" u="none">
                <a:solidFill>
                  <a:srgbClr val="000000"/>
                </a:solidFill>
                <a:latin typeface="Circe"/>
                <a:ea typeface="Circe"/>
                <a:cs typeface="Circe"/>
                <a:sym typeface="Circe"/>
              </a:rPr>
              <a:t>ni</a:t>
            </a:r>
            <a:r>
              <a:rPr lang="en-US" sz="1990" strike="noStrike" u="none">
                <a:solidFill>
                  <a:srgbClr val="000000"/>
                </a:solidFill>
                <a:latin typeface="Circe"/>
                <a:ea typeface="Circe"/>
                <a:cs typeface="Circe"/>
                <a:sym typeface="Circe"/>
              </a:rPr>
              <a:t>tor</a:t>
            </a:r>
            <a:r>
              <a:rPr lang="en-US" sz="1990" strike="noStrike" u="none">
                <a:solidFill>
                  <a:srgbClr val="000000"/>
                </a:solidFill>
                <a:latin typeface="Circe"/>
                <a:ea typeface="Circe"/>
                <a:cs typeface="Circe"/>
                <a:sym typeface="Circe"/>
              </a:rPr>
              <a:t>e</a:t>
            </a:r>
            <a:r>
              <a:rPr lang="en-US" sz="1990" strike="noStrike" u="none">
                <a:solidFill>
                  <a:srgbClr val="000000"/>
                </a:solidFill>
                <a:latin typeface="Circe"/>
                <a:ea typeface="Circe"/>
                <a:cs typeface="Circe"/>
                <a:sym typeface="Circe"/>
              </a:rPr>
              <a:t>a </a:t>
            </a:r>
            <a:r>
              <a:rPr lang="en-US" sz="1990" strike="noStrike" u="none">
                <a:solidFill>
                  <a:srgbClr val="000000"/>
                </a:solidFill>
                <a:latin typeface="Circe"/>
                <a:ea typeface="Circe"/>
                <a:cs typeface="Circe"/>
                <a:sym typeface="Circe"/>
              </a:rPr>
              <a:t>el</a:t>
            </a:r>
            <a:r>
              <a:rPr lang="en-US" sz="1990" strike="noStrike" u="none">
                <a:solidFill>
                  <a:srgbClr val="000000"/>
                </a:solidFill>
                <a:latin typeface="Circe"/>
                <a:ea typeface="Circe"/>
                <a:cs typeface="Circe"/>
                <a:sym typeface="Circe"/>
              </a:rPr>
              <a:t> </a:t>
            </a:r>
            <a:r>
              <a:rPr lang="en-US" sz="1990" strike="noStrike" u="none">
                <a:solidFill>
                  <a:srgbClr val="000000"/>
                </a:solidFill>
                <a:latin typeface="Circe"/>
                <a:ea typeface="Circe"/>
                <a:cs typeface="Circe"/>
                <a:sym typeface="Circe"/>
              </a:rPr>
              <a:t>fluj</a:t>
            </a:r>
            <a:r>
              <a:rPr lang="en-US" sz="1990" strike="noStrike" u="none">
                <a:solidFill>
                  <a:srgbClr val="000000"/>
                </a:solidFill>
                <a:latin typeface="Circe"/>
                <a:ea typeface="Circe"/>
                <a:cs typeface="Circe"/>
                <a:sym typeface="Circe"/>
              </a:rPr>
              <a:t>o en</a:t>
            </a:r>
            <a:r>
              <a:rPr lang="en-US" sz="1990" strike="noStrike" u="none">
                <a:solidFill>
                  <a:srgbClr val="000000"/>
                </a:solidFill>
                <a:latin typeface="Circe"/>
                <a:ea typeface="Circe"/>
                <a:cs typeface="Circe"/>
                <a:sym typeface="Circe"/>
              </a:rPr>
              <a:t> t</a:t>
            </a:r>
            <a:r>
              <a:rPr lang="en-US" sz="1990" strike="noStrike" u="none">
                <a:solidFill>
                  <a:srgbClr val="000000"/>
                </a:solidFill>
                <a:latin typeface="Circe"/>
                <a:ea typeface="Circe"/>
                <a:cs typeface="Circe"/>
                <a:sym typeface="Circe"/>
              </a:rPr>
              <a:t>i</a:t>
            </a:r>
            <a:r>
              <a:rPr lang="en-US" sz="1990" strike="noStrike" u="none">
                <a:solidFill>
                  <a:srgbClr val="000000"/>
                </a:solidFill>
                <a:latin typeface="Circe"/>
                <a:ea typeface="Circe"/>
                <a:cs typeface="Circe"/>
                <a:sym typeface="Circe"/>
              </a:rPr>
              <a:t>e</a:t>
            </a:r>
            <a:r>
              <a:rPr lang="en-US" sz="1990" strike="noStrike" u="none">
                <a:solidFill>
                  <a:srgbClr val="000000"/>
                </a:solidFill>
                <a:latin typeface="Circe"/>
                <a:ea typeface="Circe"/>
                <a:cs typeface="Circe"/>
                <a:sym typeface="Circe"/>
              </a:rPr>
              <a:t>m</a:t>
            </a:r>
            <a:r>
              <a:rPr lang="en-US" sz="1990" strike="noStrike" u="none">
                <a:solidFill>
                  <a:srgbClr val="000000"/>
                </a:solidFill>
                <a:latin typeface="Circe"/>
                <a:ea typeface="Circe"/>
                <a:cs typeface="Circe"/>
                <a:sym typeface="Circe"/>
              </a:rPr>
              <a:t>p</a:t>
            </a:r>
            <a:r>
              <a:rPr lang="en-US" sz="1990" strike="noStrike" u="none">
                <a:solidFill>
                  <a:srgbClr val="000000"/>
                </a:solidFill>
                <a:latin typeface="Circe"/>
                <a:ea typeface="Circe"/>
                <a:cs typeface="Circe"/>
                <a:sym typeface="Circe"/>
              </a:rPr>
              <a:t>o real </a:t>
            </a:r>
            <a:r>
              <a:rPr lang="en-US" sz="1990" strike="noStrike" u="none">
                <a:solidFill>
                  <a:srgbClr val="000000"/>
                </a:solidFill>
                <a:latin typeface="Circe"/>
                <a:ea typeface="Circe"/>
                <a:cs typeface="Circe"/>
                <a:sym typeface="Circe"/>
              </a:rPr>
              <a:t>y</a:t>
            </a:r>
            <a:r>
              <a:rPr lang="en-US" sz="1990" strike="noStrike" u="none">
                <a:solidFill>
                  <a:srgbClr val="000000"/>
                </a:solidFill>
                <a:latin typeface="Circe"/>
                <a:ea typeface="Circe"/>
                <a:cs typeface="Circe"/>
                <a:sym typeface="Circe"/>
              </a:rPr>
              <a:t> lo a</a:t>
            </a:r>
            <a:r>
              <a:rPr lang="en-US" sz="1990" strike="noStrike" u="none">
                <a:solidFill>
                  <a:srgbClr val="000000"/>
                </a:solidFill>
                <a:latin typeface="Circe"/>
                <a:ea typeface="Circe"/>
                <a:cs typeface="Circe"/>
                <a:sym typeface="Circe"/>
              </a:rPr>
              <a:t>j</a:t>
            </a:r>
            <a:r>
              <a:rPr lang="en-US" sz="1990" strike="noStrike" u="none">
                <a:solidFill>
                  <a:srgbClr val="000000"/>
                </a:solidFill>
                <a:latin typeface="Circe"/>
                <a:ea typeface="Circe"/>
                <a:cs typeface="Circe"/>
                <a:sym typeface="Circe"/>
              </a:rPr>
              <a:t>usta </a:t>
            </a:r>
            <a:r>
              <a:rPr lang="en-US" sz="1990" strike="noStrike" u="none">
                <a:solidFill>
                  <a:srgbClr val="000000"/>
                </a:solidFill>
                <a:latin typeface="Circe"/>
                <a:ea typeface="Circe"/>
                <a:cs typeface="Circe"/>
                <a:sym typeface="Circe"/>
              </a:rPr>
              <a:t>aut</a:t>
            </a:r>
            <a:r>
              <a:rPr lang="en-US" sz="1990" strike="noStrike" u="none">
                <a:solidFill>
                  <a:srgbClr val="000000"/>
                </a:solidFill>
                <a:latin typeface="Circe"/>
                <a:ea typeface="Circe"/>
                <a:cs typeface="Circe"/>
                <a:sym typeface="Circe"/>
              </a:rPr>
              <a:t>om</a:t>
            </a:r>
            <a:r>
              <a:rPr lang="en-US" sz="1990" strike="noStrike" u="none">
                <a:solidFill>
                  <a:srgbClr val="000000"/>
                </a:solidFill>
                <a:latin typeface="Circe"/>
                <a:ea typeface="Circe"/>
                <a:cs typeface="Circe"/>
                <a:sym typeface="Circe"/>
              </a:rPr>
              <a:t>át</a:t>
            </a:r>
            <a:r>
              <a:rPr lang="en-US" sz="1990" strike="noStrike" u="none">
                <a:solidFill>
                  <a:srgbClr val="000000"/>
                </a:solidFill>
                <a:latin typeface="Circe"/>
                <a:ea typeface="Circe"/>
                <a:cs typeface="Circe"/>
                <a:sym typeface="Circe"/>
              </a:rPr>
              <a:t>ica</a:t>
            </a:r>
            <a:r>
              <a:rPr lang="en-US" sz="1990" strike="noStrike" u="none">
                <a:solidFill>
                  <a:srgbClr val="000000"/>
                </a:solidFill>
                <a:latin typeface="Circe"/>
                <a:ea typeface="Circe"/>
                <a:cs typeface="Circe"/>
                <a:sym typeface="Circe"/>
              </a:rPr>
              <a:t>me</a:t>
            </a:r>
            <a:r>
              <a:rPr lang="en-US" sz="1990" strike="noStrike" u="none">
                <a:solidFill>
                  <a:srgbClr val="000000"/>
                </a:solidFill>
                <a:latin typeface="Circe"/>
                <a:ea typeface="Circe"/>
                <a:cs typeface="Circe"/>
                <a:sym typeface="Circe"/>
              </a:rPr>
              <a:t>n</a:t>
            </a:r>
            <a:r>
              <a:rPr lang="en-US" sz="1990" strike="noStrike" u="none">
                <a:solidFill>
                  <a:srgbClr val="000000"/>
                </a:solidFill>
                <a:latin typeface="Circe"/>
                <a:ea typeface="Circe"/>
                <a:cs typeface="Circe"/>
                <a:sym typeface="Circe"/>
              </a:rPr>
              <a:t>t</a:t>
            </a:r>
            <a:r>
              <a:rPr lang="en-US" sz="1990" strike="noStrike" u="none">
                <a:solidFill>
                  <a:srgbClr val="000000"/>
                </a:solidFill>
                <a:latin typeface="Circe"/>
                <a:ea typeface="Circe"/>
                <a:cs typeface="Circe"/>
                <a:sym typeface="Circe"/>
              </a:rPr>
              <a:t>e se</a:t>
            </a:r>
            <a:r>
              <a:rPr lang="en-US" sz="1990" strike="noStrike" u="none">
                <a:solidFill>
                  <a:srgbClr val="000000"/>
                </a:solidFill>
                <a:latin typeface="Circe"/>
                <a:ea typeface="Circe"/>
                <a:cs typeface="Circe"/>
                <a:sym typeface="Circe"/>
              </a:rPr>
              <a:t>gún</a:t>
            </a:r>
            <a:r>
              <a:rPr lang="en-US" sz="1990" strike="noStrike" u="none">
                <a:solidFill>
                  <a:srgbClr val="000000"/>
                </a:solidFill>
                <a:latin typeface="Circe"/>
                <a:ea typeface="Circe"/>
                <a:cs typeface="Circe"/>
                <a:sym typeface="Circe"/>
              </a:rPr>
              <a:t> l</a:t>
            </a:r>
            <a:r>
              <a:rPr lang="en-US" sz="1990" strike="noStrike" u="none">
                <a:solidFill>
                  <a:srgbClr val="000000"/>
                </a:solidFill>
                <a:latin typeface="Circe"/>
                <a:ea typeface="Circe"/>
                <a:cs typeface="Circe"/>
                <a:sym typeface="Circe"/>
              </a:rPr>
              <a:t>a</a:t>
            </a:r>
            <a:r>
              <a:rPr lang="en-US" sz="1990" strike="noStrike" u="none">
                <a:solidFill>
                  <a:srgbClr val="000000"/>
                </a:solidFill>
                <a:latin typeface="Circe"/>
                <a:ea typeface="Circe"/>
                <a:cs typeface="Circe"/>
                <a:sym typeface="Circe"/>
              </a:rPr>
              <a:t> </a:t>
            </a:r>
            <a:r>
              <a:rPr lang="en-US" sz="1990" strike="noStrike" u="none">
                <a:solidFill>
                  <a:srgbClr val="000000"/>
                </a:solidFill>
                <a:latin typeface="Circe"/>
                <a:ea typeface="Circe"/>
                <a:cs typeface="Circe"/>
                <a:sym typeface="Circe"/>
              </a:rPr>
              <a:t>v</a:t>
            </a:r>
            <a:r>
              <a:rPr lang="en-US" sz="1990" strike="noStrike" u="none">
                <a:solidFill>
                  <a:srgbClr val="000000"/>
                </a:solidFill>
                <a:latin typeface="Circe"/>
                <a:ea typeface="Circe"/>
                <a:cs typeface="Circe"/>
                <a:sym typeface="Circe"/>
              </a:rPr>
              <a:t>eloc</a:t>
            </a:r>
            <a:r>
              <a:rPr lang="en-US" sz="1990" strike="noStrike" u="none">
                <a:solidFill>
                  <a:srgbClr val="000000"/>
                </a:solidFill>
                <a:latin typeface="Circe"/>
                <a:ea typeface="Circe"/>
                <a:cs typeface="Circe"/>
                <a:sym typeface="Circe"/>
              </a:rPr>
              <a:t>id</a:t>
            </a:r>
            <a:r>
              <a:rPr lang="en-US" sz="1990" strike="noStrike" u="none">
                <a:solidFill>
                  <a:srgbClr val="000000"/>
                </a:solidFill>
                <a:latin typeface="Circe"/>
                <a:ea typeface="Circe"/>
                <a:cs typeface="Circe"/>
                <a:sym typeface="Circe"/>
              </a:rPr>
              <a:t>ad </a:t>
            </a:r>
            <a:r>
              <a:rPr lang="en-US" sz="1990" strike="noStrike" u="none">
                <a:solidFill>
                  <a:srgbClr val="000000"/>
                </a:solidFill>
                <a:latin typeface="Circe"/>
                <a:ea typeface="Circe"/>
                <a:cs typeface="Circe"/>
                <a:sym typeface="Circe"/>
              </a:rPr>
              <a:t>pr</a:t>
            </a:r>
            <a:r>
              <a:rPr lang="en-US" sz="1990" strike="noStrike" u="none">
                <a:solidFill>
                  <a:srgbClr val="000000"/>
                </a:solidFill>
                <a:latin typeface="Circe"/>
                <a:ea typeface="Circe"/>
                <a:cs typeface="Circe"/>
                <a:sym typeface="Circe"/>
              </a:rPr>
              <a:t>o</a:t>
            </a:r>
            <a:r>
              <a:rPr lang="en-US" sz="1990" strike="noStrike" u="none">
                <a:solidFill>
                  <a:srgbClr val="000000"/>
                </a:solidFill>
                <a:latin typeface="Circe"/>
                <a:ea typeface="Circe"/>
                <a:cs typeface="Circe"/>
                <a:sym typeface="Circe"/>
              </a:rPr>
              <a:t>g</a:t>
            </a:r>
            <a:r>
              <a:rPr lang="en-US" sz="1990" strike="noStrike" u="none">
                <a:solidFill>
                  <a:srgbClr val="000000"/>
                </a:solidFill>
                <a:latin typeface="Circe"/>
                <a:ea typeface="Circe"/>
                <a:cs typeface="Circe"/>
                <a:sym typeface="Circe"/>
              </a:rPr>
              <a:t>r</a:t>
            </a:r>
            <a:r>
              <a:rPr lang="en-US" sz="1990" strike="noStrike" u="none">
                <a:solidFill>
                  <a:srgbClr val="000000"/>
                </a:solidFill>
                <a:latin typeface="Circe"/>
                <a:ea typeface="Circe"/>
                <a:cs typeface="Circe"/>
                <a:sym typeface="Circe"/>
              </a:rPr>
              <a:t>a</a:t>
            </a:r>
            <a:r>
              <a:rPr lang="en-US" sz="1990" strike="noStrike" u="none">
                <a:solidFill>
                  <a:srgbClr val="000000"/>
                </a:solidFill>
                <a:latin typeface="Circe"/>
                <a:ea typeface="Circe"/>
                <a:cs typeface="Circe"/>
                <a:sym typeface="Circe"/>
              </a:rPr>
              <a:t>ma</a:t>
            </a:r>
            <a:r>
              <a:rPr lang="en-US" sz="1990" strike="noStrike" u="none">
                <a:solidFill>
                  <a:srgbClr val="000000"/>
                </a:solidFill>
                <a:latin typeface="Circe"/>
                <a:ea typeface="Circe"/>
                <a:cs typeface="Circe"/>
                <a:sym typeface="Circe"/>
              </a:rPr>
              <a:t>d</a:t>
            </a:r>
            <a:r>
              <a:rPr lang="en-US" sz="1990" strike="noStrike" u="none">
                <a:solidFill>
                  <a:srgbClr val="000000"/>
                </a:solidFill>
                <a:latin typeface="Circe"/>
                <a:ea typeface="Circe"/>
                <a:cs typeface="Circe"/>
                <a:sym typeface="Circe"/>
              </a:rPr>
              <a:t>a, </a:t>
            </a:r>
            <a:r>
              <a:rPr lang="en-US" sz="1990" strike="noStrike" u="none">
                <a:solidFill>
                  <a:srgbClr val="000000"/>
                </a:solidFill>
                <a:latin typeface="Circe"/>
                <a:ea typeface="Circe"/>
                <a:cs typeface="Circe"/>
                <a:sym typeface="Circe"/>
              </a:rPr>
              <a:t>inc</a:t>
            </a:r>
            <a:r>
              <a:rPr lang="en-US" sz="1990" strike="noStrike" u="none">
                <a:solidFill>
                  <a:srgbClr val="000000"/>
                </a:solidFill>
                <a:latin typeface="Circe"/>
                <a:ea typeface="Circe"/>
                <a:cs typeface="Circe"/>
                <a:sym typeface="Circe"/>
              </a:rPr>
              <a:t>o</a:t>
            </a:r>
            <a:r>
              <a:rPr lang="en-US" sz="1990" strike="noStrike" u="none">
                <a:solidFill>
                  <a:srgbClr val="000000"/>
                </a:solidFill>
                <a:latin typeface="Circe"/>
                <a:ea typeface="Circe"/>
                <a:cs typeface="Circe"/>
                <a:sym typeface="Circe"/>
              </a:rPr>
              <a:t>r</a:t>
            </a:r>
            <a:r>
              <a:rPr lang="en-US" sz="1990" strike="noStrike" u="none">
                <a:solidFill>
                  <a:srgbClr val="000000"/>
                </a:solidFill>
                <a:latin typeface="Circe"/>
                <a:ea typeface="Circe"/>
                <a:cs typeface="Circe"/>
                <a:sym typeface="Circe"/>
              </a:rPr>
              <a:t>p</a:t>
            </a:r>
            <a:r>
              <a:rPr lang="en-US" sz="1990" strike="noStrike" u="none">
                <a:solidFill>
                  <a:srgbClr val="000000"/>
                </a:solidFill>
                <a:latin typeface="Circe"/>
                <a:ea typeface="Circe"/>
                <a:cs typeface="Circe"/>
                <a:sym typeface="Circe"/>
              </a:rPr>
              <a:t>o</a:t>
            </a:r>
            <a:r>
              <a:rPr lang="en-US" sz="1990" strike="noStrike" u="none">
                <a:solidFill>
                  <a:srgbClr val="000000"/>
                </a:solidFill>
                <a:latin typeface="Circe"/>
                <a:ea typeface="Circe"/>
                <a:cs typeface="Circe"/>
                <a:sym typeface="Circe"/>
              </a:rPr>
              <a:t>r</a:t>
            </a:r>
            <a:r>
              <a:rPr lang="en-US" sz="1990" strike="noStrike" u="none">
                <a:solidFill>
                  <a:srgbClr val="000000"/>
                </a:solidFill>
                <a:latin typeface="Circe"/>
                <a:ea typeface="Circe"/>
                <a:cs typeface="Circe"/>
                <a:sym typeface="Circe"/>
              </a:rPr>
              <a:t>and</a:t>
            </a:r>
            <a:r>
              <a:rPr lang="en-US" sz="1990" strike="noStrike" u="none">
                <a:solidFill>
                  <a:srgbClr val="000000"/>
                </a:solidFill>
                <a:latin typeface="Circe"/>
                <a:ea typeface="Circe"/>
                <a:cs typeface="Circe"/>
                <a:sym typeface="Circe"/>
              </a:rPr>
              <a:t>o </a:t>
            </a:r>
            <a:r>
              <a:rPr lang="en-US" sz="1990" strike="noStrike" u="none">
                <a:solidFill>
                  <a:srgbClr val="000000"/>
                </a:solidFill>
                <a:latin typeface="Circe"/>
                <a:ea typeface="Circe"/>
                <a:cs typeface="Circe"/>
                <a:sym typeface="Circe"/>
              </a:rPr>
              <a:t>a</a:t>
            </a:r>
            <a:r>
              <a:rPr lang="en-US" sz="1990" strike="noStrike" u="none">
                <a:solidFill>
                  <a:srgbClr val="000000"/>
                </a:solidFill>
                <a:latin typeface="Circe"/>
                <a:ea typeface="Circe"/>
                <a:cs typeface="Circe"/>
                <a:sym typeface="Circe"/>
              </a:rPr>
              <a:t>de</a:t>
            </a:r>
            <a:r>
              <a:rPr lang="en-US" sz="1990" strike="noStrike" u="none">
                <a:solidFill>
                  <a:srgbClr val="000000"/>
                </a:solidFill>
                <a:latin typeface="Circe"/>
                <a:ea typeface="Circe"/>
                <a:cs typeface="Circe"/>
                <a:sym typeface="Circe"/>
              </a:rPr>
              <a:t>más</a:t>
            </a:r>
            <a:r>
              <a:rPr lang="en-US" sz="1990" strike="noStrike" u="none">
                <a:solidFill>
                  <a:srgbClr val="000000"/>
                </a:solidFill>
                <a:latin typeface="Circe"/>
                <a:ea typeface="Circe"/>
                <a:cs typeface="Circe"/>
                <a:sym typeface="Circe"/>
              </a:rPr>
              <a:t> </a:t>
            </a:r>
            <a:r>
              <a:rPr lang="en-US" sz="1990" strike="noStrike" u="none">
                <a:solidFill>
                  <a:srgbClr val="000000"/>
                </a:solidFill>
                <a:latin typeface="Circe"/>
                <a:ea typeface="Circe"/>
                <a:cs typeface="Circe"/>
                <a:sym typeface="Circe"/>
              </a:rPr>
              <a:t>al</a:t>
            </a:r>
            <a:r>
              <a:rPr lang="en-US" sz="1990" strike="noStrike" u="none">
                <a:solidFill>
                  <a:srgbClr val="000000"/>
                </a:solidFill>
                <a:latin typeface="Circe"/>
                <a:ea typeface="Circe"/>
                <a:cs typeface="Circe"/>
                <a:sym typeface="Circe"/>
              </a:rPr>
              <a:t>er</a:t>
            </a:r>
            <a:r>
              <a:rPr lang="en-US" sz="1990" strike="noStrike" u="none">
                <a:solidFill>
                  <a:srgbClr val="000000"/>
                </a:solidFill>
                <a:latin typeface="Circe"/>
                <a:ea typeface="Circe"/>
                <a:cs typeface="Circe"/>
                <a:sym typeface="Circe"/>
              </a:rPr>
              <a:t>t</a:t>
            </a:r>
            <a:r>
              <a:rPr lang="en-US" sz="1990" strike="noStrike" u="none">
                <a:solidFill>
                  <a:srgbClr val="000000"/>
                </a:solidFill>
                <a:latin typeface="Circe"/>
                <a:ea typeface="Circe"/>
                <a:cs typeface="Circe"/>
                <a:sym typeface="Circe"/>
              </a:rPr>
              <a:t>as </a:t>
            </a:r>
            <a:r>
              <a:rPr lang="en-US" sz="1990" strike="noStrike" u="none">
                <a:solidFill>
                  <a:srgbClr val="000000"/>
                </a:solidFill>
                <a:latin typeface="Circe"/>
                <a:ea typeface="Circe"/>
                <a:cs typeface="Circe"/>
                <a:sym typeface="Circe"/>
              </a:rPr>
              <a:t>y</a:t>
            </a:r>
            <a:r>
              <a:rPr lang="en-US" sz="1990" strike="noStrike" u="none">
                <a:solidFill>
                  <a:srgbClr val="000000"/>
                </a:solidFill>
                <a:latin typeface="Circe"/>
                <a:ea typeface="Circe"/>
                <a:cs typeface="Circe"/>
                <a:sym typeface="Circe"/>
              </a:rPr>
              <a:t> </a:t>
            </a:r>
            <a:r>
              <a:rPr lang="en-US" sz="1990" strike="noStrike" u="none">
                <a:solidFill>
                  <a:srgbClr val="000000"/>
                </a:solidFill>
                <a:latin typeface="Circe"/>
                <a:ea typeface="Circe"/>
                <a:cs typeface="Circe"/>
                <a:sym typeface="Circe"/>
              </a:rPr>
              <a:t>mon</a:t>
            </a:r>
            <a:r>
              <a:rPr lang="en-US" sz="1990" strike="noStrike" u="none">
                <a:solidFill>
                  <a:srgbClr val="000000"/>
                </a:solidFill>
                <a:latin typeface="Circe"/>
                <a:ea typeface="Circe"/>
                <a:cs typeface="Circe"/>
                <a:sym typeface="Circe"/>
              </a:rPr>
              <a:t>i</a:t>
            </a:r>
            <a:r>
              <a:rPr lang="en-US" sz="1990" strike="noStrike" u="none">
                <a:solidFill>
                  <a:srgbClr val="000000"/>
                </a:solidFill>
                <a:latin typeface="Circe"/>
                <a:ea typeface="Circe"/>
                <a:cs typeface="Circe"/>
                <a:sym typeface="Circe"/>
              </a:rPr>
              <a:t>tor</a:t>
            </a:r>
            <a:r>
              <a:rPr lang="en-US" sz="1990" strike="noStrike" u="none">
                <a:solidFill>
                  <a:srgbClr val="000000"/>
                </a:solidFill>
                <a:latin typeface="Circe"/>
                <a:ea typeface="Circe"/>
                <a:cs typeface="Circe"/>
                <a:sym typeface="Circe"/>
              </a:rPr>
              <a:t>e</a:t>
            </a:r>
            <a:r>
              <a:rPr lang="en-US" sz="1990" strike="noStrike" u="none">
                <a:solidFill>
                  <a:srgbClr val="000000"/>
                </a:solidFill>
                <a:latin typeface="Circe"/>
                <a:ea typeface="Circe"/>
                <a:cs typeface="Circe"/>
                <a:sym typeface="Circe"/>
              </a:rPr>
              <a:t>o</a:t>
            </a:r>
            <a:r>
              <a:rPr lang="en-US" sz="1990" strike="noStrike" u="none">
                <a:solidFill>
                  <a:srgbClr val="000000"/>
                </a:solidFill>
                <a:latin typeface="Circe"/>
                <a:ea typeface="Circe"/>
                <a:cs typeface="Circe"/>
                <a:sym typeface="Circe"/>
              </a:rPr>
              <a:t> </a:t>
            </a:r>
            <a:r>
              <a:rPr lang="en-US" sz="1990" strike="noStrike" u="none">
                <a:solidFill>
                  <a:srgbClr val="000000"/>
                </a:solidFill>
                <a:latin typeface="Circe"/>
                <a:ea typeface="Circe"/>
                <a:cs typeface="Circe"/>
                <a:sym typeface="Circe"/>
              </a:rPr>
              <a:t>re</a:t>
            </a:r>
            <a:r>
              <a:rPr lang="en-US" sz="1990" strike="noStrike" u="none">
                <a:solidFill>
                  <a:srgbClr val="000000"/>
                </a:solidFill>
                <a:latin typeface="Circe"/>
                <a:ea typeface="Circe"/>
                <a:cs typeface="Circe"/>
                <a:sym typeface="Circe"/>
              </a:rPr>
              <a:t>mo</a:t>
            </a:r>
            <a:r>
              <a:rPr lang="en-US" sz="1990" strike="noStrike" u="none">
                <a:solidFill>
                  <a:srgbClr val="000000"/>
                </a:solidFill>
                <a:latin typeface="Circe"/>
                <a:ea typeface="Circe"/>
                <a:cs typeface="Circe"/>
                <a:sym typeface="Circe"/>
              </a:rPr>
              <a:t>to [5]</a:t>
            </a:r>
          </a:p>
        </p:txBody>
      </p:sp>
      <p:sp>
        <p:nvSpPr>
          <p:cNvPr name="TextBox 12" id="12"/>
          <p:cNvSpPr txBox="true"/>
          <p:nvPr/>
        </p:nvSpPr>
        <p:spPr>
          <a:xfrm rot="0">
            <a:off x="8814665" y="3635765"/>
            <a:ext cx="6738744" cy="1198890"/>
          </a:xfrm>
          <a:prstGeom prst="rect">
            <a:avLst/>
          </a:prstGeom>
        </p:spPr>
        <p:txBody>
          <a:bodyPr anchor="t" rtlCol="false" tIns="0" lIns="0" bIns="0" rIns="0">
            <a:spAutoFit/>
          </a:bodyPr>
          <a:lstStyle/>
          <a:p>
            <a:pPr algn="ctr">
              <a:lnSpc>
                <a:spcPts val="3190"/>
              </a:lnSpc>
            </a:pPr>
            <a:r>
              <a:rPr lang="en-US" b="true" sz="2900">
                <a:solidFill>
                  <a:srgbClr val="000000"/>
                </a:solidFill>
                <a:latin typeface="Circe Bold"/>
                <a:ea typeface="Circe Bold"/>
                <a:cs typeface="Circe Bold"/>
                <a:sym typeface="Circe Bold"/>
              </a:rPr>
              <a:t>AUTOMATED IV INFUSION CONTROL SYSTEM DESIGN AND DEVELOPMENT FOR MEDICAL USE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grpSp>
        <p:nvGrpSpPr>
          <p:cNvPr name="Group 2" id="2"/>
          <p:cNvGrpSpPr/>
          <p:nvPr/>
        </p:nvGrpSpPr>
        <p:grpSpPr>
          <a:xfrm rot="0">
            <a:off x="357065" y="3069792"/>
            <a:ext cx="5630210" cy="7587258"/>
            <a:chOff x="0" y="0"/>
            <a:chExt cx="7506947" cy="10116344"/>
          </a:xfrm>
        </p:grpSpPr>
        <p:sp>
          <p:nvSpPr>
            <p:cNvPr name="Freeform 3" id="3"/>
            <p:cNvSpPr/>
            <p:nvPr/>
          </p:nvSpPr>
          <p:spPr>
            <a:xfrm flipH="false" flipV="false" rot="5400000">
              <a:off x="2233049" y="4846425"/>
              <a:ext cx="3036869" cy="7502968"/>
            </a:xfrm>
            <a:custGeom>
              <a:avLst/>
              <a:gdLst/>
              <a:ahLst/>
              <a:cxnLst/>
              <a:rect r="r" b="b" t="t" l="l"/>
              <a:pathLst>
                <a:path h="7502968" w="3036869">
                  <a:moveTo>
                    <a:pt x="0" y="0"/>
                  </a:moveTo>
                  <a:lnTo>
                    <a:pt x="3036869" y="0"/>
                  </a:lnTo>
                  <a:lnTo>
                    <a:pt x="3036869" y="7502968"/>
                  </a:lnTo>
                  <a:lnTo>
                    <a:pt x="0" y="7502968"/>
                  </a:lnTo>
                  <a:lnTo>
                    <a:pt x="0" y="0"/>
                  </a:lnTo>
                  <a:close/>
                </a:path>
              </a:pathLst>
            </a:custGeom>
            <a:blipFill>
              <a:blip r:embed="rId2"/>
              <a:stretch>
                <a:fillRect l="0" t="-1234" r="0" b="-1234"/>
              </a:stretch>
            </a:blipFill>
          </p:spPr>
        </p:sp>
        <p:grpSp>
          <p:nvGrpSpPr>
            <p:cNvPr name="Group 4" id="4"/>
            <p:cNvGrpSpPr/>
            <p:nvPr/>
          </p:nvGrpSpPr>
          <p:grpSpPr>
            <a:xfrm rot="0">
              <a:off x="3979" y="0"/>
              <a:ext cx="7502968" cy="9222238"/>
              <a:chOff x="0" y="0"/>
              <a:chExt cx="2984091" cy="3667882"/>
            </a:xfrm>
          </p:grpSpPr>
          <p:sp>
            <p:nvSpPr>
              <p:cNvPr name="Freeform 5" id="5"/>
              <p:cNvSpPr/>
              <p:nvPr/>
            </p:nvSpPr>
            <p:spPr>
              <a:xfrm flipH="false" flipV="false" rot="0">
                <a:off x="0" y="0"/>
                <a:ext cx="2984091" cy="3667882"/>
              </a:xfrm>
              <a:custGeom>
                <a:avLst/>
                <a:gdLst/>
                <a:ahLst/>
                <a:cxnLst/>
                <a:rect r="r" b="b" t="t" l="l"/>
                <a:pathLst>
                  <a:path h="3667882" w="2984091">
                    <a:moveTo>
                      <a:pt x="2859631" y="3667882"/>
                    </a:moveTo>
                    <a:lnTo>
                      <a:pt x="124460" y="3667882"/>
                    </a:lnTo>
                    <a:cubicBezTo>
                      <a:pt x="55880" y="3667882"/>
                      <a:pt x="0" y="3612002"/>
                      <a:pt x="0" y="3543422"/>
                    </a:cubicBezTo>
                    <a:lnTo>
                      <a:pt x="0" y="124460"/>
                    </a:lnTo>
                    <a:cubicBezTo>
                      <a:pt x="0" y="55880"/>
                      <a:pt x="55880" y="0"/>
                      <a:pt x="124460" y="0"/>
                    </a:cubicBezTo>
                    <a:lnTo>
                      <a:pt x="2859631" y="0"/>
                    </a:lnTo>
                    <a:cubicBezTo>
                      <a:pt x="2928211" y="0"/>
                      <a:pt x="2984091" y="55880"/>
                      <a:pt x="2984091" y="124460"/>
                    </a:cubicBezTo>
                    <a:lnTo>
                      <a:pt x="2984091" y="3543422"/>
                    </a:lnTo>
                    <a:cubicBezTo>
                      <a:pt x="2984091" y="3612002"/>
                      <a:pt x="2928211" y="3667882"/>
                      <a:pt x="2859631" y="3667882"/>
                    </a:cubicBezTo>
                    <a:close/>
                  </a:path>
                </a:pathLst>
              </a:custGeom>
              <a:solidFill>
                <a:srgbClr val="FFFFFF"/>
              </a:solidFill>
            </p:spPr>
          </p:sp>
        </p:grpSp>
      </p:grpSp>
      <p:grpSp>
        <p:nvGrpSpPr>
          <p:cNvPr name="Group 6" id="6"/>
          <p:cNvGrpSpPr/>
          <p:nvPr/>
        </p:nvGrpSpPr>
        <p:grpSpPr>
          <a:xfrm rot="0">
            <a:off x="6226406" y="3248299"/>
            <a:ext cx="5855521" cy="7408751"/>
            <a:chOff x="0" y="0"/>
            <a:chExt cx="7807361" cy="9878335"/>
          </a:xfrm>
        </p:grpSpPr>
        <p:sp>
          <p:nvSpPr>
            <p:cNvPr name="Freeform 7" id="7"/>
            <p:cNvSpPr/>
            <p:nvPr/>
          </p:nvSpPr>
          <p:spPr>
            <a:xfrm flipH="false" flipV="false" rot="5400000">
              <a:off x="2305134" y="4609788"/>
              <a:ext cx="2965420" cy="7571673"/>
            </a:xfrm>
            <a:custGeom>
              <a:avLst/>
              <a:gdLst/>
              <a:ahLst/>
              <a:cxnLst/>
              <a:rect r="r" b="b" t="t" l="l"/>
              <a:pathLst>
                <a:path h="7571673" w="2965420">
                  <a:moveTo>
                    <a:pt x="0" y="0"/>
                  </a:moveTo>
                  <a:lnTo>
                    <a:pt x="2965420" y="0"/>
                  </a:lnTo>
                  <a:lnTo>
                    <a:pt x="2965420" y="7571673"/>
                  </a:lnTo>
                  <a:lnTo>
                    <a:pt x="0" y="7571673"/>
                  </a:lnTo>
                  <a:lnTo>
                    <a:pt x="0" y="0"/>
                  </a:lnTo>
                  <a:close/>
                </a:path>
              </a:pathLst>
            </a:custGeom>
            <a:blipFill>
              <a:blip r:embed="rId2"/>
              <a:stretch>
                <a:fillRect l="-428" t="0" r="-428" b="0"/>
              </a:stretch>
            </a:blipFill>
          </p:spPr>
        </p:sp>
        <p:grpSp>
          <p:nvGrpSpPr>
            <p:cNvPr name="Group 8" id="8"/>
            <p:cNvGrpSpPr/>
            <p:nvPr/>
          </p:nvGrpSpPr>
          <p:grpSpPr>
            <a:xfrm rot="0">
              <a:off x="0" y="0"/>
              <a:ext cx="7807361" cy="9005264"/>
              <a:chOff x="0" y="0"/>
              <a:chExt cx="2583863" cy="2980311"/>
            </a:xfrm>
          </p:grpSpPr>
          <p:sp>
            <p:nvSpPr>
              <p:cNvPr name="Freeform 9" id="9"/>
              <p:cNvSpPr/>
              <p:nvPr/>
            </p:nvSpPr>
            <p:spPr>
              <a:xfrm flipH="false" flipV="false" rot="0">
                <a:off x="0" y="0"/>
                <a:ext cx="2583863" cy="2980311"/>
              </a:xfrm>
              <a:custGeom>
                <a:avLst/>
                <a:gdLst/>
                <a:ahLst/>
                <a:cxnLst/>
                <a:rect r="r" b="b" t="t" l="l"/>
                <a:pathLst>
                  <a:path h="2980311" w="2583863">
                    <a:moveTo>
                      <a:pt x="2459403" y="2980311"/>
                    </a:moveTo>
                    <a:lnTo>
                      <a:pt x="124460" y="2980311"/>
                    </a:lnTo>
                    <a:cubicBezTo>
                      <a:pt x="55880" y="2980311"/>
                      <a:pt x="0" y="2924431"/>
                      <a:pt x="0" y="2855851"/>
                    </a:cubicBezTo>
                    <a:lnTo>
                      <a:pt x="0" y="124460"/>
                    </a:lnTo>
                    <a:cubicBezTo>
                      <a:pt x="0" y="55880"/>
                      <a:pt x="55880" y="0"/>
                      <a:pt x="124460" y="0"/>
                    </a:cubicBezTo>
                    <a:lnTo>
                      <a:pt x="2459403" y="0"/>
                    </a:lnTo>
                    <a:cubicBezTo>
                      <a:pt x="2527983" y="0"/>
                      <a:pt x="2583863" y="55880"/>
                      <a:pt x="2583863" y="124460"/>
                    </a:cubicBezTo>
                    <a:lnTo>
                      <a:pt x="2583863" y="2855851"/>
                    </a:lnTo>
                    <a:cubicBezTo>
                      <a:pt x="2583863" y="2924431"/>
                      <a:pt x="2527983" y="2980311"/>
                      <a:pt x="2459403" y="2980311"/>
                    </a:cubicBezTo>
                    <a:close/>
                  </a:path>
                </a:pathLst>
              </a:custGeom>
              <a:solidFill>
                <a:srgbClr val="FFFFFF"/>
              </a:solidFill>
            </p:spPr>
          </p:sp>
        </p:grpSp>
      </p:grpSp>
      <p:grpSp>
        <p:nvGrpSpPr>
          <p:cNvPr name="Group 10" id="10"/>
          <p:cNvGrpSpPr/>
          <p:nvPr/>
        </p:nvGrpSpPr>
        <p:grpSpPr>
          <a:xfrm rot="0">
            <a:off x="12287667" y="3184020"/>
            <a:ext cx="5714755" cy="7473030"/>
            <a:chOff x="0" y="0"/>
            <a:chExt cx="7619674" cy="9964039"/>
          </a:xfrm>
        </p:grpSpPr>
        <p:sp>
          <p:nvSpPr>
            <p:cNvPr name="Freeform 11" id="11"/>
            <p:cNvSpPr/>
            <p:nvPr/>
          </p:nvSpPr>
          <p:spPr>
            <a:xfrm flipH="false" flipV="false" rot="5400000">
              <a:off x="2305042" y="4667849"/>
              <a:ext cx="2991148" cy="7601232"/>
            </a:xfrm>
            <a:custGeom>
              <a:avLst/>
              <a:gdLst/>
              <a:ahLst/>
              <a:cxnLst/>
              <a:rect r="r" b="b" t="t" l="l"/>
              <a:pathLst>
                <a:path h="7601232" w="2991148">
                  <a:moveTo>
                    <a:pt x="0" y="0"/>
                  </a:moveTo>
                  <a:lnTo>
                    <a:pt x="2991148" y="0"/>
                  </a:lnTo>
                  <a:lnTo>
                    <a:pt x="2991148" y="7601232"/>
                  </a:lnTo>
                  <a:lnTo>
                    <a:pt x="0" y="7601232"/>
                  </a:lnTo>
                  <a:lnTo>
                    <a:pt x="0" y="0"/>
                  </a:lnTo>
                  <a:close/>
                </a:path>
              </a:pathLst>
            </a:custGeom>
            <a:blipFill>
              <a:blip r:embed="rId2"/>
              <a:stretch>
                <a:fillRect l="-189" t="0" r="-189" b="0"/>
              </a:stretch>
            </a:blipFill>
          </p:spPr>
        </p:sp>
        <p:grpSp>
          <p:nvGrpSpPr>
            <p:cNvPr name="Group 12" id="12"/>
            <p:cNvGrpSpPr/>
            <p:nvPr/>
          </p:nvGrpSpPr>
          <p:grpSpPr>
            <a:xfrm rot="0">
              <a:off x="18442" y="0"/>
              <a:ext cx="7601232" cy="9083394"/>
              <a:chOff x="0" y="0"/>
              <a:chExt cx="2483968" cy="2968316"/>
            </a:xfrm>
          </p:grpSpPr>
          <p:sp>
            <p:nvSpPr>
              <p:cNvPr name="Freeform 13" id="13"/>
              <p:cNvSpPr/>
              <p:nvPr/>
            </p:nvSpPr>
            <p:spPr>
              <a:xfrm flipH="false" flipV="false" rot="0">
                <a:off x="0" y="0"/>
                <a:ext cx="2483968" cy="2968316"/>
              </a:xfrm>
              <a:custGeom>
                <a:avLst/>
                <a:gdLst/>
                <a:ahLst/>
                <a:cxnLst/>
                <a:rect r="r" b="b" t="t" l="l"/>
                <a:pathLst>
                  <a:path h="2968316" w="2483968">
                    <a:moveTo>
                      <a:pt x="2359508" y="2968316"/>
                    </a:moveTo>
                    <a:lnTo>
                      <a:pt x="124460" y="2968316"/>
                    </a:lnTo>
                    <a:cubicBezTo>
                      <a:pt x="55880" y="2968316"/>
                      <a:pt x="0" y="2912436"/>
                      <a:pt x="0" y="2843856"/>
                    </a:cubicBezTo>
                    <a:lnTo>
                      <a:pt x="0" y="124460"/>
                    </a:lnTo>
                    <a:cubicBezTo>
                      <a:pt x="0" y="55880"/>
                      <a:pt x="55880" y="0"/>
                      <a:pt x="124460" y="0"/>
                    </a:cubicBezTo>
                    <a:lnTo>
                      <a:pt x="2359508" y="0"/>
                    </a:lnTo>
                    <a:cubicBezTo>
                      <a:pt x="2428088" y="0"/>
                      <a:pt x="2483968" y="55880"/>
                      <a:pt x="2483968" y="124460"/>
                    </a:cubicBezTo>
                    <a:lnTo>
                      <a:pt x="2483968" y="2843856"/>
                    </a:lnTo>
                    <a:cubicBezTo>
                      <a:pt x="2483968" y="2912436"/>
                      <a:pt x="2428088" y="2968316"/>
                      <a:pt x="2359508" y="2968316"/>
                    </a:cubicBezTo>
                    <a:close/>
                  </a:path>
                </a:pathLst>
              </a:custGeom>
              <a:solidFill>
                <a:srgbClr val="FFFFFF"/>
              </a:solidFill>
            </p:spPr>
          </p:sp>
        </p:grpSp>
      </p:grpSp>
      <p:sp>
        <p:nvSpPr>
          <p:cNvPr name="Freeform 14" id="14"/>
          <p:cNvSpPr/>
          <p:nvPr/>
        </p:nvSpPr>
        <p:spPr>
          <a:xfrm flipH="false" flipV="false" rot="0">
            <a:off x="1341457" y="1363840"/>
            <a:ext cx="3661427" cy="5127279"/>
          </a:xfrm>
          <a:custGeom>
            <a:avLst/>
            <a:gdLst/>
            <a:ahLst/>
            <a:cxnLst/>
            <a:rect r="r" b="b" t="t" l="l"/>
            <a:pathLst>
              <a:path h="5127279" w="3661427">
                <a:moveTo>
                  <a:pt x="0" y="0"/>
                </a:moveTo>
                <a:lnTo>
                  <a:pt x="3661427" y="0"/>
                </a:lnTo>
                <a:lnTo>
                  <a:pt x="3661427" y="5127279"/>
                </a:lnTo>
                <a:lnTo>
                  <a:pt x="0" y="5127279"/>
                </a:lnTo>
                <a:lnTo>
                  <a:pt x="0" y="0"/>
                </a:lnTo>
                <a:close/>
              </a:path>
            </a:pathLst>
          </a:custGeom>
          <a:blipFill>
            <a:blip r:embed="rId3"/>
            <a:stretch>
              <a:fillRect l="0" t="0" r="0" b="0"/>
            </a:stretch>
          </a:blipFill>
        </p:spPr>
      </p:sp>
      <p:sp>
        <p:nvSpPr>
          <p:cNvPr name="Freeform 15" id="15"/>
          <p:cNvSpPr/>
          <p:nvPr/>
        </p:nvSpPr>
        <p:spPr>
          <a:xfrm flipH="false" flipV="false" rot="0">
            <a:off x="7136798" y="1200860"/>
            <a:ext cx="4035333" cy="4094879"/>
          </a:xfrm>
          <a:custGeom>
            <a:avLst/>
            <a:gdLst/>
            <a:ahLst/>
            <a:cxnLst/>
            <a:rect r="r" b="b" t="t" l="l"/>
            <a:pathLst>
              <a:path h="4094879" w="4035333">
                <a:moveTo>
                  <a:pt x="0" y="0"/>
                </a:moveTo>
                <a:lnTo>
                  <a:pt x="4035333" y="0"/>
                </a:lnTo>
                <a:lnTo>
                  <a:pt x="4035333" y="4094878"/>
                </a:lnTo>
                <a:lnTo>
                  <a:pt x="0" y="4094878"/>
                </a:lnTo>
                <a:lnTo>
                  <a:pt x="0" y="0"/>
                </a:lnTo>
                <a:close/>
              </a:path>
            </a:pathLst>
          </a:custGeom>
          <a:blipFill>
            <a:blip r:embed="rId4"/>
            <a:stretch>
              <a:fillRect l="0" t="0" r="0" b="-39243"/>
            </a:stretch>
          </a:blipFill>
        </p:spPr>
      </p:sp>
      <p:sp>
        <p:nvSpPr>
          <p:cNvPr name="Freeform 16" id="16"/>
          <p:cNvSpPr/>
          <p:nvPr/>
        </p:nvSpPr>
        <p:spPr>
          <a:xfrm flipH="false" flipV="false" rot="0">
            <a:off x="13921450" y="909254"/>
            <a:ext cx="2255700" cy="4549532"/>
          </a:xfrm>
          <a:custGeom>
            <a:avLst/>
            <a:gdLst/>
            <a:ahLst/>
            <a:cxnLst/>
            <a:rect r="r" b="b" t="t" l="l"/>
            <a:pathLst>
              <a:path h="4549532" w="2255700">
                <a:moveTo>
                  <a:pt x="0" y="0"/>
                </a:moveTo>
                <a:lnTo>
                  <a:pt x="2255699" y="0"/>
                </a:lnTo>
                <a:lnTo>
                  <a:pt x="2255699" y="4549532"/>
                </a:lnTo>
                <a:lnTo>
                  <a:pt x="0" y="4549532"/>
                </a:lnTo>
                <a:lnTo>
                  <a:pt x="0" y="0"/>
                </a:lnTo>
                <a:close/>
              </a:path>
            </a:pathLst>
          </a:custGeom>
          <a:blipFill>
            <a:blip r:embed="rId5"/>
            <a:stretch>
              <a:fillRect l="-2787" t="-6099" r="-2787" b="0"/>
            </a:stretch>
          </a:blipFill>
        </p:spPr>
      </p:sp>
      <p:sp>
        <p:nvSpPr>
          <p:cNvPr name="TextBox 17" id="17"/>
          <p:cNvSpPr txBox="true"/>
          <p:nvPr/>
        </p:nvSpPr>
        <p:spPr>
          <a:xfrm rot="0">
            <a:off x="-4640229" y="0"/>
            <a:ext cx="14552052" cy="1514475"/>
          </a:xfrm>
          <a:prstGeom prst="rect">
            <a:avLst/>
          </a:prstGeom>
        </p:spPr>
        <p:txBody>
          <a:bodyPr anchor="t" rtlCol="false" tIns="0" lIns="0" bIns="0" rIns="0">
            <a:spAutoFit/>
          </a:bodyPr>
          <a:lstStyle/>
          <a:p>
            <a:pPr algn="ctr" marL="0" indent="0" lvl="0">
              <a:lnSpc>
                <a:spcPts val="11999"/>
              </a:lnSpc>
              <a:spcBef>
                <a:spcPct val="0"/>
              </a:spcBef>
            </a:pPr>
            <a:r>
              <a:rPr lang="en-US" sz="9999">
                <a:solidFill>
                  <a:srgbClr val="412D44"/>
                </a:solidFill>
                <a:latin typeface="Circe Contrast"/>
                <a:ea typeface="Circe Contrast"/>
                <a:cs typeface="Circe Contrast"/>
                <a:sym typeface="Circe Contrast"/>
              </a:rPr>
              <a:t>Patentes</a:t>
            </a:r>
          </a:p>
        </p:txBody>
      </p:sp>
      <p:sp>
        <p:nvSpPr>
          <p:cNvPr name="TextBox 18" id="18"/>
          <p:cNvSpPr txBox="true"/>
          <p:nvPr/>
        </p:nvSpPr>
        <p:spPr>
          <a:xfrm rot="0">
            <a:off x="6537223" y="5632765"/>
            <a:ext cx="5423272" cy="2192687"/>
          </a:xfrm>
          <a:prstGeom prst="rect">
            <a:avLst/>
          </a:prstGeom>
        </p:spPr>
        <p:txBody>
          <a:bodyPr anchor="t" rtlCol="false" tIns="0" lIns="0" bIns="0" rIns="0">
            <a:spAutoFit/>
          </a:bodyPr>
          <a:lstStyle/>
          <a:p>
            <a:pPr algn="ctr">
              <a:lnSpc>
                <a:spcPts val="3491"/>
              </a:lnSpc>
            </a:pPr>
            <a:r>
              <a:rPr lang="en-US" b="true" sz="3173">
                <a:solidFill>
                  <a:srgbClr val="000000"/>
                </a:solidFill>
                <a:latin typeface="Circe Bold"/>
                <a:ea typeface="Circe Bold"/>
                <a:cs typeface="Circe Bold"/>
                <a:sym typeface="Circe Bold"/>
                <a:hlinkClick r:id="rId6" tooltip="https://patents.google.com/patent/US20210093782A1/en?oq=US20210093782A1"/>
              </a:rPr>
              <a:t>SYSTEM AND METHOD FOR MITIGATING RISK IN AUTOMATED MEDICAMENT DOSING</a:t>
            </a:r>
            <a:r>
              <a:rPr lang="en-US" sz="3173">
                <a:solidFill>
                  <a:srgbClr val="000000"/>
                </a:solidFill>
                <a:latin typeface="Circe"/>
                <a:ea typeface="Circe"/>
                <a:cs typeface="Circe"/>
                <a:sym typeface="Circe"/>
              </a:rPr>
              <a:t> - US20210093782A1</a:t>
            </a:r>
          </a:p>
          <a:p>
            <a:pPr algn="ctr">
              <a:lnSpc>
                <a:spcPts val="3491"/>
              </a:lnSpc>
            </a:pPr>
            <a:r>
              <a:rPr lang="en-US" sz="3173">
                <a:solidFill>
                  <a:srgbClr val="000000"/>
                </a:solidFill>
                <a:latin typeface="Circe"/>
                <a:ea typeface="Circe"/>
                <a:cs typeface="Circe"/>
                <a:sym typeface="Circe"/>
              </a:rPr>
              <a:t> </a:t>
            </a:r>
            <a:r>
              <a:rPr lang="en-US" b="true" sz="3173">
                <a:solidFill>
                  <a:srgbClr val="000000"/>
                </a:solidFill>
                <a:latin typeface="Circe Bold"/>
                <a:ea typeface="Circe Bold"/>
                <a:cs typeface="Circe Bold"/>
                <a:sym typeface="Circe Bold"/>
                <a:hlinkClick r:id="rId7" tooltip="https://patents.google.com/patent/US20210093782A1/en?oq=US20210093782A1"/>
              </a:rPr>
              <a:t> </a:t>
            </a:r>
          </a:p>
        </p:txBody>
      </p:sp>
      <p:sp>
        <p:nvSpPr>
          <p:cNvPr name="TextBox 19" id="19"/>
          <p:cNvSpPr txBox="true"/>
          <p:nvPr/>
        </p:nvSpPr>
        <p:spPr>
          <a:xfrm rot="0">
            <a:off x="11960495" y="5632765"/>
            <a:ext cx="6177609" cy="1754808"/>
          </a:xfrm>
          <a:prstGeom prst="rect">
            <a:avLst/>
          </a:prstGeom>
        </p:spPr>
        <p:txBody>
          <a:bodyPr anchor="t" rtlCol="false" tIns="0" lIns="0" bIns="0" rIns="0">
            <a:spAutoFit/>
          </a:bodyPr>
          <a:lstStyle/>
          <a:p>
            <a:pPr algn="ctr">
              <a:lnSpc>
                <a:spcPts val="3491"/>
              </a:lnSpc>
            </a:pPr>
            <a:r>
              <a:rPr lang="en-US" b="true" sz="3173">
                <a:solidFill>
                  <a:srgbClr val="000000"/>
                </a:solidFill>
                <a:latin typeface="Circe Bold"/>
                <a:ea typeface="Circe Bold"/>
                <a:cs typeface="Circe Bold"/>
                <a:sym typeface="Circe Bold"/>
                <a:hlinkClick r:id="rId8" tooltip="https://patents.google.com/patent/ES2741248T3/es?q=(goteo+intravenoso)&amp;oq=goteo+intravenoso"/>
              </a:rPr>
              <a:t>SISTEMAS Y MÉTODOS DE GESTIÓN DE FLUJO INTRAVENOSO (IV)</a:t>
            </a:r>
            <a:r>
              <a:rPr lang="en-US" b="true" sz="3173">
                <a:solidFill>
                  <a:srgbClr val="000000"/>
                </a:solidFill>
                <a:latin typeface="Circe Bold"/>
                <a:ea typeface="Circe Bold"/>
                <a:cs typeface="Circe Bold"/>
                <a:sym typeface="Circe Bold"/>
              </a:rPr>
              <a:t> - </a:t>
            </a:r>
            <a:r>
              <a:rPr lang="en-US" sz="3173">
                <a:solidFill>
                  <a:srgbClr val="000000"/>
                </a:solidFill>
                <a:latin typeface="Circe"/>
                <a:ea typeface="Circe"/>
                <a:cs typeface="Circe"/>
                <a:sym typeface="Circe"/>
              </a:rPr>
              <a:t>ES2741248T3</a:t>
            </a:r>
          </a:p>
        </p:txBody>
      </p:sp>
      <p:sp>
        <p:nvSpPr>
          <p:cNvPr name="TextBox 20" id="20"/>
          <p:cNvSpPr txBox="true"/>
          <p:nvPr/>
        </p:nvSpPr>
        <p:spPr>
          <a:xfrm rot="0">
            <a:off x="924104" y="7971005"/>
            <a:ext cx="4496133" cy="1790178"/>
          </a:xfrm>
          <a:prstGeom prst="rect">
            <a:avLst/>
          </a:prstGeom>
        </p:spPr>
        <p:txBody>
          <a:bodyPr anchor="t" rtlCol="false" tIns="0" lIns="0" bIns="0" rIns="0">
            <a:spAutoFit/>
          </a:bodyPr>
          <a:lstStyle/>
          <a:p>
            <a:pPr algn="just" marL="0" indent="0" lvl="0">
              <a:lnSpc>
                <a:spcPts val="2388"/>
              </a:lnSpc>
              <a:spcBef>
                <a:spcPct val="0"/>
              </a:spcBef>
            </a:pPr>
            <a:r>
              <a:rPr lang="en-US" sz="1990" strike="noStrike" u="none">
                <a:solidFill>
                  <a:srgbClr val="000000"/>
                </a:solidFill>
                <a:latin typeface="Circe"/>
                <a:ea typeface="Circe"/>
                <a:cs typeface="Circe"/>
                <a:sym typeface="Circe"/>
              </a:rPr>
              <a:t>La patente describe una jeringabomba automatizada para la administración de fluidos a pacientes, que incorpora un sistema de detección de oclusiones o bloqueos en diferentes etapas del proceso de infusión. [6]</a:t>
            </a:r>
          </a:p>
        </p:txBody>
      </p:sp>
      <p:sp>
        <p:nvSpPr>
          <p:cNvPr name="TextBox 21" id="21"/>
          <p:cNvSpPr txBox="true"/>
          <p:nvPr/>
        </p:nvSpPr>
        <p:spPr>
          <a:xfrm rot="0">
            <a:off x="6402261" y="7487503"/>
            <a:ext cx="5504406" cy="2067550"/>
          </a:xfrm>
          <a:prstGeom prst="rect">
            <a:avLst/>
          </a:prstGeom>
        </p:spPr>
        <p:txBody>
          <a:bodyPr anchor="t" rtlCol="false" tIns="0" lIns="0" bIns="0" rIns="0">
            <a:spAutoFit/>
          </a:bodyPr>
          <a:lstStyle/>
          <a:p>
            <a:pPr algn="just" marL="0" indent="0" lvl="0">
              <a:lnSpc>
                <a:spcPts val="2388"/>
              </a:lnSpc>
              <a:spcBef>
                <a:spcPct val="0"/>
              </a:spcBef>
            </a:pPr>
            <a:r>
              <a:rPr lang="en-US" sz="1990" strike="noStrike" u="none">
                <a:solidFill>
                  <a:srgbClr val="000000"/>
                </a:solidFill>
                <a:latin typeface="Circe"/>
                <a:ea typeface="Circe"/>
                <a:cs typeface="Circe"/>
                <a:sym typeface="Circe"/>
              </a:rPr>
              <a:t>Un dispositivo de control remoto configurado para controlar de forma remota la bomba de infusión ambulatoria, dicho dispositivo de control remoto incluye un dispositivo de comunicaciones adaptado para recibir información de un monitor continuo de glucosa y un procesador para supervisar la información recibida. [7]</a:t>
            </a:r>
          </a:p>
        </p:txBody>
      </p:sp>
      <p:sp>
        <p:nvSpPr>
          <p:cNvPr name="TextBox 22" id="22"/>
          <p:cNvSpPr txBox="true"/>
          <p:nvPr/>
        </p:nvSpPr>
        <p:spPr>
          <a:xfrm rot="0">
            <a:off x="12616178" y="7626094"/>
            <a:ext cx="4866242" cy="1790178"/>
          </a:xfrm>
          <a:prstGeom prst="rect">
            <a:avLst/>
          </a:prstGeom>
        </p:spPr>
        <p:txBody>
          <a:bodyPr anchor="t" rtlCol="false" tIns="0" lIns="0" bIns="0" rIns="0">
            <a:spAutoFit/>
          </a:bodyPr>
          <a:lstStyle/>
          <a:p>
            <a:pPr algn="just" marL="0" indent="0" lvl="0">
              <a:lnSpc>
                <a:spcPts val="2388"/>
              </a:lnSpc>
              <a:spcBef>
                <a:spcPct val="0"/>
              </a:spcBef>
            </a:pPr>
            <a:r>
              <a:rPr lang="en-US" sz="1990" strike="noStrike" u="none">
                <a:solidFill>
                  <a:srgbClr val="000000"/>
                </a:solidFill>
                <a:latin typeface="Circe"/>
                <a:ea typeface="Circe"/>
                <a:cs typeface="Circe"/>
                <a:sym typeface="Circe"/>
              </a:rPr>
              <a:t>Es un sistema de administración intravenosa por gravedad que permite controlar y gestionar el flujo de líquido que recibe un paciente. La invención está orientada a regular la cantidad y el flujo del fluido durante la terapia intravenosa. [8] </a:t>
            </a:r>
          </a:p>
        </p:txBody>
      </p:sp>
      <p:sp>
        <p:nvSpPr>
          <p:cNvPr name="TextBox 23" id="23"/>
          <p:cNvSpPr txBox="true"/>
          <p:nvPr/>
        </p:nvSpPr>
        <p:spPr>
          <a:xfrm rot="0">
            <a:off x="552186" y="6697558"/>
            <a:ext cx="5239969" cy="1598940"/>
          </a:xfrm>
          <a:prstGeom prst="rect">
            <a:avLst/>
          </a:prstGeom>
        </p:spPr>
        <p:txBody>
          <a:bodyPr anchor="t" rtlCol="false" tIns="0" lIns="0" bIns="0" rIns="0">
            <a:spAutoFit/>
          </a:bodyPr>
          <a:lstStyle/>
          <a:p>
            <a:pPr algn="ctr">
              <a:lnSpc>
                <a:spcPts val="3190"/>
              </a:lnSpc>
            </a:pPr>
            <a:r>
              <a:rPr lang="en-US" b="true" sz="2900">
                <a:solidFill>
                  <a:srgbClr val="000000"/>
                </a:solidFill>
                <a:latin typeface="Circe Bold"/>
                <a:ea typeface="Circe Bold"/>
                <a:cs typeface="Circe Bold"/>
                <a:sym typeface="Circe Bold"/>
                <a:hlinkClick r:id="rId9" tooltip="https://patents.google.com/patent/AU2021203887B2/en?q=(infusion+pump+automated)&amp;oq=infusion+pump+automated&amp;page=4"/>
              </a:rPr>
              <a:t>SYRINGE PUMP HAVING A PRESSURE SENSOR ASSEMBLY </a:t>
            </a:r>
            <a:r>
              <a:rPr lang="en-US" sz="2900">
                <a:solidFill>
                  <a:srgbClr val="000000"/>
                </a:solidFill>
                <a:latin typeface="Circe"/>
                <a:ea typeface="Circe"/>
                <a:cs typeface="Circe"/>
                <a:sym typeface="Circe"/>
              </a:rPr>
              <a:t>- AU2021203887B2</a:t>
            </a:r>
          </a:p>
          <a:p>
            <a:pPr algn="ctr">
              <a:lnSpc>
                <a:spcPts val="319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1959" y="2765047"/>
            <a:ext cx="14884082" cy="7359057"/>
            <a:chOff x="0" y="0"/>
            <a:chExt cx="4002106" cy="1978740"/>
          </a:xfrm>
        </p:grpSpPr>
        <p:sp>
          <p:nvSpPr>
            <p:cNvPr name="Freeform 3" id="3"/>
            <p:cNvSpPr/>
            <p:nvPr/>
          </p:nvSpPr>
          <p:spPr>
            <a:xfrm flipH="false" flipV="false" rot="0">
              <a:off x="0" y="0"/>
              <a:ext cx="4002106" cy="1978740"/>
            </a:xfrm>
            <a:custGeom>
              <a:avLst/>
              <a:gdLst/>
              <a:ahLst/>
              <a:cxnLst/>
              <a:rect r="r" b="b" t="t" l="l"/>
              <a:pathLst>
                <a:path h="1978740" w="4002106">
                  <a:moveTo>
                    <a:pt x="26528" y="0"/>
                  </a:moveTo>
                  <a:lnTo>
                    <a:pt x="3975579" y="0"/>
                  </a:lnTo>
                  <a:cubicBezTo>
                    <a:pt x="3990229" y="0"/>
                    <a:pt x="4002106" y="11877"/>
                    <a:pt x="4002106" y="26528"/>
                  </a:cubicBezTo>
                  <a:lnTo>
                    <a:pt x="4002106" y="1952213"/>
                  </a:lnTo>
                  <a:cubicBezTo>
                    <a:pt x="4002106" y="1959248"/>
                    <a:pt x="3999311" y="1965996"/>
                    <a:pt x="3994336" y="1970970"/>
                  </a:cubicBezTo>
                  <a:cubicBezTo>
                    <a:pt x="3989362" y="1975945"/>
                    <a:pt x="3982614" y="1978740"/>
                    <a:pt x="3975579" y="1978740"/>
                  </a:cubicBezTo>
                  <a:lnTo>
                    <a:pt x="26528" y="1978740"/>
                  </a:lnTo>
                  <a:cubicBezTo>
                    <a:pt x="19492" y="1978740"/>
                    <a:pt x="12745" y="1975945"/>
                    <a:pt x="7770" y="1970970"/>
                  </a:cubicBezTo>
                  <a:cubicBezTo>
                    <a:pt x="2795" y="1965996"/>
                    <a:pt x="0" y="1959248"/>
                    <a:pt x="0" y="1952213"/>
                  </a:cubicBezTo>
                  <a:lnTo>
                    <a:pt x="0" y="26528"/>
                  </a:lnTo>
                  <a:cubicBezTo>
                    <a:pt x="0" y="19492"/>
                    <a:pt x="2795" y="12745"/>
                    <a:pt x="7770" y="7770"/>
                  </a:cubicBezTo>
                  <a:cubicBezTo>
                    <a:pt x="12745" y="2795"/>
                    <a:pt x="19492" y="0"/>
                    <a:pt x="26528" y="0"/>
                  </a:cubicBezTo>
                  <a:close/>
                </a:path>
              </a:pathLst>
            </a:custGeom>
            <a:solidFill>
              <a:srgbClr val="F6EEE8"/>
            </a:solidFill>
          </p:spPr>
        </p:sp>
        <p:sp>
          <p:nvSpPr>
            <p:cNvPr name="TextBox 4" id="4"/>
            <p:cNvSpPr txBox="true"/>
            <p:nvPr/>
          </p:nvSpPr>
          <p:spPr>
            <a:xfrm>
              <a:off x="0" y="-85725"/>
              <a:ext cx="4002106" cy="2064465"/>
            </a:xfrm>
            <a:prstGeom prst="rect">
              <a:avLst/>
            </a:prstGeom>
          </p:spPr>
          <p:txBody>
            <a:bodyPr anchor="ctr" rtlCol="false" tIns="50800" lIns="50800" bIns="50800" rIns="50800"/>
            <a:lstStyle/>
            <a:p>
              <a:pPr algn="ctr">
                <a:lnSpc>
                  <a:spcPts val="3126"/>
                </a:lnSpc>
              </a:pPr>
            </a:p>
          </p:txBody>
        </p:sp>
      </p:grpSp>
      <p:sp>
        <p:nvSpPr>
          <p:cNvPr name="AutoShape 5" id="5"/>
          <p:cNvSpPr/>
          <p:nvPr/>
        </p:nvSpPr>
        <p:spPr>
          <a:xfrm flipV="true">
            <a:off x="6909360" y="4788220"/>
            <a:ext cx="0" cy="5211215"/>
          </a:xfrm>
          <a:prstGeom prst="line">
            <a:avLst/>
          </a:prstGeom>
          <a:ln cap="flat" w="38100">
            <a:solidFill>
              <a:srgbClr val="994A66"/>
            </a:solidFill>
            <a:prstDash val="sysDash"/>
            <a:headEnd type="none" len="sm" w="sm"/>
            <a:tailEnd type="none" len="sm" w="sm"/>
          </a:ln>
        </p:spPr>
      </p:sp>
      <p:sp>
        <p:nvSpPr>
          <p:cNvPr name="AutoShape 6" id="6"/>
          <p:cNvSpPr/>
          <p:nvPr/>
        </p:nvSpPr>
        <p:spPr>
          <a:xfrm flipV="true">
            <a:off x="12442783" y="4580133"/>
            <a:ext cx="0" cy="5211215"/>
          </a:xfrm>
          <a:prstGeom prst="line">
            <a:avLst/>
          </a:prstGeom>
          <a:ln cap="flat" w="38100">
            <a:solidFill>
              <a:srgbClr val="994A66"/>
            </a:solidFill>
            <a:prstDash val="sysDash"/>
            <a:headEnd type="none" len="sm" w="sm"/>
            <a:tailEnd type="none" len="sm" w="sm"/>
          </a:ln>
        </p:spPr>
      </p:sp>
      <p:sp>
        <p:nvSpPr>
          <p:cNvPr name="Freeform 7" id="7"/>
          <p:cNvSpPr/>
          <p:nvPr/>
        </p:nvSpPr>
        <p:spPr>
          <a:xfrm flipH="false" flipV="false" rot="0">
            <a:off x="7633261" y="3393694"/>
            <a:ext cx="3939996" cy="1444267"/>
          </a:xfrm>
          <a:custGeom>
            <a:avLst/>
            <a:gdLst/>
            <a:ahLst/>
            <a:cxnLst/>
            <a:rect r="r" b="b" t="t" l="l"/>
            <a:pathLst>
              <a:path h="1444267" w="3939996">
                <a:moveTo>
                  <a:pt x="0" y="0"/>
                </a:moveTo>
                <a:lnTo>
                  <a:pt x="3939996" y="0"/>
                </a:lnTo>
                <a:lnTo>
                  <a:pt x="3939996" y="1444267"/>
                </a:lnTo>
                <a:lnTo>
                  <a:pt x="0" y="1444267"/>
                </a:lnTo>
                <a:lnTo>
                  <a:pt x="0" y="0"/>
                </a:lnTo>
                <a:close/>
              </a:path>
            </a:pathLst>
          </a:custGeom>
          <a:blipFill>
            <a:blip r:embed="rId2"/>
            <a:stretch>
              <a:fillRect l="0" t="-21984" r="-2223" b="-18530"/>
            </a:stretch>
          </a:blipFill>
        </p:spPr>
      </p:sp>
      <p:sp>
        <p:nvSpPr>
          <p:cNvPr name="Freeform 8" id="8"/>
          <p:cNvSpPr/>
          <p:nvPr/>
        </p:nvSpPr>
        <p:spPr>
          <a:xfrm flipH="false" flipV="false" rot="0">
            <a:off x="12691861" y="3343952"/>
            <a:ext cx="3823440" cy="1444267"/>
          </a:xfrm>
          <a:custGeom>
            <a:avLst/>
            <a:gdLst/>
            <a:ahLst/>
            <a:cxnLst/>
            <a:rect r="r" b="b" t="t" l="l"/>
            <a:pathLst>
              <a:path h="1444267" w="3823440">
                <a:moveTo>
                  <a:pt x="0" y="0"/>
                </a:moveTo>
                <a:lnTo>
                  <a:pt x="3823440" y="0"/>
                </a:lnTo>
                <a:lnTo>
                  <a:pt x="3823440" y="1444268"/>
                </a:lnTo>
                <a:lnTo>
                  <a:pt x="0" y="1444268"/>
                </a:lnTo>
                <a:lnTo>
                  <a:pt x="0" y="0"/>
                </a:lnTo>
                <a:close/>
              </a:path>
            </a:pathLst>
          </a:custGeom>
          <a:blipFill>
            <a:blip r:embed="rId3"/>
            <a:stretch>
              <a:fillRect l="0" t="0" r="-8275" b="-8524"/>
            </a:stretch>
          </a:blipFill>
        </p:spPr>
      </p:sp>
      <p:sp>
        <p:nvSpPr>
          <p:cNvPr name="Freeform 9" id="9"/>
          <p:cNvSpPr/>
          <p:nvPr/>
        </p:nvSpPr>
        <p:spPr>
          <a:xfrm flipH="false" flipV="false" rot="0">
            <a:off x="2185640" y="3651522"/>
            <a:ext cx="4597145" cy="928610"/>
          </a:xfrm>
          <a:custGeom>
            <a:avLst/>
            <a:gdLst/>
            <a:ahLst/>
            <a:cxnLst/>
            <a:rect r="r" b="b" t="t" l="l"/>
            <a:pathLst>
              <a:path h="928610" w="4597145">
                <a:moveTo>
                  <a:pt x="0" y="0"/>
                </a:moveTo>
                <a:lnTo>
                  <a:pt x="4597145" y="0"/>
                </a:lnTo>
                <a:lnTo>
                  <a:pt x="4597145" y="928611"/>
                </a:lnTo>
                <a:lnTo>
                  <a:pt x="0" y="928611"/>
                </a:lnTo>
                <a:lnTo>
                  <a:pt x="0" y="0"/>
                </a:lnTo>
                <a:close/>
              </a:path>
            </a:pathLst>
          </a:custGeom>
          <a:blipFill>
            <a:blip r:embed="rId4"/>
            <a:stretch>
              <a:fillRect l="0" t="0" r="-5038" b="0"/>
            </a:stretch>
          </a:blipFill>
        </p:spPr>
      </p:sp>
      <p:sp>
        <p:nvSpPr>
          <p:cNvPr name="TextBox 10" id="10"/>
          <p:cNvSpPr txBox="true"/>
          <p:nvPr/>
        </p:nvSpPr>
        <p:spPr>
          <a:xfrm rot="0">
            <a:off x="2100483" y="5328256"/>
            <a:ext cx="4284270" cy="798840"/>
          </a:xfrm>
          <a:prstGeom prst="rect">
            <a:avLst/>
          </a:prstGeom>
        </p:spPr>
        <p:txBody>
          <a:bodyPr anchor="t" rtlCol="false" tIns="0" lIns="0" bIns="0" rIns="0">
            <a:spAutoFit/>
          </a:bodyPr>
          <a:lstStyle/>
          <a:p>
            <a:pPr algn="ctr">
              <a:lnSpc>
                <a:spcPts val="3190"/>
              </a:lnSpc>
            </a:pPr>
            <a:r>
              <a:rPr lang="en-US" b="true" sz="2900">
                <a:solidFill>
                  <a:srgbClr val="000000"/>
                </a:solidFill>
                <a:latin typeface="Circe Bold"/>
                <a:ea typeface="Circe Bold"/>
                <a:cs typeface="Circe Bold"/>
                <a:sym typeface="Circe Bold"/>
              </a:rPr>
              <a:t>BD – ALARIS™ INFUSION SYSTEM </a:t>
            </a:r>
          </a:p>
        </p:txBody>
      </p:sp>
      <p:sp>
        <p:nvSpPr>
          <p:cNvPr name="TextBox 11" id="11"/>
          <p:cNvSpPr txBox="true"/>
          <p:nvPr/>
        </p:nvSpPr>
        <p:spPr>
          <a:xfrm rot="0">
            <a:off x="2017088" y="940767"/>
            <a:ext cx="14253823" cy="1485966"/>
          </a:xfrm>
          <a:prstGeom prst="rect">
            <a:avLst/>
          </a:prstGeom>
        </p:spPr>
        <p:txBody>
          <a:bodyPr anchor="t" rtlCol="false" tIns="0" lIns="0" bIns="0" rIns="0">
            <a:spAutoFit/>
          </a:bodyPr>
          <a:lstStyle/>
          <a:p>
            <a:pPr algn="ctr" marL="0" indent="0" lvl="0">
              <a:lnSpc>
                <a:spcPts val="11753"/>
              </a:lnSpc>
              <a:spcBef>
                <a:spcPct val="0"/>
              </a:spcBef>
            </a:pPr>
            <a:r>
              <a:rPr lang="en-US" sz="9794">
                <a:solidFill>
                  <a:srgbClr val="412D44"/>
                </a:solidFill>
                <a:latin typeface="Circe Contrast"/>
                <a:ea typeface="Circe Contrast"/>
                <a:cs typeface="Circe Contrast"/>
                <a:sym typeface="Circe Contrast"/>
              </a:rPr>
              <a:t>Revistas de catálogos </a:t>
            </a:r>
          </a:p>
        </p:txBody>
      </p:sp>
      <p:sp>
        <p:nvSpPr>
          <p:cNvPr name="TextBox 12" id="12"/>
          <p:cNvSpPr txBox="true"/>
          <p:nvPr/>
        </p:nvSpPr>
        <p:spPr>
          <a:xfrm rot="0">
            <a:off x="2441137" y="6493699"/>
            <a:ext cx="3849098" cy="2943225"/>
          </a:xfrm>
          <a:prstGeom prst="rect">
            <a:avLst/>
          </a:prstGeom>
        </p:spPr>
        <p:txBody>
          <a:bodyPr anchor="t" rtlCol="false" tIns="0" lIns="0" bIns="0" rIns="0">
            <a:spAutoFit/>
          </a:bodyPr>
          <a:lstStyle/>
          <a:p>
            <a:pPr algn="just">
              <a:lnSpc>
                <a:spcPts val="2388"/>
              </a:lnSpc>
            </a:pPr>
            <a:r>
              <a:rPr lang="en-US" sz="1990">
                <a:solidFill>
                  <a:srgbClr val="000000"/>
                </a:solidFill>
                <a:latin typeface="Circe"/>
                <a:ea typeface="Circe"/>
                <a:cs typeface="Circe"/>
                <a:sym typeface="Circe"/>
              </a:rPr>
              <a:t>Publicación especializada sobre un sistema modular de infusión que integra bombas de gran volumen, bombas de jeringa y PCA, conectividad y herramientas de análisis. La solución busca centralizar la administración de infusiones y reducir errores mediante tecnologías de monitoreo y gestión de datos. [9]</a:t>
            </a:r>
          </a:p>
        </p:txBody>
      </p:sp>
      <p:sp>
        <p:nvSpPr>
          <p:cNvPr name="TextBox 13" id="13"/>
          <p:cNvSpPr txBox="true"/>
          <p:nvPr/>
        </p:nvSpPr>
        <p:spPr>
          <a:xfrm rot="0">
            <a:off x="7252935" y="5357622"/>
            <a:ext cx="4721149" cy="798830"/>
          </a:xfrm>
          <a:prstGeom prst="rect">
            <a:avLst/>
          </a:prstGeom>
        </p:spPr>
        <p:txBody>
          <a:bodyPr anchor="t" rtlCol="false" tIns="0" lIns="0" bIns="0" rIns="0">
            <a:spAutoFit/>
          </a:bodyPr>
          <a:lstStyle/>
          <a:p>
            <a:pPr algn="ctr">
              <a:lnSpc>
                <a:spcPts val="3189"/>
              </a:lnSpc>
              <a:spcBef>
                <a:spcPct val="0"/>
              </a:spcBef>
            </a:pPr>
            <a:r>
              <a:rPr lang="en-US" b="true" sz="2899">
                <a:solidFill>
                  <a:srgbClr val="000000"/>
                </a:solidFill>
                <a:latin typeface="Circe Bold"/>
                <a:ea typeface="Circe Bold"/>
                <a:cs typeface="Circe Bold"/>
                <a:sym typeface="Circe Bold"/>
                <a:hlinkClick r:id="rId5" tooltip="https://catalogs.bbraun-vetcare.com/en-V01/c/VETCARE0000000002/infusion-therapy"/>
              </a:rPr>
              <a:t>CATÁLOGO DE TERAPIA DE INFUSIÓN DE B. BRAUN</a:t>
            </a:r>
          </a:p>
        </p:txBody>
      </p:sp>
      <p:sp>
        <p:nvSpPr>
          <p:cNvPr name="TextBox 14" id="14"/>
          <p:cNvSpPr txBox="true"/>
          <p:nvPr/>
        </p:nvSpPr>
        <p:spPr>
          <a:xfrm rot="0">
            <a:off x="7473812" y="6641370"/>
            <a:ext cx="4350521" cy="2943225"/>
          </a:xfrm>
          <a:prstGeom prst="rect">
            <a:avLst/>
          </a:prstGeom>
        </p:spPr>
        <p:txBody>
          <a:bodyPr anchor="t" rtlCol="false" tIns="0" lIns="0" bIns="0" rIns="0">
            <a:spAutoFit/>
          </a:bodyPr>
          <a:lstStyle/>
          <a:p>
            <a:pPr algn="just" marL="0" indent="0" lvl="0">
              <a:lnSpc>
                <a:spcPts val="2388"/>
              </a:lnSpc>
              <a:spcBef>
                <a:spcPct val="0"/>
              </a:spcBef>
            </a:pPr>
            <a:r>
              <a:rPr lang="en-US" sz="1990" u="sng">
                <a:solidFill>
                  <a:srgbClr val="000000"/>
                </a:solidFill>
                <a:latin typeface="Circe"/>
                <a:ea typeface="Circe"/>
                <a:cs typeface="Circe"/>
                <a:sym typeface="Circe"/>
                <a:hlinkClick r:id="rId6" tooltip="https://catalogs.bbraun-vetcare.com/en-V01/c/VETCARE0000000002/infusion-therapy?utm_source"/>
              </a:rPr>
              <a:t>Catál</a:t>
            </a:r>
            <a:r>
              <a:rPr lang="en-US" sz="1990" strike="noStrike" u="sng">
                <a:solidFill>
                  <a:srgbClr val="000000"/>
                </a:solidFill>
                <a:latin typeface="Circe"/>
                <a:ea typeface="Circe"/>
                <a:cs typeface="Circe"/>
                <a:sym typeface="Circe"/>
                <a:hlinkClick r:id="rId7" tooltip="https://catalogs.bbraun-vetcare.com/en-V01/c/VETCARE0000000002/infusion-therapy?utm_source"/>
              </a:rPr>
              <a:t>o</a:t>
            </a:r>
            <a:r>
              <a:rPr lang="en-US" sz="1990" strike="noStrike" u="sng">
                <a:solidFill>
                  <a:srgbClr val="000000"/>
                </a:solidFill>
                <a:latin typeface="Circe"/>
                <a:ea typeface="Circe"/>
                <a:cs typeface="Circe"/>
                <a:sym typeface="Circe"/>
                <a:hlinkClick r:id="rId8" tooltip="https://catalogs.bbraun-vetcare.com/en-V01/c/VETCARE0000000002/infusion-therapy?utm_source"/>
              </a:rPr>
              <a:t>go </a:t>
            </a:r>
            <a:r>
              <a:rPr lang="en-US" sz="1990" strike="noStrike" u="none">
                <a:solidFill>
                  <a:srgbClr val="000000"/>
                </a:solidFill>
                <a:latin typeface="Circe"/>
                <a:ea typeface="Circe"/>
                <a:cs typeface="Circe"/>
                <a:sym typeface="Circe"/>
              </a:rPr>
              <a:t>especializado que presenta diferentes soluciones para terapi</a:t>
            </a:r>
            <a:r>
              <a:rPr lang="en-US" sz="1990" strike="noStrike" u="none">
                <a:solidFill>
                  <a:srgbClr val="000000"/>
                </a:solidFill>
                <a:latin typeface="Circe"/>
                <a:ea typeface="Circe"/>
                <a:cs typeface="Circe"/>
                <a:sym typeface="Circe"/>
              </a:rPr>
              <a:t>a de infusión</a:t>
            </a:r>
            <a:r>
              <a:rPr lang="en-US" sz="1990" strike="noStrike" u="none">
                <a:solidFill>
                  <a:srgbClr val="000000"/>
                </a:solidFill>
                <a:latin typeface="Circe"/>
                <a:ea typeface="Circe"/>
                <a:cs typeface="Circe"/>
                <a:sym typeface="Circe"/>
              </a:rPr>
              <a:t>,</a:t>
            </a:r>
            <a:r>
              <a:rPr lang="en-US" sz="1990" strike="noStrike" u="none">
                <a:solidFill>
                  <a:srgbClr val="000000"/>
                </a:solidFill>
                <a:latin typeface="Circe"/>
                <a:ea typeface="Circe"/>
                <a:cs typeface="Circe"/>
                <a:sym typeface="Circe"/>
              </a:rPr>
              <a:t> </a:t>
            </a:r>
            <a:r>
              <a:rPr lang="en-US" sz="1990" strike="noStrike" u="none">
                <a:solidFill>
                  <a:srgbClr val="000000"/>
                </a:solidFill>
                <a:latin typeface="Circe"/>
                <a:ea typeface="Circe"/>
                <a:cs typeface="Circe"/>
                <a:sym typeface="Circe"/>
              </a:rPr>
              <a:t>inc</a:t>
            </a:r>
            <a:r>
              <a:rPr lang="en-US" sz="1990" strike="noStrike" u="none">
                <a:solidFill>
                  <a:srgbClr val="000000"/>
                </a:solidFill>
                <a:latin typeface="Circe"/>
                <a:ea typeface="Circe"/>
                <a:cs typeface="Circe"/>
                <a:sym typeface="Circe"/>
              </a:rPr>
              <a:t>lu</a:t>
            </a:r>
            <a:r>
              <a:rPr lang="en-US" sz="1990" strike="noStrike" u="none">
                <a:solidFill>
                  <a:srgbClr val="000000"/>
                </a:solidFill>
                <a:latin typeface="Circe"/>
                <a:ea typeface="Circe"/>
                <a:cs typeface="Circe"/>
                <a:sym typeface="Circe"/>
              </a:rPr>
              <a:t>yendo bo</a:t>
            </a:r>
            <a:r>
              <a:rPr lang="en-US" sz="1990" strike="noStrike" u="none">
                <a:solidFill>
                  <a:srgbClr val="000000"/>
                </a:solidFill>
                <a:latin typeface="Circe"/>
                <a:ea typeface="Circe"/>
                <a:cs typeface="Circe"/>
                <a:sym typeface="Circe"/>
              </a:rPr>
              <a:t>m</a:t>
            </a:r>
            <a:r>
              <a:rPr lang="en-US" sz="1990" strike="noStrike" u="none">
                <a:solidFill>
                  <a:srgbClr val="000000"/>
                </a:solidFill>
                <a:latin typeface="Circe"/>
                <a:ea typeface="Circe"/>
                <a:cs typeface="Circe"/>
                <a:sym typeface="Circe"/>
              </a:rPr>
              <a:t>b</a:t>
            </a:r>
            <a:r>
              <a:rPr lang="en-US" sz="1990" strike="noStrike" u="none">
                <a:solidFill>
                  <a:srgbClr val="000000"/>
                </a:solidFill>
                <a:latin typeface="Circe"/>
                <a:ea typeface="Circe"/>
                <a:cs typeface="Circe"/>
                <a:sym typeface="Circe"/>
              </a:rPr>
              <a:t>a</a:t>
            </a:r>
            <a:r>
              <a:rPr lang="en-US" sz="1990" strike="noStrike" u="none">
                <a:solidFill>
                  <a:srgbClr val="000000"/>
                </a:solidFill>
                <a:latin typeface="Circe"/>
                <a:ea typeface="Circe"/>
                <a:cs typeface="Circe"/>
                <a:sym typeface="Circe"/>
              </a:rPr>
              <a:t>s</a:t>
            </a:r>
            <a:r>
              <a:rPr lang="en-US" sz="1990" strike="noStrike" u="none">
                <a:solidFill>
                  <a:srgbClr val="000000"/>
                </a:solidFill>
                <a:latin typeface="Circe"/>
                <a:ea typeface="Circe"/>
                <a:cs typeface="Circe"/>
                <a:sym typeface="Circe"/>
              </a:rPr>
              <a:t> d</a:t>
            </a:r>
            <a:r>
              <a:rPr lang="en-US" sz="1990" strike="noStrike" u="none">
                <a:solidFill>
                  <a:srgbClr val="000000"/>
                </a:solidFill>
                <a:latin typeface="Circe"/>
                <a:ea typeface="Circe"/>
                <a:cs typeface="Circe"/>
                <a:sym typeface="Circe"/>
              </a:rPr>
              <a:t>e </a:t>
            </a:r>
            <a:r>
              <a:rPr lang="en-US" sz="1990" strike="noStrike" u="none">
                <a:solidFill>
                  <a:srgbClr val="000000"/>
                </a:solidFill>
                <a:latin typeface="Circe"/>
                <a:ea typeface="Circe"/>
                <a:cs typeface="Circe"/>
                <a:sym typeface="Circe"/>
              </a:rPr>
              <a:t>i</a:t>
            </a:r>
            <a:r>
              <a:rPr lang="en-US" sz="1990" strike="noStrike" u="none">
                <a:solidFill>
                  <a:srgbClr val="000000"/>
                </a:solidFill>
                <a:latin typeface="Circe"/>
                <a:ea typeface="Circe"/>
                <a:cs typeface="Circe"/>
                <a:sym typeface="Circe"/>
              </a:rPr>
              <a:t>nfu</a:t>
            </a:r>
            <a:r>
              <a:rPr lang="en-US" sz="1990" strike="noStrike" u="none">
                <a:solidFill>
                  <a:srgbClr val="000000"/>
                </a:solidFill>
                <a:latin typeface="Circe"/>
                <a:ea typeface="Circe"/>
                <a:cs typeface="Circe"/>
                <a:sym typeface="Circe"/>
              </a:rPr>
              <a:t>s</a:t>
            </a:r>
            <a:r>
              <a:rPr lang="en-US" sz="1990" strike="noStrike" u="none">
                <a:solidFill>
                  <a:srgbClr val="000000"/>
                </a:solidFill>
                <a:latin typeface="Circe"/>
                <a:ea typeface="Circe"/>
                <a:cs typeface="Circe"/>
                <a:sym typeface="Circe"/>
              </a:rPr>
              <a:t>ión, lín</a:t>
            </a:r>
            <a:r>
              <a:rPr lang="en-US" sz="1990" strike="noStrike" u="none">
                <a:solidFill>
                  <a:srgbClr val="000000"/>
                </a:solidFill>
                <a:latin typeface="Circe"/>
                <a:ea typeface="Circe"/>
                <a:cs typeface="Circe"/>
                <a:sym typeface="Circe"/>
              </a:rPr>
              <a:t>e</a:t>
            </a:r>
            <a:r>
              <a:rPr lang="en-US" sz="1990" strike="noStrike" u="none">
                <a:solidFill>
                  <a:srgbClr val="000000"/>
                </a:solidFill>
                <a:latin typeface="Circe"/>
                <a:ea typeface="Circe"/>
                <a:cs typeface="Circe"/>
                <a:sym typeface="Circe"/>
              </a:rPr>
              <a:t>as intr</a:t>
            </a:r>
            <a:r>
              <a:rPr lang="en-US" sz="1990" strike="noStrike" u="none">
                <a:solidFill>
                  <a:srgbClr val="000000"/>
                </a:solidFill>
                <a:latin typeface="Circe"/>
                <a:ea typeface="Circe"/>
                <a:cs typeface="Circe"/>
                <a:sym typeface="Circe"/>
              </a:rPr>
              <a:t>a</a:t>
            </a:r>
            <a:r>
              <a:rPr lang="en-US" sz="1990" strike="noStrike" u="none">
                <a:solidFill>
                  <a:srgbClr val="000000"/>
                </a:solidFill>
                <a:latin typeface="Circe"/>
                <a:ea typeface="Circe"/>
                <a:cs typeface="Circe"/>
                <a:sym typeface="Circe"/>
              </a:rPr>
              <a:t>venos</a:t>
            </a:r>
            <a:r>
              <a:rPr lang="en-US" sz="1990" strike="noStrike" u="none">
                <a:solidFill>
                  <a:srgbClr val="000000"/>
                </a:solidFill>
                <a:latin typeface="Circe"/>
                <a:ea typeface="Circe"/>
                <a:cs typeface="Circe"/>
                <a:sym typeface="Circe"/>
              </a:rPr>
              <a:t>a</a:t>
            </a:r>
            <a:r>
              <a:rPr lang="en-US" sz="1990" strike="noStrike" u="none">
                <a:solidFill>
                  <a:srgbClr val="000000"/>
                </a:solidFill>
                <a:latin typeface="Circe"/>
                <a:ea typeface="Circe"/>
                <a:cs typeface="Circe"/>
                <a:sym typeface="Circe"/>
              </a:rPr>
              <a:t>s,</a:t>
            </a:r>
            <a:r>
              <a:rPr lang="en-US" sz="1990" strike="noStrike" u="none">
                <a:solidFill>
                  <a:srgbClr val="000000"/>
                </a:solidFill>
                <a:latin typeface="Circe"/>
                <a:ea typeface="Circe"/>
                <a:cs typeface="Circe"/>
                <a:sym typeface="Circe"/>
              </a:rPr>
              <a:t> a</a:t>
            </a:r>
            <a:r>
              <a:rPr lang="en-US" sz="1990" strike="noStrike" u="none">
                <a:solidFill>
                  <a:srgbClr val="000000"/>
                </a:solidFill>
                <a:latin typeface="Circe"/>
                <a:ea typeface="Circe"/>
                <a:cs typeface="Circe"/>
                <a:sym typeface="Circe"/>
              </a:rPr>
              <a:t>cceso</a:t>
            </a:r>
            <a:r>
              <a:rPr lang="en-US" sz="1990" strike="noStrike" u="none">
                <a:solidFill>
                  <a:srgbClr val="000000"/>
                </a:solidFill>
                <a:latin typeface="Circe"/>
                <a:ea typeface="Circe"/>
                <a:cs typeface="Circe"/>
                <a:sym typeface="Circe"/>
              </a:rPr>
              <a:t>r</a:t>
            </a:r>
            <a:r>
              <a:rPr lang="en-US" sz="1990" strike="noStrike" u="none">
                <a:solidFill>
                  <a:srgbClr val="000000"/>
                </a:solidFill>
                <a:latin typeface="Circe"/>
                <a:ea typeface="Circe"/>
                <a:cs typeface="Circe"/>
                <a:sym typeface="Circe"/>
              </a:rPr>
              <a:t>ios y dispositivos de</a:t>
            </a:r>
            <a:r>
              <a:rPr lang="en-US" sz="1990" strike="noStrike" u="none">
                <a:solidFill>
                  <a:srgbClr val="000000"/>
                </a:solidFill>
                <a:latin typeface="Circe"/>
                <a:ea typeface="Circe"/>
                <a:cs typeface="Circe"/>
                <a:sym typeface="Circe"/>
              </a:rPr>
              <a:t> administra</a:t>
            </a:r>
            <a:r>
              <a:rPr lang="en-US" sz="1990" strike="noStrike" u="none">
                <a:solidFill>
                  <a:srgbClr val="000000"/>
                </a:solidFill>
                <a:latin typeface="Circe"/>
                <a:ea typeface="Circe"/>
                <a:cs typeface="Circe"/>
                <a:sym typeface="Circe"/>
              </a:rPr>
              <a:t>ción. Destaca</a:t>
            </a:r>
            <a:r>
              <a:rPr lang="en-US" sz="1990" strike="noStrike" u="none">
                <a:solidFill>
                  <a:srgbClr val="000000"/>
                </a:solidFill>
                <a:latin typeface="Circe"/>
                <a:ea typeface="Circe"/>
                <a:cs typeface="Circe"/>
                <a:sym typeface="Circe"/>
              </a:rPr>
              <a:t> l</a:t>
            </a:r>
            <a:r>
              <a:rPr lang="en-US" sz="1990" strike="noStrike" u="none">
                <a:solidFill>
                  <a:srgbClr val="000000"/>
                </a:solidFill>
                <a:latin typeface="Circe"/>
                <a:ea typeface="Circe"/>
                <a:cs typeface="Circe"/>
                <a:sym typeface="Circe"/>
              </a:rPr>
              <a:t>a disponibilidad de sistemas a</a:t>
            </a:r>
            <a:r>
              <a:rPr lang="en-US" sz="1990" strike="noStrike" u="none">
                <a:solidFill>
                  <a:srgbClr val="000000"/>
                </a:solidFill>
                <a:latin typeface="Circe"/>
                <a:ea typeface="Circe"/>
                <a:cs typeface="Circe"/>
                <a:sym typeface="Circe"/>
              </a:rPr>
              <a:t>u</a:t>
            </a:r>
            <a:r>
              <a:rPr lang="en-US" sz="1990" strike="noStrike" u="none">
                <a:solidFill>
                  <a:srgbClr val="000000"/>
                </a:solidFill>
                <a:latin typeface="Circe"/>
                <a:ea typeface="Circe"/>
                <a:cs typeface="Circe"/>
                <a:sym typeface="Circe"/>
              </a:rPr>
              <a:t>tomat</a:t>
            </a:r>
            <a:r>
              <a:rPr lang="en-US" sz="1990" strike="noStrike" u="none">
                <a:solidFill>
                  <a:srgbClr val="000000"/>
                </a:solidFill>
                <a:latin typeface="Circe"/>
                <a:ea typeface="Circe"/>
                <a:cs typeface="Circe"/>
                <a:sym typeface="Circe"/>
              </a:rPr>
              <a:t>i</a:t>
            </a:r>
            <a:r>
              <a:rPr lang="en-US" sz="1990" strike="noStrike" u="none">
                <a:solidFill>
                  <a:srgbClr val="000000"/>
                </a:solidFill>
                <a:latin typeface="Circe"/>
                <a:ea typeface="Circe"/>
                <a:cs typeface="Circe"/>
                <a:sym typeface="Circe"/>
              </a:rPr>
              <a:t>za</a:t>
            </a:r>
            <a:r>
              <a:rPr lang="en-US" sz="1990" strike="noStrike" u="none">
                <a:solidFill>
                  <a:srgbClr val="000000"/>
                </a:solidFill>
                <a:latin typeface="Circe"/>
                <a:ea typeface="Circe"/>
                <a:cs typeface="Circe"/>
                <a:sym typeface="Circe"/>
              </a:rPr>
              <a:t>dos </a:t>
            </a:r>
            <a:r>
              <a:rPr lang="en-US" sz="1990" strike="noStrike" u="none">
                <a:solidFill>
                  <a:srgbClr val="000000"/>
                </a:solidFill>
                <a:latin typeface="Circe"/>
                <a:ea typeface="Circe"/>
                <a:cs typeface="Circe"/>
                <a:sym typeface="Circe"/>
              </a:rPr>
              <a:t>como</a:t>
            </a:r>
            <a:r>
              <a:rPr lang="en-US" sz="1990" strike="noStrike" u="none">
                <a:solidFill>
                  <a:srgbClr val="000000"/>
                </a:solidFill>
                <a:latin typeface="Circe"/>
                <a:ea typeface="Circe"/>
                <a:cs typeface="Circe"/>
                <a:sym typeface="Circe"/>
              </a:rPr>
              <a:t> </a:t>
            </a:r>
            <a:r>
              <a:rPr lang="en-US" sz="1990" strike="noStrike" u="none">
                <a:solidFill>
                  <a:srgbClr val="000000"/>
                </a:solidFill>
                <a:latin typeface="Circe"/>
                <a:ea typeface="Circe"/>
                <a:cs typeface="Circe"/>
                <a:sym typeface="Circe"/>
              </a:rPr>
              <a:t>Infuso</a:t>
            </a:r>
            <a:r>
              <a:rPr lang="en-US" sz="1990" strike="noStrike" u="none">
                <a:solidFill>
                  <a:srgbClr val="000000"/>
                </a:solidFill>
                <a:latin typeface="Circe"/>
                <a:ea typeface="Circe"/>
                <a:cs typeface="Circe"/>
                <a:sym typeface="Circe"/>
              </a:rPr>
              <a:t>m</a:t>
            </a:r>
            <a:r>
              <a:rPr lang="en-US" sz="1990" strike="noStrike" u="none">
                <a:solidFill>
                  <a:srgbClr val="000000"/>
                </a:solidFill>
                <a:latin typeface="Circe"/>
                <a:ea typeface="Circe"/>
                <a:cs typeface="Circe"/>
                <a:sym typeface="Circe"/>
              </a:rPr>
              <a:t>at®, ori</a:t>
            </a:r>
            <a:r>
              <a:rPr lang="en-US" sz="1990" strike="noStrike" u="none">
                <a:solidFill>
                  <a:srgbClr val="000000"/>
                </a:solidFill>
                <a:latin typeface="Circe"/>
                <a:ea typeface="Circe"/>
                <a:cs typeface="Circe"/>
                <a:sym typeface="Circe"/>
              </a:rPr>
              <a:t>e</a:t>
            </a:r>
            <a:r>
              <a:rPr lang="en-US" sz="1990" strike="noStrike" u="none">
                <a:solidFill>
                  <a:srgbClr val="000000"/>
                </a:solidFill>
                <a:latin typeface="Circe"/>
                <a:ea typeface="Circe"/>
                <a:cs typeface="Circe"/>
                <a:sym typeface="Circe"/>
              </a:rPr>
              <a:t>nta</a:t>
            </a:r>
            <a:r>
              <a:rPr lang="en-US" sz="1990" strike="noStrike" u="none">
                <a:solidFill>
                  <a:srgbClr val="000000"/>
                </a:solidFill>
                <a:latin typeface="Circe"/>
                <a:ea typeface="Circe"/>
                <a:cs typeface="Circe"/>
                <a:sym typeface="Circe"/>
              </a:rPr>
              <a:t>d</a:t>
            </a:r>
            <a:r>
              <a:rPr lang="en-US" sz="1990" strike="noStrike" u="none">
                <a:solidFill>
                  <a:srgbClr val="000000"/>
                </a:solidFill>
                <a:latin typeface="Circe"/>
                <a:ea typeface="Circe"/>
                <a:cs typeface="Circe"/>
                <a:sym typeface="Circe"/>
              </a:rPr>
              <a:t>os </a:t>
            </a:r>
            <a:r>
              <a:rPr lang="en-US" sz="1990" strike="noStrike" u="none">
                <a:solidFill>
                  <a:srgbClr val="000000"/>
                </a:solidFill>
                <a:latin typeface="Circe"/>
                <a:ea typeface="Circe"/>
                <a:cs typeface="Circe"/>
                <a:sym typeface="Circe"/>
              </a:rPr>
              <a:t>a</a:t>
            </a:r>
            <a:r>
              <a:rPr lang="en-US" sz="1990" strike="noStrike" u="none">
                <a:solidFill>
                  <a:srgbClr val="000000"/>
                </a:solidFill>
                <a:latin typeface="Circe"/>
                <a:ea typeface="Circe"/>
                <a:cs typeface="Circe"/>
                <a:sym typeface="Circe"/>
              </a:rPr>
              <a:t> </a:t>
            </a:r>
            <a:r>
              <a:rPr lang="en-US" sz="1990" strike="noStrike" u="none">
                <a:solidFill>
                  <a:srgbClr val="000000"/>
                </a:solidFill>
                <a:latin typeface="Circe"/>
                <a:ea typeface="Circe"/>
                <a:cs typeface="Circe"/>
                <a:sym typeface="Circe"/>
              </a:rPr>
              <a:t>me</a:t>
            </a:r>
            <a:r>
              <a:rPr lang="en-US" sz="1990" strike="noStrike" u="none">
                <a:solidFill>
                  <a:srgbClr val="000000"/>
                </a:solidFill>
                <a:latin typeface="Circe"/>
                <a:ea typeface="Circe"/>
                <a:cs typeface="Circe"/>
                <a:sym typeface="Circe"/>
              </a:rPr>
              <a:t>jorar la precisió</a:t>
            </a:r>
            <a:r>
              <a:rPr lang="en-US" sz="1990" strike="noStrike" u="none">
                <a:solidFill>
                  <a:srgbClr val="000000"/>
                </a:solidFill>
                <a:latin typeface="Circe"/>
                <a:ea typeface="Circe"/>
                <a:cs typeface="Circe"/>
                <a:sym typeface="Circe"/>
              </a:rPr>
              <a:t>n</a:t>
            </a:r>
            <a:r>
              <a:rPr lang="en-US" sz="1990" strike="noStrike" u="none">
                <a:solidFill>
                  <a:srgbClr val="000000"/>
                </a:solidFill>
                <a:latin typeface="Circe"/>
                <a:ea typeface="Circe"/>
                <a:cs typeface="Circe"/>
                <a:sym typeface="Circe"/>
              </a:rPr>
              <a:t> y </a:t>
            </a:r>
            <a:r>
              <a:rPr lang="en-US" sz="1990" strike="noStrike" u="none">
                <a:solidFill>
                  <a:srgbClr val="000000"/>
                </a:solidFill>
                <a:latin typeface="Circe"/>
                <a:ea typeface="Circe"/>
                <a:cs typeface="Circe"/>
                <a:sym typeface="Circe"/>
              </a:rPr>
              <a:t>s</a:t>
            </a:r>
            <a:r>
              <a:rPr lang="en-US" sz="1990" strike="noStrike" u="none">
                <a:solidFill>
                  <a:srgbClr val="000000"/>
                </a:solidFill>
                <a:latin typeface="Circe"/>
                <a:ea typeface="Circe"/>
                <a:cs typeface="Circe"/>
                <a:sym typeface="Circe"/>
              </a:rPr>
              <a:t>eguridad</a:t>
            </a:r>
            <a:r>
              <a:rPr lang="en-US" sz="1990" strike="noStrike" u="none">
                <a:solidFill>
                  <a:srgbClr val="000000"/>
                </a:solidFill>
                <a:latin typeface="Circe"/>
                <a:ea typeface="Circe"/>
                <a:cs typeface="Circe"/>
                <a:sym typeface="Circe"/>
              </a:rPr>
              <a:t> d</a:t>
            </a:r>
            <a:r>
              <a:rPr lang="en-US" sz="1990" strike="noStrike" u="none">
                <a:solidFill>
                  <a:srgbClr val="000000"/>
                </a:solidFill>
                <a:latin typeface="Circe"/>
                <a:ea typeface="Circe"/>
                <a:cs typeface="Circe"/>
                <a:sym typeface="Circe"/>
              </a:rPr>
              <a:t>urant</a:t>
            </a:r>
            <a:r>
              <a:rPr lang="en-US" sz="1990" strike="noStrike" u="none">
                <a:solidFill>
                  <a:srgbClr val="000000"/>
                </a:solidFill>
                <a:latin typeface="Circe"/>
                <a:ea typeface="Circe"/>
                <a:cs typeface="Circe"/>
                <a:sym typeface="Circe"/>
              </a:rPr>
              <a:t>e </a:t>
            </a:r>
            <a:r>
              <a:rPr lang="en-US" sz="1990" strike="noStrike" u="none">
                <a:solidFill>
                  <a:srgbClr val="000000"/>
                </a:solidFill>
                <a:latin typeface="Circe"/>
                <a:ea typeface="Circe"/>
                <a:cs typeface="Circe"/>
                <a:sym typeface="Circe"/>
              </a:rPr>
              <a:t>l</a:t>
            </a:r>
            <a:r>
              <a:rPr lang="en-US" sz="1990" strike="noStrike" u="none">
                <a:solidFill>
                  <a:srgbClr val="000000"/>
                </a:solidFill>
                <a:latin typeface="Circe"/>
                <a:ea typeface="Circe"/>
                <a:cs typeface="Circe"/>
                <a:sym typeface="Circe"/>
              </a:rPr>
              <a:t>a</a:t>
            </a:r>
            <a:r>
              <a:rPr lang="en-US" sz="1990" strike="noStrike" u="none">
                <a:solidFill>
                  <a:srgbClr val="000000"/>
                </a:solidFill>
                <a:latin typeface="Circe"/>
                <a:ea typeface="Circe"/>
                <a:cs typeface="Circe"/>
                <a:sym typeface="Circe"/>
              </a:rPr>
              <a:t> t</a:t>
            </a:r>
            <a:r>
              <a:rPr lang="en-US" sz="1990" strike="noStrike" u="none">
                <a:solidFill>
                  <a:srgbClr val="000000"/>
                </a:solidFill>
                <a:latin typeface="Circe"/>
                <a:ea typeface="Circe"/>
                <a:cs typeface="Circe"/>
                <a:sym typeface="Circe"/>
              </a:rPr>
              <a:t>era</a:t>
            </a:r>
            <a:r>
              <a:rPr lang="en-US" sz="1990" strike="noStrike" u="none">
                <a:solidFill>
                  <a:srgbClr val="000000"/>
                </a:solidFill>
                <a:latin typeface="Circe"/>
                <a:ea typeface="Circe"/>
                <a:cs typeface="Circe"/>
                <a:sym typeface="Circe"/>
              </a:rPr>
              <a:t>pia</a:t>
            </a:r>
            <a:r>
              <a:rPr lang="en-US" sz="1990" strike="noStrike" u="none">
                <a:solidFill>
                  <a:srgbClr val="000000"/>
                </a:solidFill>
                <a:latin typeface="Circe"/>
                <a:ea typeface="Circe"/>
                <a:cs typeface="Circe"/>
                <a:sym typeface="Circe"/>
              </a:rPr>
              <a:t> </a:t>
            </a:r>
            <a:r>
              <a:rPr lang="en-US" sz="1990" strike="noStrike" u="none">
                <a:solidFill>
                  <a:srgbClr val="000000"/>
                </a:solidFill>
                <a:latin typeface="Circe"/>
                <a:ea typeface="Circe"/>
                <a:cs typeface="Circe"/>
                <a:sym typeface="Circe"/>
              </a:rPr>
              <a:t>int</a:t>
            </a:r>
            <a:r>
              <a:rPr lang="en-US" sz="1990" strike="noStrike" u="none">
                <a:solidFill>
                  <a:srgbClr val="000000"/>
                </a:solidFill>
                <a:latin typeface="Circe"/>
                <a:ea typeface="Circe"/>
                <a:cs typeface="Circe"/>
                <a:sym typeface="Circe"/>
              </a:rPr>
              <a:t>r</a:t>
            </a:r>
            <a:r>
              <a:rPr lang="en-US" sz="1990" strike="noStrike" u="none">
                <a:solidFill>
                  <a:srgbClr val="000000"/>
                </a:solidFill>
                <a:latin typeface="Circe"/>
                <a:ea typeface="Circe"/>
                <a:cs typeface="Circe"/>
                <a:sym typeface="Circe"/>
              </a:rPr>
              <a:t>av</a:t>
            </a:r>
            <a:r>
              <a:rPr lang="en-US" sz="1990" strike="noStrike" u="none">
                <a:solidFill>
                  <a:srgbClr val="000000"/>
                </a:solidFill>
                <a:latin typeface="Circe"/>
                <a:ea typeface="Circe"/>
                <a:cs typeface="Circe"/>
                <a:sym typeface="Circe"/>
              </a:rPr>
              <a:t>e</a:t>
            </a:r>
            <a:r>
              <a:rPr lang="en-US" sz="1990" strike="noStrike" u="none">
                <a:solidFill>
                  <a:srgbClr val="000000"/>
                </a:solidFill>
                <a:latin typeface="Circe"/>
                <a:ea typeface="Circe"/>
                <a:cs typeface="Circe"/>
                <a:sym typeface="Circe"/>
              </a:rPr>
              <a:t>nosa. [10]</a:t>
            </a:r>
          </a:p>
        </p:txBody>
      </p:sp>
      <p:sp>
        <p:nvSpPr>
          <p:cNvPr name="TextBox 15" id="15"/>
          <p:cNvSpPr txBox="true"/>
          <p:nvPr/>
        </p:nvSpPr>
        <p:spPr>
          <a:xfrm rot="0">
            <a:off x="12757108" y="5328256"/>
            <a:ext cx="3692945" cy="798764"/>
          </a:xfrm>
          <a:prstGeom prst="rect">
            <a:avLst/>
          </a:prstGeom>
        </p:spPr>
        <p:txBody>
          <a:bodyPr anchor="t" rtlCol="false" tIns="0" lIns="0" bIns="0" rIns="0">
            <a:spAutoFit/>
          </a:bodyPr>
          <a:lstStyle/>
          <a:p>
            <a:pPr algn="ctr" marL="0" indent="0" lvl="0">
              <a:lnSpc>
                <a:spcPts val="3189"/>
              </a:lnSpc>
              <a:spcBef>
                <a:spcPct val="0"/>
              </a:spcBef>
            </a:pPr>
            <a:r>
              <a:rPr lang="en-US" b="true" sz="2899" strike="noStrike">
                <a:solidFill>
                  <a:srgbClr val="000000"/>
                </a:solidFill>
                <a:latin typeface="Circe Bold"/>
                <a:ea typeface="Circe Bold"/>
                <a:cs typeface="Circe Bold"/>
                <a:sym typeface="Circe Bold"/>
                <a:hlinkClick r:id="rId9" tooltip="https://www.fresenius-kabi.com/content/dam/fresenius-kabi/dk/products/product-documents/agilia-sp-mc-wifi/CC14265-0_catalogue_agilia_connect_280219.pdf.coredownload.inline.pdf"/>
              </a:rPr>
              <a:t>AGILIA® CONNECT – FRESENIUS KABI</a:t>
            </a:r>
          </a:p>
        </p:txBody>
      </p:sp>
      <p:sp>
        <p:nvSpPr>
          <p:cNvPr name="TextBox 16" id="16"/>
          <p:cNvSpPr txBox="true"/>
          <p:nvPr/>
        </p:nvSpPr>
        <p:spPr>
          <a:xfrm rot="0">
            <a:off x="12766633" y="6641370"/>
            <a:ext cx="3577884" cy="2647950"/>
          </a:xfrm>
          <a:prstGeom prst="rect">
            <a:avLst/>
          </a:prstGeom>
        </p:spPr>
        <p:txBody>
          <a:bodyPr anchor="t" rtlCol="false" tIns="0" lIns="0" bIns="0" rIns="0">
            <a:spAutoFit/>
          </a:bodyPr>
          <a:lstStyle/>
          <a:p>
            <a:pPr algn="just" marL="0" indent="0" lvl="0">
              <a:lnSpc>
                <a:spcPts val="2388"/>
              </a:lnSpc>
              <a:spcBef>
                <a:spcPct val="0"/>
              </a:spcBef>
            </a:pPr>
            <a:r>
              <a:rPr lang="en-US" sz="1990" strike="noStrike" u="none">
                <a:solidFill>
                  <a:srgbClr val="000000"/>
                </a:solidFill>
                <a:latin typeface="Circe"/>
                <a:ea typeface="Circe"/>
                <a:cs typeface="Circe"/>
                <a:sym typeface="Circe"/>
              </a:rPr>
              <a:t>Sistema de bombas de infusión conectadas que permite administrar terapias intravenosas y supervisar los equipos de manera remota. Mediante un servidor central, permite configurar, monitorear y actualizar las bombas de forma segura. [11]</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6378" y="956798"/>
            <a:ext cx="15615244" cy="9089998"/>
            <a:chOff x="0" y="0"/>
            <a:chExt cx="4309747" cy="2508804"/>
          </a:xfrm>
        </p:grpSpPr>
        <p:sp>
          <p:nvSpPr>
            <p:cNvPr name="Freeform 3" id="3"/>
            <p:cNvSpPr/>
            <p:nvPr/>
          </p:nvSpPr>
          <p:spPr>
            <a:xfrm flipH="false" flipV="false" rot="0">
              <a:off x="0" y="0"/>
              <a:ext cx="4309747" cy="2508804"/>
            </a:xfrm>
            <a:custGeom>
              <a:avLst/>
              <a:gdLst/>
              <a:ahLst/>
              <a:cxnLst/>
              <a:rect r="r" b="b" t="t" l="l"/>
              <a:pathLst>
                <a:path h="2508804" w="4309747">
                  <a:moveTo>
                    <a:pt x="0" y="0"/>
                  </a:moveTo>
                  <a:lnTo>
                    <a:pt x="4309747" y="0"/>
                  </a:lnTo>
                  <a:lnTo>
                    <a:pt x="4309747" y="2508804"/>
                  </a:lnTo>
                  <a:lnTo>
                    <a:pt x="0" y="2508804"/>
                  </a:lnTo>
                  <a:close/>
                </a:path>
              </a:pathLst>
            </a:custGeom>
            <a:solidFill>
              <a:srgbClr val="F6EEE8"/>
            </a:solidFill>
          </p:spPr>
        </p:sp>
        <p:sp>
          <p:nvSpPr>
            <p:cNvPr name="TextBox 4" id="4"/>
            <p:cNvSpPr txBox="true"/>
            <p:nvPr/>
          </p:nvSpPr>
          <p:spPr>
            <a:xfrm>
              <a:off x="0" y="-38100"/>
              <a:ext cx="4309747" cy="2546904"/>
            </a:xfrm>
            <a:prstGeom prst="rect">
              <a:avLst/>
            </a:prstGeom>
          </p:spPr>
          <p:txBody>
            <a:bodyPr anchor="ctr" rtlCol="false" tIns="50800" lIns="50800" bIns="50800" rIns="50800"/>
            <a:lstStyle/>
            <a:p>
              <a:pPr algn="ctr">
                <a:lnSpc>
                  <a:spcPts val="2659"/>
                </a:lnSpc>
              </a:pPr>
            </a:p>
          </p:txBody>
        </p:sp>
      </p:grpSp>
      <p:grpSp>
        <p:nvGrpSpPr>
          <p:cNvPr name="Group 5" id="5"/>
          <p:cNvGrpSpPr>
            <a:grpSpLocks noChangeAspect="true"/>
          </p:cNvGrpSpPr>
          <p:nvPr/>
        </p:nvGrpSpPr>
        <p:grpSpPr>
          <a:xfrm rot="0">
            <a:off x="1363646" y="-4646295"/>
            <a:ext cx="5246370" cy="5246370"/>
            <a:chOff x="0" y="0"/>
            <a:chExt cx="6355080" cy="6355080"/>
          </a:xfrm>
        </p:grpSpPr>
        <p:sp>
          <p:nvSpPr>
            <p:cNvPr name="Freeform 6" id="6"/>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grpSp>
        <p:nvGrpSpPr>
          <p:cNvPr name="Group 7" id="7"/>
          <p:cNvGrpSpPr>
            <a:grpSpLocks noChangeAspect="true"/>
          </p:cNvGrpSpPr>
          <p:nvPr/>
        </p:nvGrpSpPr>
        <p:grpSpPr>
          <a:xfrm rot="0">
            <a:off x="12450083" y="9717290"/>
            <a:ext cx="5246370" cy="5246370"/>
            <a:chOff x="0" y="0"/>
            <a:chExt cx="6355080" cy="6355080"/>
          </a:xfrm>
        </p:grpSpPr>
        <p:sp>
          <p:nvSpPr>
            <p:cNvPr name="Freeform 8" id="8"/>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sp>
        <p:nvSpPr>
          <p:cNvPr name="Freeform 9" id="9"/>
          <p:cNvSpPr/>
          <p:nvPr/>
        </p:nvSpPr>
        <p:spPr>
          <a:xfrm flipH="false" flipV="false" rot="0">
            <a:off x="1651048" y="2582067"/>
            <a:ext cx="4671567" cy="2919729"/>
          </a:xfrm>
          <a:custGeom>
            <a:avLst/>
            <a:gdLst/>
            <a:ahLst/>
            <a:cxnLst/>
            <a:rect r="r" b="b" t="t" l="l"/>
            <a:pathLst>
              <a:path h="2919729" w="4671567">
                <a:moveTo>
                  <a:pt x="0" y="0"/>
                </a:moveTo>
                <a:lnTo>
                  <a:pt x="4671567" y="0"/>
                </a:lnTo>
                <a:lnTo>
                  <a:pt x="4671567" y="2919730"/>
                </a:lnTo>
                <a:lnTo>
                  <a:pt x="0" y="2919730"/>
                </a:lnTo>
                <a:lnTo>
                  <a:pt x="0" y="0"/>
                </a:lnTo>
                <a:close/>
              </a:path>
            </a:pathLst>
          </a:custGeom>
          <a:blipFill>
            <a:blip r:embed="rId2"/>
            <a:stretch>
              <a:fillRect l="0" t="0" r="0" b="0"/>
            </a:stretch>
          </a:blipFill>
        </p:spPr>
      </p:sp>
      <p:sp>
        <p:nvSpPr>
          <p:cNvPr name="Freeform 10" id="10"/>
          <p:cNvSpPr/>
          <p:nvPr/>
        </p:nvSpPr>
        <p:spPr>
          <a:xfrm flipH="false" flipV="false" rot="0">
            <a:off x="1859288" y="5791708"/>
            <a:ext cx="4255087" cy="4255087"/>
          </a:xfrm>
          <a:custGeom>
            <a:avLst/>
            <a:gdLst/>
            <a:ahLst/>
            <a:cxnLst/>
            <a:rect r="r" b="b" t="t" l="l"/>
            <a:pathLst>
              <a:path h="4255087" w="4255087">
                <a:moveTo>
                  <a:pt x="0" y="0"/>
                </a:moveTo>
                <a:lnTo>
                  <a:pt x="4255087" y="0"/>
                </a:lnTo>
                <a:lnTo>
                  <a:pt x="4255087" y="4255088"/>
                </a:lnTo>
                <a:lnTo>
                  <a:pt x="0" y="4255088"/>
                </a:lnTo>
                <a:lnTo>
                  <a:pt x="0" y="0"/>
                </a:lnTo>
                <a:close/>
              </a:path>
            </a:pathLst>
          </a:custGeom>
          <a:blipFill>
            <a:blip r:embed="rId3"/>
            <a:stretch>
              <a:fillRect l="0" t="0" r="0" b="0"/>
            </a:stretch>
          </a:blipFill>
        </p:spPr>
      </p:sp>
      <p:sp>
        <p:nvSpPr>
          <p:cNvPr name="TextBox 11" id="11"/>
          <p:cNvSpPr txBox="true"/>
          <p:nvPr/>
        </p:nvSpPr>
        <p:spPr>
          <a:xfrm rot="0">
            <a:off x="1275587" y="1120347"/>
            <a:ext cx="10881745" cy="774929"/>
          </a:xfrm>
          <a:prstGeom prst="rect">
            <a:avLst/>
          </a:prstGeom>
        </p:spPr>
        <p:txBody>
          <a:bodyPr anchor="t" rtlCol="false" tIns="0" lIns="0" bIns="0" rIns="0">
            <a:spAutoFit/>
          </a:bodyPr>
          <a:lstStyle/>
          <a:p>
            <a:pPr algn="ctr">
              <a:lnSpc>
                <a:spcPts val="5755"/>
              </a:lnSpc>
            </a:pPr>
            <a:r>
              <a:rPr lang="en-US" sz="6256">
                <a:solidFill>
                  <a:srgbClr val="412D44"/>
                </a:solidFill>
                <a:latin typeface="Circe Contrast"/>
                <a:ea typeface="Circe Contrast"/>
                <a:cs typeface="Circe Contrast"/>
                <a:sym typeface="Circe Contrast"/>
              </a:rPr>
              <a:t>Páginas de fabricantes</a:t>
            </a:r>
          </a:p>
        </p:txBody>
      </p:sp>
      <p:sp>
        <p:nvSpPr>
          <p:cNvPr name="TextBox 12" id="12"/>
          <p:cNvSpPr txBox="true"/>
          <p:nvPr/>
        </p:nvSpPr>
        <p:spPr>
          <a:xfrm rot="0">
            <a:off x="12933419" y="2592992"/>
            <a:ext cx="3484912" cy="2417783"/>
          </a:xfrm>
          <a:prstGeom prst="rect">
            <a:avLst/>
          </a:prstGeom>
        </p:spPr>
        <p:txBody>
          <a:bodyPr anchor="t" rtlCol="false" tIns="0" lIns="0" bIns="0" rIns="0">
            <a:spAutoFit/>
          </a:bodyPr>
          <a:lstStyle/>
          <a:p>
            <a:pPr algn="l" marL="494464" indent="-247232" lvl="1">
              <a:lnSpc>
                <a:spcPts val="2748"/>
              </a:lnSpc>
              <a:buFont typeface="Arial"/>
              <a:buChar char="•"/>
            </a:pPr>
            <a:r>
              <a:rPr lang="en-US" sz="2290">
                <a:solidFill>
                  <a:srgbClr val="000000"/>
                </a:solidFill>
                <a:latin typeface="Circe"/>
                <a:ea typeface="Circe"/>
                <a:cs typeface="Circe"/>
                <a:sym typeface="Circe"/>
              </a:rPr>
              <a:t>Tamaño: 127 x 62 x 28 mm (5 x 2,4 x 1,1 pulgadas)</a:t>
            </a:r>
          </a:p>
          <a:p>
            <a:pPr algn="l" marL="494464" indent="-247232" lvl="1">
              <a:lnSpc>
                <a:spcPts val="2748"/>
              </a:lnSpc>
              <a:buFont typeface="Arial"/>
              <a:buChar char="•"/>
            </a:pPr>
            <a:r>
              <a:rPr lang="en-US" sz="2290">
                <a:solidFill>
                  <a:srgbClr val="000000"/>
                </a:solidFill>
                <a:latin typeface="Circe"/>
                <a:ea typeface="Circe"/>
                <a:cs typeface="Circe"/>
                <a:sym typeface="Circe"/>
              </a:rPr>
              <a:t>Peso: 3.8 onzas</a:t>
            </a:r>
          </a:p>
          <a:p>
            <a:pPr algn="l" marL="494464" indent="-247232" lvl="1">
              <a:lnSpc>
                <a:spcPts val="2748"/>
              </a:lnSpc>
              <a:buFont typeface="Arial"/>
              <a:buChar char="•"/>
            </a:pPr>
            <a:r>
              <a:rPr lang="en-US" sz="2290">
                <a:solidFill>
                  <a:srgbClr val="000000"/>
                </a:solidFill>
                <a:latin typeface="Circe"/>
                <a:ea typeface="Circe"/>
                <a:cs typeface="Circe"/>
                <a:sym typeface="Circe"/>
              </a:rPr>
              <a:t>Batería: Una pila AA, dura 360 horas.</a:t>
            </a:r>
          </a:p>
          <a:p>
            <a:pPr algn="l">
              <a:lnSpc>
                <a:spcPts val="2748"/>
              </a:lnSpc>
            </a:pPr>
          </a:p>
        </p:txBody>
      </p:sp>
      <p:sp>
        <p:nvSpPr>
          <p:cNvPr name="TextBox 13" id="13"/>
          <p:cNvSpPr txBox="true"/>
          <p:nvPr/>
        </p:nvSpPr>
        <p:spPr>
          <a:xfrm rot="0">
            <a:off x="6610016" y="7033563"/>
            <a:ext cx="6554213" cy="2400300"/>
          </a:xfrm>
          <a:prstGeom prst="rect">
            <a:avLst/>
          </a:prstGeom>
        </p:spPr>
        <p:txBody>
          <a:bodyPr anchor="t" rtlCol="false" tIns="0" lIns="0" bIns="0" rIns="0">
            <a:spAutoFit/>
          </a:bodyPr>
          <a:lstStyle/>
          <a:p>
            <a:pPr algn="ctr">
              <a:lnSpc>
                <a:spcPts val="2748"/>
              </a:lnSpc>
            </a:pPr>
            <a:r>
              <a:rPr lang="en-US" sz="2290">
                <a:solidFill>
                  <a:srgbClr val="000000"/>
                </a:solidFill>
                <a:latin typeface="Circe"/>
                <a:ea typeface="Circe"/>
                <a:cs typeface="Circe"/>
                <a:sym typeface="Circe"/>
              </a:rPr>
              <a:t>La Bomba de Infusión es un dispositivo médico de alta precisión que permite la administración segura y controlada de líquidos intravenosos en hospitales y unidades de cuidados intensivos.  Cuenta con múltiples modos de infusión, permitiendo el ajuste por volumen (ml/h), gotas por minuto, tiempo de infusión o peso corporal. [13]</a:t>
            </a:r>
          </a:p>
        </p:txBody>
      </p:sp>
      <p:sp>
        <p:nvSpPr>
          <p:cNvPr name="TextBox 14" id="14"/>
          <p:cNvSpPr txBox="true"/>
          <p:nvPr/>
        </p:nvSpPr>
        <p:spPr>
          <a:xfrm rot="0">
            <a:off x="6610016" y="2616669"/>
            <a:ext cx="6168541" cy="2400300"/>
          </a:xfrm>
          <a:prstGeom prst="rect">
            <a:avLst/>
          </a:prstGeom>
        </p:spPr>
        <p:txBody>
          <a:bodyPr anchor="t" rtlCol="false" tIns="0" lIns="0" bIns="0" rIns="0">
            <a:spAutoFit/>
          </a:bodyPr>
          <a:lstStyle/>
          <a:p>
            <a:pPr algn="ctr">
              <a:lnSpc>
                <a:spcPts val="2748"/>
              </a:lnSpc>
            </a:pPr>
            <a:r>
              <a:rPr lang="en-US" sz="2290">
                <a:solidFill>
                  <a:srgbClr val="000000"/>
                </a:solidFill>
                <a:latin typeface="Circe"/>
                <a:ea typeface="Circe"/>
                <a:cs typeface="Circe"/>
                <a:sym typeface="Circe"/>
              </a:rPr>
              <a:t>DripAssist es un monitor de flujo intravenoso portátil que facilita, agiliza y mejora la fiabilidad de las infusiones. DripAssist proporciona una monitorización de las infusiones por gravedad críticas y emite una señal sonora automáticamente cuando el flujo se sale del límite de seguridad o se detiene. [12]</a:t>
            </a:r>
          </a:p>
        </p:txBody>
      </p:sp>
      <p:sp>
        <p:nvSpPr>
          <p:cNvPr name="TextBox 15" id="15"/>
          <p:cNvSpPr txBox="true"/>
          <p:nvPr/>
        </p:nvSpPr>
        <p:spPr>
          <a:xfrm rot="0">
            <a:off x="6322615" y="2037543"/>
            <a:ext cx="3800238" cy="440358"/>
          </a:xfrm>
          <a:prstGeom prst="rect">
            <a:avLst/>
          </a:prstGeom>
        </p:spPr>
        <p:txBody>
          <a:bodyPr anchor="t" rtlCol="false" tIns="0" lIns="0" bIns="0" rIns="0">
            <a:spAutoFit/>
          </a:bodyPr>
          <a:lstStyle/>
          <a:p>
            <a:pPr algn="ctr">
              <a:lnSpc>
                <a:spcPts val="3491"/>
              </a:lnSpc>
            </a:pPr>
            <a:r>
              <a:rPr lang="en-US" b="true" sz="3173">
                <a:solidFill>
                  <a:srgbClr val="000000"/>
                </a:solidFill>
                <a:latin typeface="Circe Bold"/>
                <a:ea typeface="Circe Bold"/>
                <a:cs typeface="Circe Bold"/>
                <a:sym typeface="Circe Bold"/>
                <a:hlinkClick r:id="rId4" tooltip="https://www.shiftlabs.com/purchase-now"/>
              </a:rPr>
              <a:t>DRIPASSIST </a:t>
            </a:r>
          </a:p>
        </p:txBody>
      </p:sp>
      <p:sp>
        <p:nvSpPr>
          <p:cNvPr name="TextBox 16" id="16"/>
          <p:cNvSpPr txBox="true"/>
          <p:nvPr/>
        </p:nvSpPr>
        <p:spPr>
          <a:xfrm rot="0">
            <a:off x="6226197" y="6050281"/>
            <a:ext cx="4861432" cy="1316658"/>
          </a:xfrm>
          <a:prstGeom prst="rect">
            <a:avLst/>
          </a:prstGeom>
        </p:spPr>
        <p:txBody>
          <a:bodyPr anchor="t" rtlCol="false" tIns="0" lIns="0" bIns="0" rIns="0">
            <a:spAutoFit/>
          </a:bodyPr>
          <a:lstStyle/>
          <a:p>
            <a:pPr algn="ctr">
              <a:lnSpc>
                <a:spcPts val="3491"/>
              </a:lnSpc>
            </a:pPr>
            <a:r>
              <a:rPr lang="en-US" b="true" sz="3173" spc="-63">
                <a:solidFill>
                  <a:srgbClr val="000000"/>
                </a:solidFill>
                <a:latin typeface="Circe Bold"/>
                <a:ea typeface="Circe Bold"/>
                <a:cs typeface="Circe Bold"/>
                <a:sym typeface="Circe Bold"/>
                <a:hlinkClick r:id="rId5" tooltip="https://iemedic.com.pe/product/bomba-de-infusion/"/>
              </a:rPr>
              <a:t>BOMBA DE INFUSIÓN</a:t>
            </a:r>
            <a:r>
              <a:rPr lang="en-US" sz="3173" spc="-63">
                <a:solidFill>
                  <a:srgbClr val="000000"/>
                </a:solidFill>
                <a:latin typeface="Circe"/>
                <a:ea typeface="Circe"/>
                <a:cs typeface="Circe"/>
                <a:sym typeface="Circe"/>
              </a:rPr>
              <a:t> </a:t>
            </a:r>
            <a:r>
              <a:rPr lang="en-US" b="true" sz="3173" spc="-63">
                <a:solidFill>
                  <a:srgbClr val="000000"/>
                </a:solidFill>
                <a:latin typeface="Circe Bold"/>
                <a:ea typeface="Circe Bold"/>
                <a:cs typeface="Circe Bold"/>
                <a:sym typeface="Circe Bold"/>
              </a:rPr>
              <a:t>KELLYMED</a:t>
            </a:r>
          </a:p>
          <a:p>
            <a:pPr algn="ctr">
              <a:lnSpc>
                <a:spcPts val="3491"/>
              </a:lnSpc>
            </a:pPr>
          </a:p>
        </p:txBody>
      </p:sp>
      <p:sp>
        <p:nvSpPr>
          <p:cNvPr name="TextBox 17" id="17"/>
          <p:cNvSpPr txBox="true"/>
          <p:nvPr/>
        </p:nvSpPr>
        <p:spPr>
          <a:xfrm rot="0">
            <a:off x="13466710" y="6470484"/>
            <a:ext cx="3484912" cy="2072385"/>
          </a:xfrm>
          <a:prstGeom prst="rect">
            <a:avLst/>
          </a:prstGeom>
        </p:spPr>
        <p:txBody>
          <a:bodyPr anchor="t" rtlCol="false" tIns="0" lIns="0" bIns="0" rIns="0">
            <a:spAutoFit/>
          </a:bodyPr>
          <a:lstStyle/>
          <a:p>
            <a:pPr algn="l" marL="494464" indent="-247232" lvl="1">
              <a:lnSpc>
                <a:spcPts val="2748"/>
              </a:lnSpc>
              <a:buFont typeface="Arial"/>
              <a:buChar char="•"/>
            </a:pPr>
            <a:r>
              <a:rPr lang="en-US" sz="2290">
                <a:solidFill>
                  <a:srgbClr val="000000"/>
                </a:solidFill>
                <a:latin typeface="Circe"/>
                <a:ea typeface="Circe"/>
                <a:cs typeface="Circe"/>
                <a:sym typeface="Circe"/>
              </a:rPr>
              <a:t>Tamaño: 130 x 145 x 228 mm</a:t>
            </a:r>
          </a:p>
          <a:p>
            <a:pPr algn="l" marL="494464" indent="-247232" lvl="1">
              <a:lnSpc>
                <a:spcPts val="2748"/>
              </a:lnSpc>
              <a:buFont typeface="Arial"/>
              <a:buChar char="•"/>
            </a:pPr>
            <a:r>
              <a:rPr lang="en-US" sz="2290">
                <a:solidFill>
                  <a:srgbClr val="000000"/>
                </a:solidFill>
                <a:latin typeface="Circe"/>
                <a:ea typeface="Circe"/>
                <a:cs typeface="Circe"/>
                <a:sym typeface="Circe"/>
              </a:rPr>
              <a:t>Peso: 2.5 kg</a:t>
            </a:r>
          </a:p>
          <a:p>
            <a:pPr algn="l" marL="494464" indent="-247232" lvl="1">
              <a:lnSpc>
                <a:spcPts val="2748"/>
              </a:lnSpc>
              <a:buFont typeface="Arial"/>
              <a:buChar char="•"/>
            </a:pPr>
            <a:r>
              <a:rPr lang="en-US" sz="2290">
                <a:solidFill>
                  <a:srgbClr val="000000"/>
                </a:solidFill>
                <a:latin typeface="Circe"/>
                <a:ea typeface="Circe"/>
                <a:cs typeface="Circe"/>
                <a:sym typeface="Circe"/>
              </a:rPr>
              <a:t>Batería: 9.6V recargable (duración de 3 horas a 30 ml/h)</a:t>
            </a:r>
          </a:p>
        </p:txBody>
      </p:sp>
      <p:sp>
        <p:nvSpPr>
          <p:cNvPr name="AutoShape 18" id="18"/>
          <p:cNvSpPr/>
          <p:nvPr/>
        </p:nvSpPr>
        <p:spPr>
          <a:xfrm flipH="true">
            <a:off x="6716460" y="5791708"/>
            <a:ext cx="9166187" cy="0"/>
          </a:xfrm>
          <a:prstGeom prst="line">
            <a:avLst/>
          </a:prstGeom>
          <a:ln cap="flat" w="38100">
            <a:solidFill>
              <a:srgbClr val="994A66"/>
            </a:solidFill>
            <a:prstDash val="sysDash"/>
            <a:headEnd type="none" len="sm" w="sm"/>
            <a:tailEnd type="none" len="sm" w="sm"/>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6378" y="956798"/>
            <a:ext cx="15615244" cy="9089998"/>
            <a:chOff x="0" y="0"/>
            <a:chExt cx="4309747" cy="2508804"/>
          </a:xfrm>
        </p:grpSpPr>
        <p:sp>
          <p:nvSpPr>
            <p:cNvPr name="Freeform 3" id="3"/>
            <p:cNvSpPr/>
            <p:nvPr/>
          </p:nvSpPr>
          <p:spPr>
            <a:xfrm flipH="false" flipV="false" rot="0">
              <a:off x="0" y="0"/>
              <a:ext cx="4309747" cy="2508804"/>
            </a:xfrm>
            <a:custGeom>
              <a:avLst/>
              <a:gdLst/>
              <a:ahLst/>
              <a:cxnLst/>
              <a:rect r="r" b="b" t="t" l="l"/>
              <a:pathLst>
                <a:path h="2508804" w="4309747">
                  <a:moveTo>
                    <a:pt x="0" y="0"/>
                  </a:moveTo>
                  <a:lnTo>
                    <a:pt x="4309747" y="0"/>
                  </a:lnTo>
                  <a:lnTo>
                    <a:pt x="4309747" y="2508804"/>
                  </a:lnTo>
                  <a:lnTo>
                    <a:pt x="0" y="2508804"/>
                  </a:lnTo>
                  <a:close/>
                </a:path>
              </a:pathLst>
            </a:custGeom>
            <a:solidFill>
              <a:srgbClr val="F6EEE8"/>
            </a:solidFill>
          </p:spPr>
        </p:sp>
        <p:sp>
          <p:nvSpPr>
            <p:cNvPr name="TextBox 4" id="4"/>
            <p:cNvSpPr txBox="true"/>
            <p:nvPr/>
          </p:nvSpPr>
          <p:spPr>
            <a:xfrm>
              <a:off x="0" y="-38100"/>
              <a:ext cx="4309747" cy="2546904"/>
            </a:xfrm>
            <a:prstGeom prst="rect">
              <a:avLst/>
            </a:prstGeom>
          </p:spPr>
          <p:txBody>
            <a:bodyPr anchor="ctr" rtlCol="false" tIns="50800" lIns="50800" bIns="50800" rIns="50800"/>
            <a:lstStyle/>
            <a:p>
              <a:pPr algn="ctr">
                <a:lnSpc>
                  <a:spcPts val="2659"/>
                </a:lnSpc>
              </a:pPr>
            </a:p>
          </p:txBody>
        </p:sp>
      </p:grpSp>
      <p:grpSp>
        <p:nvGrpSpPr>
          <p:cNvPr name="Group 5" id="5"/>
          <p:cNvGrpSpPr>
            <a:grpSpLocks noChangeAspect="true"/>
          </p:cNvGrpSpPr>
          <p:nvPr/>
        </p:nvGrpSpPr>
        <p:grpSpPr>
          <a:xfrm rot="0">
            <a:off x="1363646" y="-4646295"/>
            <a:ext cx="5246370" cy="5246370"/>
            <a:chOff x="0" y="0"/>
            <a:chExt cx="6355080" cy="6355080"/>
          </a:xfrm>
        </p:grpSpPr>
        <p:sp>
          <p:nvSpPr>
            <p:cNvPr name="Freeform 6" id="6"/>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grpSp>
        <p:nvGrpSpPr>
          <p:cNvPr name="Group 7" id="7"/>
          <p:cNvGrpSpPr>
            <a:grpSpLocks noChangeAspect="true"/>
          </p:cNvGrpSpPr>
          <p:nvPr/>
        </p:nvGrpSpPr>
        <p:grpSpPr>
          <a:xfrm rot="0">
            <a:off x="12450083" y="9717290"/>
            <a:ext cx="5246370" cy="5246370"/>
            <a:chOff x="0" y="0"/>
            <a:chExt cx="6355080" cy="6355080"/>
          </a:xfrm>
        </p:grpSpPr>
        <p:sp>
          <p:nvSpPr>
            <p:cNvPr name="Freeform 8" id="8"/>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sp>
        <p:nvSpPr>
          <p:cNvPr name="AutoShape 9" id="9"/>
          <p:cNvSpPr/>
          <p:nvPr/>
        </p:nvSpPr>
        <p:spPr>
          <a:xfrm flipH="true">
            <a:off x="6610016" y="8667366"/>
            <a:ext cx="9166187" cy="0"/>
          </a:xfrm>
          <a:prstGeom prst="line">
            <a:avLst/>
          </a:prstGeom>
          <a:ln cap="flat" w="38100">
            <a:solidFill>
              <a:srgbClr val="994A66"/>
            </a:solidFill>
            <a:prstDash val="sysDash"/>
            <a:headEnd type="none" len="sm" w="sm"/>
            <a:tailEnd type="none" len="sm" w="sm"/>
          </a:ln>
        </p:spPr>
      </p:sp>
      <p:sp>
        <p:nvSpPr>
          <p:cNvPr name="Freeform 10" id="10"/>
          <p:cNvSpPr/>
          <p:nvPr/>
        </p:nvSpPr>
        <p:spPr>
          <a:xfrm flipH="false" flipV="false" rot="0">
            <a:off x="2138893" y="2897001"/>
            <a:ext cx="4087304" cy="5789415"/>
          </a:xfrm>
          <a:custGeom>
            <a:avLst/>
            <a:gdLst/>
            <a:ahLst/>
            <a:cxnLst/>
            <a:rect r="r" b="b" t="t" l="l"/>
            <a:pathLst>
              <a:path h="5789415" w="4087304">
                <a:moveTo>
                  <a:pt x="0" y="0"/>
                </a:moveTo>
                <a:lnTo>
                  <a:pt x="4087304" y="0"/>
                </a:lnTo>
                <a:lnTo>
                  <a:pt x="4087304" y="5789415"/>
                </a:lnTo>
                <a:lnTo>
                  <a:pt x="0" y="5789415"/>
                </a:lnTo>
                <a:lnTo>
                  <a:pt x="0" y="0"/>
                </a:lnTo>
                <a:close/>
              </a:path>
            </a:pathLst>
          </a:custGeom>
          <a:blipFill>
            <a:blip r:embed="rId2"/>
            <a:stretch>
              <a:fillRect l="0" t="0" r="0" b="0"/>
            </a:stretch>
          </a:blipFill>
        </p:spPr>
      </p:sp>
      <p:sp>
        <p:nvSpPr>
          <p:cNvPr name="TextBox 11" id="11"/>
          <p:cNvSpPr txBox="true"/>
          <p:nvPr/>
        </p:nvSpPr>
        <p:spPr>
          <a:xfrm rot="0">
            <a:off x="1275587" y="1120347"/>
            <a:ext cx="10881745" cy="774929"/>
          </a:xfrm>
          <a:prstGeom prst="rect">
            <a:avLst/>
          </a:prstGeom>
        </p:spPr>
        <p:txBody>
          <a:bodyPr anchor="t" rtlCol="false" tIns="0" lIns="0" bIns="0" rIns="0">
            <a:spAutoFit/>
          </a:bodyPr>
          <a:lstStyle/>
          <a:p>
            <a:pPr algn="ctr">
              <a:lnSpc>
                <a:spcPts val="5755"/>
              </a:lnSpc>
            </a:pPr>
            <a:r>
              <a:rPr lang="en-US" sz="6256">
                <a:solidFill>
                  <a:srgbClr val="412D44"/>
                </a:solidFill>
                <a:latin typeface="Circe Contrast"/>
                <a:ea typeface="Circe Contrast"/>
                <a:cs typeface="Circe Contrast"/>
                <a:sym typeface="Circe Contrast"/>
              </a:rPr>
              <a:t>Páginas de fabricantes</a:t>
            </a:r>
          </a:p>
        </p:txBody>
      </p:sp>
      <p:sp>
        <p:nvSpPr>
          <p:cNvPr name="TextBox 12" id="12"/>
          <p:cNvSpPr txBox="true"/>
          <p:nvPr/>
        </p:nvSpPr>
        <p:spPr>
          <a:xfrm rot="0">
            <a:off x="13106675" y="3396322"/>
            <a:ext cx="3484912" cy="3799373"/>
          </a:xfrm>
          <a:prstGeom prst="rect">
            <a:avLst/>
          </a:prstGeom>
        </p:spPr>
        <p:txBody>
          <a:bodyPr anchor="t" rtlCol="false" tIns="0" lIns="0" bIns="0" rIns="0">
            <a:spAutoFit/>
          </a:bodyPr>
          <a:lstStyle/>
          <a:p>
            <a:pPr algn="l" marL="494464" indent="-247232" lvl="1">
              <a:lnSpc>
                <a:spcPts val="2748"/>
              </a:lnSpc>
              <a:buFont typeface="Arial"/>
              <a:buChar char="•"/>
            </a:pPr>
            <a:r>
              <a:rPr lang="en-US" sz="2290">
                <a:solidFill>
                  <a:srgbClr val="000000"/>
                </a:solidFill>
                <a:latin typeface="Circe"/>
                <a:ea typeface="Circe"/>
                <a:cs typeface="Circe"/>
                <a:sym typeface="Circe"/>
              </a:rPr>
              <a:t>Tamaño:  120 mm (ancho) × 100 mm (profundidad) × 215 mm (alto)</a:t>
            </a:r>
          </a:p>
          <a:p>
            <a:pPr algn="l" marL="494464" indent="-247232" lvl="1">
              <a:lnSpc>
                <a:spcPts val="2748"/>
              </a:lnSpc>
              <a:buFont typeface="Arial"/>
              <a:buChar char="•"/>
            </a:pPr>
            <a:r>
              <a:rPr lang="en-US" sz="2290">
                <a:solidFill>
                  <a:srgbClr val="000000"/>
                </a:solidFill>
                <a:latin typeface="Circe"/>
                <a:ea typeface="Circe"/>
                <a:cs typeface="Circe"/>
                <a:sym typeface="Circe"/>
              </a:rPr>
              <a:t>Peso: 1.7 kg</a:t>
            </a:r>
          </a:p>
          <a:p>
            <a:pPr algn="l" marL="494464" indent="-247232" lvl="1">
              <a:lnSpc>
                <a:spcPts val="2748"/>
              </a:lnSpc>
              <a:buFont typeface="Arial"/>
              <a:buChar char="•"/>
            </a:pPr>
            <a:r>
              <a:rPr lang="en-US" sz="2290">
                <a:solidFill>
                  <a:srgbClr val="000000"/>
                </a:solidFill>
                <a:latin typeface="Circe"/>
                <a:ea typeface="Circe"/>
                <a:cs typeface="Circe"/>
                <a:sym typeface="Circe"/>
              </a:rPr>
              <a:t> 🔌Energía eléctrica de red (CA)</a:t>
            </a:r>
          </a:p>
          <a:p>
            <a:pPr algn="l" marL="494464" indent="-247232" lvl="1">
              <a:lnSpc>
                <a:spcPts val="2748"/>
              </a:lnSpc>
              <a:buFont typeface="Arial"/>
              <a:buChar char="•"/>
            </a:pPr>
            <a:r>
              <a:rPr lang="en-US" sz="2290">
                <a:solidFill>
                  <a:srgbClr val="000000"/>
                </a:solidFill>
                <a:latin typeface="Circe"/>
                <a:ea typeface="Circe"/>
                <a:cs typeface="Circe"/>
                <a:sym typeface="Circe"/>
              </a:rPr>
              <a:t> 🔋 Batería interna recargable de litio → hasta 8 h</a:t>
            </a:r>
          </a:p>
          <a:p>
            <a:pPr algn="l">
              <a:lnSpc>
                <a:spcPts val="2748"/>
              </a:lnSpc>
            </a:pPr>
          </a:p>
        </p:txBody>
      </p:sp>
      <p:sp>
        <p:nvSpPr>
          <p:cNvPr name="TextBox 13" id="13"/>
          <p:cNvSpPr txBox="true"/>
          <p:nvPr/>
        </p:nvSpPr>
        <p:spPr>
          <a:xfrm rot="0">
            <a:off x="6501731" y="3396322"/>
            <a:ext cx="6168541" cy="2743200"/>
          </a:xfrm>
          <a:prstGeom prst="rect">
            <a:avLst/>
          </a:prstGeom>
        </p:spPr>
        <p:txBody>
          <a:bodyPr anchor="t" rtlCol="false" tIns="0" lIns="0" bIns="0" rIns="0">
            <a:spAutoFit/>
          </a:bodyPr>
          <a:lstStyle/>
          <a:p>
            <a:pPr algn="just">
              <a:lnSpc>
                <a:spcPts val="2748"/>
              </a:lnSpc>
            </a:pPr>
            <a:r>
              <a:rPr lang="en-US" sz="2290">
                <a:solidFill>
                  <a:srgbClr val="000000"/>
                </a:solidFill>
                <a:latin typeface="Circe"/>
                <a:ea typeface="Circe"/>
                <a:cs typeface="Circe"/>
                <a:sym typeface="Circe"/>
              </a:rPr>
              <a:t>Es una bomba de infusión volumétrica de uso hospitalario, fabricada por Changsha Deepmed Medical Technology Co. La pantalla muestra en tiempo real la velocidad de infusión, el volumen a infundir (VTBI) y la presión de la línea, y el producto cuenta con certificación CE bajo el reglamento europeo de dispositivos médicos (MDR) [14]</a:t>
            </a:r>
          </a:p>
        </p:txBody>
      </p:sp>
      <p:sp>
        <p:nvSpPr>
          <p:cNvPr name="TextBox 14" id="14"/>
          <p:cNvSpPr txBox="true"/>
          <p:nvPr/>
        </p:nvSpPr>
        <p:spPr>
          <a:xfrm rot="0">
            <a:off x="6322615" y="2037543"/>
            <a:ext cx="3323784" cy="878508"/>
          </a:xfrm>
          <a:prstGeom prst="rect">
            <a:avLst/>
          </a:prstGeom>
        </p:spPr>
        <p:txBody>
          <a:bodyPr anchor="t" rtlCol="false" tIns="0" lIns="0" bIns="0" rIns="0">
            <a:spAutoFit/>
          </a:bodyPr>
          <a:lstStyle/>
          <a:p>
            <a:pPr algn="ctr">
              <a:lnSpc>
                <a:spcPts val="3491"/>
              </a:lnSpc>
            </a:pPr>
            <a:r>
              <a:rPr lang="en-US" b="true" sz="3173" u="sng">
                <a:solidFill>
                  <a:srgbClr val="000000"/>
                </a:solidFill>
                <a:latin typeface="Circe Bold"/>
                <a:ea typeface="Circe Bold"/>
                <a:cs typeface="Circe Bold"/>
                <a:sym typeface="Circe Bold"/>
                <a:hlinkClick r:id="rId3" tooltip="https://es.made-in-china.com/co_dpmmed/product_Hospital-Medical-Device-Supply-Fluids-or-Medication-Infusion-Pump_ysuunuugog.html?pv_id=1k2s6o8rl0b8&amp;faw_id=1k2s6o97u7b4&amp;bv_id=1k2s6oagk9d6&amp;pbv_id=1k2s6j4ql399u"/>
              </a:rPr>
              <a:t> BOMBA DE INFUSIÓN CE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sp>
        <p:nvSpPr>
          <p:cNvPr name="AutoShape 2" id="2"/>
          <p:cNvSpPr/>
          <p:nvPr/>
        </p:nvSpPr>
        <p:spPr>
          <a:xfrm rot="0">
            <a:off x="-970562" y="652445"/>
            <a:ext cx="19821877" cy="0"/>
          </a:xfrm>
          <a:prstGeom prst="line">
            <a:avLst/>
          </a:prstGeom>
          <a:ln cap="flat" w="114300">
            <a:solidFill>
              <a:srgbClr val="FFFFFF"/>
            </a:solidFill>
            <a:prstDash val="solid"/>
            <a:headEnd type="none" len="sm" w="sm"/>
            <a:tailEnd type="none" len="sm" w="sm"/>
          </a:ln>
        </p:spPr>
      </p:sp>
      <p:sp>
        <p:nvSpPr>
          <p:cNvPr name="Freeform 3" id="3"/>
          <p:cNvSpPr/>
          <p:nvPr/>
        </p:nvSpPr>
        <p:spPr>
          <a:xfrm flipH="false" flipV="false" rot="0">
            <a:off x="16578450" y="8533032"/>
            <a:ext cx="712262" cy="336706"/>
          </a:xfrm>
          <a:custGeom>
            <a:avLst/>
            <a:gdLst/>
            <a:ahLst/>
            <a:cxnLst/>
            <a:rect r="r" b="b" t="t" l="l"/>
            <a:pathLst>
              <a:path h="336706" w="712262">
                <a:moveTo>
                  <a:pt x="0" y="0"/>
                </a:moveTo>
                <a:lnTo>
                  <a:pt x="712262" y="0"/>
                </a:lnTo>
                <a:lnTo>
                  <a:pt x="712262" y="336705"/>
                </a:lnTo>
                <a:lnTo>
                  <a:pt x="0" y="336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121500" y="4405317"/>
            <a:ext cx="14045000" cy="3619492"/>
          </a:xfrm>
          <a:prstGeom prst="rect">
            <a:avLst/>
          </a:prstGeom>
        </p:spPr>
        <p:txBody>
          <a:bodyPr anchor="t" rtlCol="false" tIns="0" lIns="0" bIns="0" rIns="0">
            <a:spAutoFit/>
          </a:bodyPr>
          <a:lstStyle/>
          <a:p>
            <a:pPr algn="l">
              <a:lnSpc>
                <a:spcPts val="13799"/>
              </a:lnSpc>
            </a:pPr>
            <a:r>
              <a:rPr lang="en-US" sz="14999">
                <a:solidFill>
                  <a:srgbClr val="412D44"/>
                </a:solidFill>
                <a:latin typeface="Circe Contrast"/>
                <a:ea typeface="Circe Contrast"/>
                <a:cs typeface="Circe Contrast"/>
                <a:sym typeface="Circe Contrast"/>
              </a:rPr>
              <a:t>LISTA DE EXIGENCIAS</a:t>
            </a:r>
          </a:p>
        </p:txBody>
      </p:sp>
      <p:sp>
        <p:nvSpPr>
          <p:cNvPr name="AutoShape 5" id="5"/>
          <p:cNvSpPr/>
          <p:nvPr/>
        </p:nvSpPr>
        <p:spPr>
          <a:xfrm rot="0">
            <a:off x="-818960" y="404795"/>
            <a:ext cx="19821877" cy="0"/>
          </a:xfrm>
          <a:prstGeom prst="line">
            <a:avLst/>
          </a:prstGeom>
          <a:ln cap="flat" w="114300">
            <a:solidFill>
              <a:srgbClr val="FFFFFF"/>
            </a:solidFill>
            <a:prstDash val="solid"/>
            <a:headEnd type="none" len="sm" w="sm"/>
            <a:tailEnd type="none" len="sm" w="sm"/>
          </a:ln>
        </p:spPr>
      </p:sp>
      <p:sp>
        <p:nvSpPr>
          <p:cNvPr name="AutoShape 6" id="6"/>
          <p:cNvSpPr/>
          <p:nvPr/>
        </p:nvSpPr>
        <p:spPr>
          <a:xfrm rot="0">
            <a:off x="-574329" y="9672305"/>
            <a:ext cx="19821877" cy="0"/>
          </a:xfrm>
          <a:prstGeom prst="line">
            <a:avLst/>
          </a:prstGeom>
          <a:ln cap="flat" w="114300">
            <a:solidFill>
              <a:srgbClr val="FFFFFF"/>
            </a:solidFill>
            <a:prstDash val="solid"/>
            <a:headEnd type="none" len="sm" w="sm"/>
            <a:tailEnd type="none" len="sm" w="sm"/>
          </a:ln>
        </p:spPr>
      </p:sp>
      <p:sp>
        <p:nvSpPr>
          <p:cNvPr name="AutoShape 7" id="7"/>
          <p:cNvSpPr/>
          <p:nvPr/>
        </p:nvSpPr>
        <p:spPr>
          <a:xfrm rot="0">
            <a:off x="-422728" y="9424655"/>
            <a:ext cx="19821877" cy="0"/>
          </a:xfrm>
          <a:prstGeom prst="line">
            <a:avLst/>
          </a:prstGeom>
          <a:ln cap="flat" w="114300">
            <a:solidFill>
              <a:srgbClr val="FFFFFF"/>
            </a:solidFill>
            <a:prstDash val="solid"/>
            <a:headEnd type="none" len="sm" w="sm"/>
            <a:tailEnd type="none" len="sm" w="sm"/>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8376" y="584699"/>
            <a:ext cx="6386353" cy="6546460"/>
            <a:chOff x="0" y="0"/>
            <a:chExt cx="5907123" cy="6055216"/>
          </a:xfrm>
        </p:grpSpPr>
        <p:sp>
          <p:nvSpPr>
            <p:cNvPr name="Freeform 3" id="3"/>
            <p:cNvSpPr/>
            <p:nvPr/>
          </p:nvSpPr>
          <p:spPr>
            <a:xfrm flipH="false" flipV="false" rot="0">
              <a:off x="0" y="0"/>
              <a:ext cx="5907123" cy="6055216"/>
            </a:xfrm>
            <a:custGeom>
              <a:avLst/>
              <a:gdLst/>
              <a:ahLst/>
              <a:cxnLst/>
              <a:rect r="r" b="b" t="t" l="l"/>
              <a:pathLst>
                <a:path h="6055216" w="5907123">
                  <a:moveTo>
                    <a:pt x="5782663" y="6055216"/>
                  </a:moveTo>
                  <a:lnTo>
                    <a:pt x="124460" y="6055216"/>
                  </a:lnTo>
                  <a:cubicBezTo>
                    <a:pt x="55880" y="6055216"/>
                    <a:pt x="0" y="5999336"/>
                    <a:pt x="0" y="5930755"/>
                  </a:cubicBezTo>
                  <a:lnTo>
                    <a:pt x="0" y="124460"/>
                  </a:lnTo>
                  <a:cubicBezTo>
                    <a:pt x="0" y="55880"/>
                    <a:pt x="55880" y="0"/>
                    <a:pt x="124460" y="0"/>
                  </a:cubicBezTo>
                  <a:lnTo>
                    <a:pt x="5782663" y="0"/>
                  </a:lnTo>
                  <a:cubicBezTo>
                    <a:pt x="5851243" y="0"/>
                    <a:pt x="5907123" y="55880"/>
                    <a:pt x="5907123" y="124460"/>
                  </a:cubicBezTo>
                  <a:lnTo>
                    <a:pt x="5907123" y="5930756"/>
                  </a:lnTo>
                  <a:cubicBezTo>
                    <a:pt x="5907123" y="5999336"/>
                    <a:pt x="5851243" y="6055216"/>
                    <a:pt x="5782663" y="6055216"/>
                  </a:cubicBezTo>
                  <a:close/>
                </a:path>
              </a:pathLst>
            </a:custGeom>
            <a:solidFill>
              <a:srgbClr val="EDA7A7"/>
            </a:solidFill>
          </p:spPr>
        </p:sp>
      </p:grpSp>
      <p:sp>
        <p:nvSpPr>
          <p:cNvPr name="Freeform 4" id="4"/>
          <p:cNvSpPr/>
          <p:nvPr/>
        </p:nvSpPr>
        <p:spPr>
          <a:xfrm flipH="false" flipV="false" rot="-3227623">
            <a:off x="16592986" y="1073344"/>
            <a:ext cx="3315235" cy="2947545"/>
          </a:xfrm>
          <a:custGeom>
            <a:avLst/>
            <a:gdLst/>
            <a:ahLst/>
            <a:cxnLst/>
            <a:rect r="r" b="b" t="t" l="l"/>
            <a:pathLst>
              <a:path h="2947545" w="3315235">
                <a:moveTo>
                  <a:pt x="0" y="0"/>
                </a:moveTo>
                <a:lnTo>
                  <a:pt x="3315235" y="0"/>
                </a:lnTo>
                <a:lnTo>
                  <a:pt x="3315235" y="2947545"/>
                </a:lnTo>
                <a:lnTo>
                  <a:pt x="0" y="29475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7689246">
            <a:off x="-1657617" y="6088825"/>
            <a:ext cx="3315235" cy="2947545"/>
          </a:xfrm>
          <a:custGeom>
            <a:avLst/>
            <a:gdLst/>
            <a:ahLst/>
            <a:cxnLst/>
            <a:rect r="r" b="b" t="t" l="l"/>
            <a:pathLst>
              <a:path h="2947545" w="3315235">
                <a:moveTo>
                  <a:pt x="0" y="0"/>
                </a:moveTo>
                <a:lnTo>
                  <a:pt x="3315234" y="0"/>
                </a:lnTo>
                <a:lnTo>
                  <a:pt x="3315234" y="2947546"/>
                </a:lnTo>
                <a:lnTo>
                  <a:pt x="0" y="2947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038884" y="3230075"/>
            <a:ext cx="6386353" cy="6546460"/>
            <a:chOff x="0" y="0"/>
            <a:chExt cx="5907123" cy="6055216"/>
          </a:xfrm>
        </p:grpSpPr>
        <p:sp>
          <p:nvSpPr>
            <p:cNvPr name="Freeform 7" id="7"/>
            <p:cNvSpPr/>
            <p:nvPr/>
          </p:nvSpPr>
          <p:spPr>
            <a:xfrm flipH="false" flipV="false" rot="0">
              <a:off x="0" y="0"/>
              <a:ext cx="5907123" cy="6055216"/>
            </a:xfrm>
            <a:custGeom>
              <a:avLst/>
              <a:gdLst/>
              <a:ahLst/>
              <a:cxnLst/>
              <a:rect r="r" b="b" t="t" l="l"/>
              <a:pathLst>
                <a:path h="6055216" w="5907123">
                  <a:moveTo>
                    <a:pt x="5782663" y="6055216"/>
                  </a:moveTo>
                  <a:lnTo>
                    <a:pt x="124460" y="6055216"/>
                  </a:lnTo>
                  <a:cubicBezTo>
                    <a:pt x="55880" y="6055216"/>
                    <a:pt x="0" y="5999336"/>
                    <a:pt x="0" y="5930755"/>
                  </a:cubicBezTo>
                  <a:lnTo>
                    <a:pt x="0" y="124460"/>
                  </a:lnTo>
                  <a:cubicBezTo>
                    <a:pt x="0" y="55880"/>
                    <a:pt x="55880" y="0"/>
                    <a:pt x="124460" y="0"/>
                  </a:cubicBezTo>
                  <a:lnTo>
                    <a:pt x="5782663" y="0"/>
                  </a:lnTo>
                  <a:cubicBezTo>
                    <a:pt x="5851243" y="0"/>
                    <a:pt x="5907123" y="55880"/>
                    <a:pt x="5907123" y="124460"/>
                  </a:cubicBezTo>
                  <a:lnTo>
                    <a:pt x="5907123" y="5930756"/>
                  </a:lnTo>
                  <a:cubicBezTo>
                    <a:pt x="5907123" y="5999336"/>
                    <a:pt x="5851243" y="6055216"/>
                    <a:pt x="5782663" y="6055216"/>
                  </a:cubicBezTo>
                  <a:close/>
                </a:path>
              </a:pathLst>
            </a:custGeom>
            <a:solidFill>
              <a:srgbClr val="EDA7A7"/>
            </a:solidFill>
          </p:spPr>
        </p:sp>
      </p:grpSp>
      <p:sp>
        <p:nvSpPr>
          <p:cNvPr name="Freeform 8" id="8"/>
          <p:cNvSpPr/>
          <p:nvPr/>
        </p:nvSpPr>
        <p:spPr>
          <a:xfrm flipH="false" flipV="false" rot="0">
            <a:off x="3918160" y="143468"/>
            <a:ext cx="10451680" cy="10000064"/>
          </a:xfrm>
          <a:custGeom>
            <a:avLst/>
            <a:gdLst/>
            <a:ahLst/>
            <a:cxnLst/>
            <a:rect r="r" b="b" t="t" l="l"/>
            <a:pathLst>
              <a:path h="10000064" w="10451680">
                <a:moveTo>
                  <a:pt x="0" y="0"/>
                </a:moveTo>
                <a:lnTo>
                  <a:pt x="10451680" y="0"/>
                </a:lnTo>
                <a:lnTo>
                  <a:pt x="10451680" y="10000064"/>
                </a:lnTo>
                <a:lnTo>
                  <a:pt x="0" y="10000064"/>
                </a:lnTo>
                <a:lnTo>
                  <a:pt x="0" y="0"/>
                </a:lnTo>
                <a:close/>
              </a:path>
            </a:pathLst>
          </a:custGeom>
          <a:blipFill>
            <a:blip r:embed="rId4"/>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8376" y="584699"/>
            <a:ext cx="6386353" cy="6546460"/>
            <a:chOff x="0" y="0"/>
            <a:chExt cx="5907123" cy="6055216"/>
          </a:xfrm>
        </p:grpSpPr>
        <p:sp>
          <p:nvSpPr>
            <p:cNvPr name="Freeform 3" id="3"/>
            <p:cNvSpPr/>
            <p:nvPr/>
          </p:nvSpPr>
          <p:spPr>
            <a:xfrm flipH="false" flipV="false" rot="0">
              <a:off x="0" y="0"/>
              <a:ext cx="5907123" cy="6055216"/>
            </a:xfrm>
            <a:custGeom>
              <a:avLst/>
              <a:gdLst/>
              <a:ahLst/>
              <a:cxnLst/>
              <a:rect r="r" b="b" t="t" l="l"/>
              <a:pathLst>
                <a:path h="6055216" w="5907123">
                  <a:moveTo>
                    <a:pt x="5782663" y="6055216"/>
                  </a:moveTo>
                  <a:lnTo>
                    <a:pt x="124460" y="6055216"/>
                  </a:lnTo>
                  <a:cubicBezTo>
                    <a:pt x="55880" y="6055216"/>
                    <a:pt x="0" y="5999336"/>
                    <a:pt x="0" y="5930755"/>
                  </a:cubicBezTo>
                  <a:lnTo>
                    <a:pt x="0" y="124460"/>
                  </a:lnTo>
                  <a:cubicBezTo>
                    <a:pt x="0" y="55880"/>
                    <a:pt x="55880" y="0"/>
                    <a:pt x="124460" y="0"/>
                  </a:cubicBezTo>
                  <a:lnTo>
                    <a:pt x="5782663" y="0"/>
                  </a:lnTo>
                  <a:cubicBezTo>
                    <a:pt x="5851243" y="0"/>
                    <a:pt x="5907123" y="55880"/>
                    <a:pt x="5907123" y="124460"/>
                  </a:cubicBezTo>
                  <a:lnTo>
                    <a:pt x="5907123" y="5930756"/>
                  </a:lnTo>
                  <a:cubicBezTo>
                    <a:pt x="5907123" y="5999336"/>
                    <a:pt x="5851243" y="6055216"/>
                    <a:pt x="5782663" y="6055216"/>
                  </a:cubicBezTo>
                  <a:close/>
                </a:path>
              </a:pathLst>
            </a:custGeom>
            <a:solidFill>
              <a:srgbClr val="EDA7A7"/>
            </a:solidFill>
          </p:spPr>
        </p:sp>
      </p:grpSp>
      <p:sp>
        <p:nvSpPr>
          <p:cNvPr name="Freeform 4" id="4"/>
          <p:cNvSpPr/>
          <p:nvPr/>
        </p:nvSpPr>
        <p:spPr>
          <a:xfrm flipH="false" flipV="false" rot="-3227623">
            <a:off x="16592986" y="1073344"/>
            <a:ext cx="3315235" cy="2947545"/>
          </a:xfrm>
          <a:custGeom>
            <a:avLst/>
            <a:gdLst/>
            <a:ahLst/>
            <a:cxnLst/>
            <a:rect r="r" b="b" t="t" l="l"/>
            <a:pathLst>
              <a:path h="2947545" w="3315235">
                <a:moveTo>
                  <a:pt x="0" y="0"/>
                </a:moveTo>
                <a:lnTo>
                  <a:pt x="3315235" y="0"/>
                </a:lnTo>
                <a:lnTo>
                  <a:pt x="3315235" y="2947545"/>
                </a:lnTo>
                <a:lnTo>
                  <a:pt x="0" y="29475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7689246">
            <a:off x="-1657617" y="6088825"/>
            <a:ext cx="3315235" cy="2947545"/>
          </a:xfrm>
          <a:custGeom>
            <a:avLst/>
            <a:gdLst/>
            <a:ahLst/>
            <a:cxnLst/>
            <a:rect r="r" b="b" t="t" l="l"/>
            <a:pathLst>
              <a:path h="2947545" w="3315235">
                <a:moveTo>
                  <a:pt x="0" y="0"/>
                </a:moveTo>
                <a:lnTo>
                  <a:pt x="3315234" y="0"/>
                </a:lnTo>
                <a:lnTo>
                  <a:pt x="3315234" y="2947546"/>
                </a:lnTo>
                <a:lnTo>
                  <a:pt x="0" y="2947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038884" y="3230075"/>
            <a:ext cx="6386353" cy="6546460"/>
            <a:chOff x="0" y="0"/>
            <a:chExt cx="5907123" cy="6055216"/>
          </a:xfrm>
        </p:grpSpPr>
        <p:sp>
          <p:nvSpPr>
            <p:cNvPr name="Freeform 7" id="7"/>
            <p:cNvSpPr/>
            <p:nvPr/>
          </p:nvSpPr>
          <p:spPr>
            <a:xfrm flipH="false" flipV="false" rot="0">
              <a:off x="0" y="0"/>
              <a:ext cx="5907123" cy="6055216"/>
            </a:xfrm>
            <a:custGeom>
              <a:avLst/>
              <a:gdLst/>
              <a:ahLst/>
              <a:cxnLst/>
              <a:rect r="r" b="b" t="t" l="l"/>
              <a:pathLst>
                <a:path h="6055216" w="5907123">
                  <a:moveTo>
                    <a:pt x="5782663" y="6055216"/>
                  </a:moveTo>
                  <a:lnTo>
                    <a:pt x="124460" y="6055216"/>
                  </a:lnTo>
                  <a:cubicBezTo>
                    <a:pt x="55880" y="6055216"/>
                    <a:pt x="0" y="5999336"/>
                    <a:pt x="0" y="5930755"/>
                  </a:cubicBezTo>
                  <a:lnTo>
                    <a:pt x="0" y="124460"/>
                  </a:lnTo>
                  <a:cubicBezTo>
                    <a:pt x="0" y="55880"/>
                    <a:pt x="55880" y="0"/>
                    <a:pt x="124460" y="0"/>
                  </a:cubicBezTo>
                  <a:lnTo>
                    <a:pt x="5782663" y="0"/>
                  </a:lnTo>
                  <a:cubicBezTo>
                    <a:pt x="5851243" y="0"/>
                    <a:pt x="5907123" y="55880"/>
                    <a:pt x="5907123" y="124460"/>
                  </a:cubicBezTo>
                  <a:lnTo>
                    <a:pt x="5907123" y="5930756"/>
                  </a:lnTo>
                  <a:cubicBezTo>
                    <a:pt x="5907123" y="5999336"/>
                    <a:pt x="5851243" y="6055216"/>
                    <a:pt x="5782663" y="6055216"/>
                  </a:cubicBezTo>
                  <a:close/>
                </a:path>
              </a:pathLst>
            </a:custGeom>
            <a:solidFill>
              <a:srgbClr val="EDA7A7"/>
            </a:solidFill>
          </p:spPr>
        </p:sp>
      </p:grpSp>
      <p:sp>
        <p:nvSpPr>
          <p:cNvPr name="Freeform 8" id="8"/>
          <p:cNvSpPr/>
          <p:nvPr/>
        </p:nvSpPr>
        <p:spPr>
          <a:xfrm flipH="false" flipV="false" rot="0">
            <a:off x="3912565" y="153107"/>
            <a:ext cx="10462870" cy="9980785"/>
          </a:xfrm>
          <a:custGeom>
            <a:avLst/>
            <a:gdLst/>
            <a:ahLst/>
            <a:cxnLst/>
            <a:rect r="r" b="b" t="t" l="l"/>
            <a:pathLst>
              <a:path h="9980785" w="10462870">
                <a:moveTo>
                  <a:pt x="0" y="0"/>
                </a:moveTo>
                <a:lnTo>
                  <a:pt x="10462870" y="0"/>
                </a:lnTo>
                <a:lnTo>
                  <a:pt x="10462870" y="9980786"/>
                </a:lnTo>
                <a:lnTo>
                  <a:pt x="0" y="9980786"/>
                </a:lnTo>
                <a:lnTo>
                  <a:pt x="0" y="0"/>
                </a:lnTo>
                <a:close/>
              </a:path>
            </a:pathLst>
          </a:custGeom>
          <a:blipFill>
            <a:blip r:embed="rId4"/>
            <a:stretch>
              <a:fillRect l="0" t="0" r="0" b="-19345"/>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8376" y="584699"/>
            <a:ext cx="6386353" cy="6546460"/>
            <a:chOff x="0" y="0"/>
            <a:chExt cx="5907123" cy="6055216"/>
          </a:xfrm>
        </p:grpSpPr>
        <p:sp>
          <p:nvSpPr>
            <p:cNvPr name="Freeform 3" id="3"/>
            <p:cNvSpPr/>
            <p:nvPr/>
          </p:nvSpPr>
          <p:spPr>
            <a:xfrm flipH="false" flipV="false" rot="0">
              <a:off x="0" y="0"/>
              <a:ext cx="5907123" cy="6055216"/>
            </a:xfrm>
            <a:custGeom>
              <a:avLst/>
              <a:gdLst/>
              <a:ahLst/>
              <a:cxnLst/>
              <a:rect r="r" b="b" t="t" l="l"/>
              <a:pathLst>
                <a:path h="6055216" w="5907123">
                  <a:moveTo>
                    <a:pt x="5782663" y="6055216"/>
                  </a:moveTo>
                  <a:lnTo>
                    <a:pt x="124460" y="6055216"/>
                  </a:lnTo>
                  <a:cubicBezTo>
                    <a:pt x="55880" y="6055216"/>
                    <a:pt x="0" y="5999336"/>
                    <a:pt x="0" y="5930755"/>
                  </a:cubicBezTo>
                  <a:lnTo>
                    <a:pt x="0" y="124460"/>
                  </a:lnTo>
                  <a:cubicBezTo>
                    <a:pt x="0" y="55880"/>
                    <a:pt x="55880" y="0"/>
                    <a:pt x="124460" y="0"/>
                  </a:cubicBezTo>
                  <a:lnTo>
                    <a:pt x="5782663" y="0"/>
                  </a:lnTo>
                  <a:cubicBezTo>
                    <a:pt x="5851243" y="0"/>
                    <a:pt x="5907123" y="55880"/>
                    <a:pt x="5907123" y="124460"/>
                  </a:cubicBezTo>
                  <a:lnTo>
                    <a:pt x="5907123" y="5930756"/>
                  </a:lnTo>
                  <a:cubicBezTo>
                    <a:pt x="5907123" y="5999336"/>
                    <a:pt x="5851243" y="6055216"/>
                    <a:pt x="5782663" y="6055216"/>
                  </a:cubicBezTo>
                  <a:close/>
                </a:path>
              </a:pathLst>
            </a:custGeom>
            <a:solidFill>
              <a:srgbClr val="EDA7A7"/>
            </a:solidFill>
          </p:spPr>
        </p:sp>
      </p:grpSp>
      <p:sp>
        <p:nvSpPr>
          <p:cNvPr name="Freeform 4" id="4"/>
          <p:cNvSpPr/>
          <p:nvPr/>
        </p:nvSpPr>
        <p:spPr>
          <a:xfrm flipH="false" flipV="false" rot="-3227623">
            <a:off x="16592986" y="1073344"/>
            <a:ext cx="3315235" cy="2947545"/>
          </a:xfrm>
          <a:custGeom>
            <a:avLst/>
            <a:gdLst/>
            <a:ahLst/>
            <a:cxnLst/>
            <a:rect r="r" b="b" t="t" l="l"/>
            <a:pathLst>
              <a:path h="2947545" w="3315235">
                <a:moveTo>
                  <a:pt x="0" y="0"/>
                </a:moveTo>
                <a:lnTo>
                  <a:pt x="3315235" y="0"/>
                </a:lnTo>
                <a:lnTo>
                  <a:pt x="3315235" y="2947545"/>
                </a:lnTo>
                <a:lnTo>
                  <a:pt x="0" y="29475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7689246">
            <a:off x="-1657617" y="6088825"/>
            <a:ext cx="3315235" cy="2947545"/>
          </a:xfrm>
          <a:custGeom>
            <a:avLst/>
            <a:gdLst/>
            <a:ahLst/>
            <a:cxnLst/>
            <a:rect r="r" b="b" t="t" l="l"/>
            <a:pathLst>
              <a:path h="2947545" w="3315235">
                <a:moveTo>
                  <a:pt x="0" y="0"/>
                </a:moveTo>
                <a:lnTo>
                  <a:pt x="3315234" y="0"/>
                </a:lnTo>
                <a:lnTo>
                  <a:pt x="3315234" y="2947546"/>
                </a:lnTo>
                <a:lnTo>
                  <a:pt x="0" y="2947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038884" y="3230075"/>
            <a:ext cx="6386353" cy="6546460"/>
            <a:chOff x="0" y="0"/>
            <a:chExt cx="5907123" cy="6055216"/>
          </a:xfrm>
        </p:grpSpPr>
        <p:sp>
          <p:nvSpPr>
            <p:cNvPr name="Freeform 7" id="7"/>
            <p:cNvSpPr/>
            <p:nvPr/>
          </p:nvSpPr>
          <p:spPr>
            <a:xfrm flipH="false" flipV="false" rot="0">
              <a:off x="0" y="0"/>
              <a:ext cx="5907123" cy="6055216"/>
            </a:xfrm>
            <a:custGeom>
              <a:avLst/>
              <a:gdLst/>
              <a:ahLst/>
              <a:cxnLst/>
              <a:rect r="r" b="b" t="t" l="l"/>
              <a:pathLst>
                <a:path h="6055216" w="5907123">
                  <a:moveTo>
                    <a:pt x="5782663" y="6055216"/>
                  </a:moveTo>
                  <a:lnTo>
                    <a:pt x="124460" y="6055216"/>
                  </a:lnTo>
                  <a:cubicBezTo>
                    <a:pt x="55880" y="6055216"/>
                    <a:pt x="0" y="5999336"/>
                    <a:pt x="0" y="5930755"/>
                  </a:cubicBezTo>
                  <a:lnTo>
                    <a:pt x="0" y="124460"/>
                  </a:lnTo>
                  <a:cubicBezTo>
                    <a:pt x="0" y="55880"/>
                    <a:pt x="55880" y="0"/>
                    <a:pt x="124460" y="0"/>
                  </a:cubicBezTo>
                  <a:lnTo>
                    <a:pt x="5782663" y="0"/>
                  </a:lnTo>
                  <a:cubicBezTo>
                    <a:pt x="5851243" y="0"/>
                    <a:pt x="5907123" y="55880"/>
                    <a:pt x="5907123" y="124460"/>
                  </a:cubicBezTo>
                  <a:lnTo>
                    <a:pt x="5907123" y="5930756"/>
                  </a:lnTo>
                  <a:cubicBezTo>
                    <a:pt x="5907123" y="5999336"/>
                    <a:pt x="5851243" y="6055216"/>
                    <a:pt x="5782663" y="6055216"/>
                  </a:cubicBezTo>
                  <a:close/>
                </a:path>
              </a:pathLst>
            </a:custGeom>
            <a:solidFill>
              <a:srgbClr val="EDA7A7"/>
            </a:solidFill>
          </p:spPr>
        </p:sp>
      </p:grpSp>
      <p:sp>
        <p:nvSpPr>
          <p:cNvPr name="Freeform 8" id="8"/>
          <p:cNvSpPr/>
          <p:nvPr/>
        </p:nvSpPr>
        <p:spPr>
          <a:xfrm flipH="false" flipV="false" rot="0">
            <a:off x="4747580" y="136280"/>
            <a:ext cx="8792839" cy="10014440"/>
          </a:xfrm>
          <a:custGeom>
            <a:avLst/>
            <a:gdLst/>
            <a:ahLst/>
            <a:cxnLst/>
            <a:rect r="r" b="b" t="t" l="l"/>
            <a:pathLst>
              <a:path h="10014440" w="8792839">
                <a:moveTo>
                  <a:pt x="0" y="0"/>
                </a:moveTo>
                <a:lnTo>
                  <a:pt x="8792840" y="0"/>
                </a:lnTo>
                <a:lnTo>
                  <a:pt x="8792840" y="10014440"/>
                </a:lnTo>
                <a:lnTo>
                  <a:pt x="0" y="10014440"/>
                </a:lnTo>
                <a:lnTo>
                  <a:pt x="0" y="0"/>
                </a:lnTo>
                <a:close/>
              </a:path>
            </a:pathLst>
          </a:custGeom>
          <a:blipFill>
            <a:blip r:embed="rId4"/>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8376" y="584699"/>
            <a:ext cx="6386353" cy="6546460"/>
            <a:chOff x="0" y="0"/>
            <a:chExt cx="5907123" cy="6055216"/>
          </a:xfrm>
        </p:grpSpPr>
        <p:sp>
          <p:nvSpPr>
            <p:cNvPr name="Freeform 3" id="3"/>
            <p:cNvSpPr/>
            <p:nvPr/>
          </p:nvSpPr>
          <p:spPr>
            <a:xfrm flipH="false" flipV="false" rot="0">
              <a:off x="0" y="0"/>
              <a:ext cx="5907123" cy="6055216"/>
            </a:xfrm>
            <a:custGeom>
              <a:avLst/>
              <a:gdLst/>
              <a:ahLst/>
              <a:cxnLst/>
              <a:rect r="r" b="b" t="t" l="l"/>
              <a:pathLst>
                <a:path h="6055216" w="5907123">
                  <a:moveTo>
                    <a:pt x="5782663" y="6055216"/>
                  </a:moveTo>
                  <a:lnTo>
                    <a:pt x="124460" y="6055216"/>
                  </a:lnTo>
                  <a:cubicBezTo>
                    <a:pt x="55880" y="6055216"/>
                    <a:pt x="0" y="5999336"/>
                    <a:pt x="0" y="5930755"/>
                  </a:cubicBezTo>
                  <a:lnTo>
                    <a:pt x="0" y="124460"/>
                  </a:lnTo>
                  <a:cubicBezTo>
                    <a:pt x="0" y="55880"/>
                    <a:pt x="55880" y="0"/>
                    <a:pt x="124460" y="0"/>
                  </a:cubicBezTo>
                  <a:lnTo>
                    <a:pt x="5782663" y="0"/>
                  </a:lnTo>
                  <a:cubicBezTo>
                    <a:pt x="5851243" y="0"/>
                    <a:pt x="5907123" y="55880"/>
                    <a:pt x="5907123" y="124460"/>
                  </a:cubicBezTo>
                  <a:lnTo>
                    <a:pt x="5907123" y="5930756"/>
                  </a:lnTo>
                  <a:cubicBezTo>
                    <a:pt x="5907123" y="5999336"/>
                    <a:pt x="5851243" y="6055216"/>
                    <a:pt x="5782663" y="6055216"/>
                  </a:cubicBezTo>
                  <a:close/>
                </a:path>
              </a:pathLst>
            </a:custGeom>
            <a:solidFill>
              <a:srgbClr val="EDA7A7"/>
            </a:solidFill>
          </p:spPr>
        </p:sp>
      </p:grpSp>
      <p:sp>
        <p:nvSpPr>
          <p:cNvPr name="Freeform 4" id="4"/>
          <p:cNvSpPr/>
          <p:nvPr/>
        </p:nvSpPr>
        <p:spPr>
          <a:xfrm flipH="false" flipV="false" rot="-3227623">
            <a:off x="16592986" y="1073344"/>
            <a:ext cx="3315235" cy="2947545"/>
          </a:xfrm>
          <a:custGeom>
            <a:avLst/>
            <a:gdLst/>
            <a:ahLst/>
            <a:cxnLst/>
            <a:rect r="r" b="b" t="t" l="l"/>
            <a:pathLst>
              <a:path h="2947545" w="3315235">
                <a:moveTo>
                  <a:pt x="0" y="0"/>
                </a:moveTo>
                <a:lnTo>
                  <a:pt x="3315235" y="0"/>
                </a:lnTo>
                <a:lnTo>
                  <a:pt x="3315235" y="2947545"/>
                </a:lnTo>
                <a:lnTo>
                  <a:pt x="0" y="29475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7689246">
            <a:off x="-1657617" y="6088825"/>
            <a:ext cx="3315235" cy="2947545"/>
          </a:xfrm>
          <a:custGeom>
            <a:avLst/>
            <a:gdLst/>
            <a:ahLst/>
            <a:cxnLst/>
            <a:rect r="r" b="b" t="t" l="l"/>
            <a:pathLst>
              <a:path h="2947545" w="3315235">
                <a:moveTo>
                  <a:pt x="0" y="0"/>
                </a:moveTo>
                <a:lnTo>
                  <a:pt x="3315234" y="0"/>
                </a:lnTo>
                <a:lnTo>
                  <a:pt x="3315234" y="2947546"/>
                </a:lnTo>
                <a:lnTo>
                  <a:pt x="0" y="2947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038884" y="3230075"/>
            <a:ext cx="6386353" cy="6546460"/>
            <a:chOff x="0" y="0"/>
            <a:chExt cx="5907123" cy="6055216"/>
          </a:xfrm>
        </p:grpSpPr>
        <p:sp>
          <p:nvSpPr>
            <p:cNvPr name="Freeform 7" id="7"/>
            <p:cNvSpPr/>
            <p:nvPr/>
          </p:nvSpPr>
          <p:spPr>
            <a:xfrm flipH="false" flipV="false" rot="0">
              <a:off x="0" y="0"/>
              <a:ext cx="5907123" cy="6055216"/>
            </a:xfrm>
            <a:custGeom>
              <a:avLst/>
              <a:gdLst/>
              <a:ahLst/>
              <a:cxnLst/>
              <a:rect r="r" b="b" t="t" l="l"/>
              <a:pathLst>
                <a:path h="6055216" w="5907123">
                  <a:moveTo>
                    <a:pt x="5782663" y="6055216"/>
                  </a:moveTo>
                  <a:lnTo>
                    <a:pt x="124460" y="6055216"/>
                  </a:lnTo>
                  <a:cubicBezTo>
                    <a:pt x="55880" y="6055216"/>
                    <a:pt x="0" y="5999336"/>
                    <a:pt x="0" y="5930755"/>
                  </a:cubicBezTo>
                  <a:lnTo>
                    <a:pt x="0" y="124460"/>
                  </a:lnTo>
                  <a:cubicBezTo>
                    <a:pt x="0" y="55880"/>
                    <a:pt x="55880" y="0"/>
                    <a:pt x="124460" y="0"/>
                  </a:cubicBezTo>
                  <a:lnTo>
                    <a:pt x="5782663" y="0"/>
                  </a:lnTo>
                  <a:cubicBezTo>
                    <a:pt x="5851243" y="0"/>
                    <a:pt x="5907123" y="55880"/>
                    <a:pt x="5907123" y="124460"/>
                  </a:cubicBezTo>
                  <a:lnTo>
                    <a:pt x="5907123" y="5930756"/>
                  </a:lnTo>
                  <a:cubicBezTo>
                    <a:pt x="5907123" y="5999336"/>
                    <a:pt x="5851243" y="6055216"/>
                    <a:pt x="5782663" y="6055216"/>
                  </a:cubicBezTo>
                  <a:close/>
                </a:path>
              </a:pathLst>
            </a:custGeom>
            <a:solidFill>
              <a:srgbClr val="EDA7A7"/>
            </a:solidFill>
          </p:spPr>
        </p:sp>
      </p:grpSp>
      <p:sp>
        <p:nvSpPr>
          <p:cNvPr name="Freeform 8" id="8"/>
          <p:cNvSpPr/>
          <p:nvPr/>
        </p:nvSpPr>
        <p:spPr>
          <a:xfrm flipH="false" flipV="false" rot="0">
            <a:off x="3848106" y="1605972"/>
            <a:ext cx="10591789" cy="7075055"/>
          </a:xfrm>
          <a:custGeom>
            <a:avLst/>
            <a:gdLst/>
            <a:ahLst/>
            <a:cxnLst/>
            <a:rect r="r" b="b" t="t" l="l"/>
            <a:pathLst>
              <a:path h="7075055" w="10591789">
                <a:moveTo>
                  <a:pt x="0" y="0"/>
                </a:moveTo>
                <a:lnTo>
                  <a:pt x="10591788" y="0"/>
                </a:lnTo>
                <a:lnTo>
                  <a:pt x="10591788" y="7075056"/>
                </a:lnTo>
                <a:lnTo>
                  <a:pt x="0" y="7075056"/>
                </a:lnTo>
                <a:lnTo>
                  <a:pt x="0" y="0"/>
                </a:lnTo>
                <a:close/>
              </a:path>
            </a:pathLst>
          </a:custGeom>
          <a:blipFill>
            <a:blip r:embed="rId4"/>
            <a:stretch>
              <a:fillRect l="0" t="0" r="0" b="-63036"/>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8376" y="584699"/>
            <a:ext cx="6386353" cy="6546460"/>
            <a:chOff x="0" y="0"/>
            <a:chExt cx="5907123" cy="6055216"/>
          </a:xfrm>
        </p:grpSpPr>
        <p:sp>
          <p:nvSpPr>
            <p:cNvPr name="Freeform 3" id="3"/>
            <p:cNvSpPr/>
            <p:nvPr/>
          </p:nvSpPr>
          <p:spPr>
            <a:xfrm flipH="false" flipV="false" rot="0">
              <a:off x="0" y="0"/>
              <a:ext cx="5907123" cy="6055216"/>
            </a:xfrm>
            <a:custGeom>
              <a:avLst/>
              <a:gdLst/>
              <a:ahLst/>
              <a:cxnLst/>
              <a:rect r="r" b="b" t="t" l="l"/>
              <a:pathLst>
                <a:path h="6055216" w="5907123">
                  <a:moveTo>
                    <a:pt x="5782663" y="6055216"/>
                  </a:moveTo>
                  <a:lnTo>
                    <a:pt x="124460" y="6055216"/>
                  </a:lnTo>
                  <a:cubicBezTo>
                    <a:pt x="55880" y="6055216"/>
                    <a:pt x="0" y="5999336"/>
                    <a:pt x="0" y="5930755"/>
                  </a:cubicBezTo>
                  <a:lnTo>
                    <a:pt x="0" y="124460"/>
                  </a:lnTo>
                  <a:cubicBezTo>
                    <a:pt x="0" y="55880"/>
                    <a:pt x="55880" y="0"/>
                    <a:pt x="124460" y="0"/>
                  </a:cubicBezTo>
                  <a:lnTo>
                    <a:pt x="5782663" y="0"/>
                  </a:lnTo>
                  <a:cubicBezTo>
                    <a:pt x="5851243" y="0"/>
                    <a:pt x="5907123" y="55880"/>
                    <a:pt x="5907123" y="124460"/>
                  </a:cubicBezTo>
                  <a:lnTo>
                    <a:pt x="5907123" y="5930756"/>
                  </a:lnTo>
                  <a:cubicBezTo>
                    <a:pt x="5907123" y="5999336"/>
                    <a:pt x="5851243" y="6055216"/>
                    <a:pt x="5782663" y="6055216"/>
                  </a:cubicBezTo>
                  <a:close/>
                </a:path>
              </a:pathLst>
            </a:custGeom>
            <a:solidFill>
              <a:srgbClr val="EDA7A7"/>
            </a:solidFill>
          </p:spPr>
        </p:sp>
      </p:grpSp>
      <p:sp>
        <p:nvSpPr>
          <p:cNvPr name="Freeform 4" id="4"/>
          <p:cNvSpPr/>
          <p:nvPr/>
        </p:nvSpPr>
        <p:spPr>
          <a:xfrm flipH="false" flipV="false" rot="-3227623">
            <a:off x="16592986" y="1073344"/>
            <a:ext cx="3315235" cy="2947545"/>
          </a:xfrm>
          <a:custGeom>
            <a:avLst/>
            <a:gdLst/>
            <a:ahLst/>
            <a:cxnLst/>
            <a:rect r="r" b="b" t="t" l="l"/>
            <a:pathLst>
              <a:path h="2947545" w="3315235">
                <a:moveTo>
                  <a:pt x="0" y="0"/>
                </a:moveTo>
                <a:lnTo>
                  <a:pt x="3315235" y="0"/>
                </a:lnTo>
                <a:lnTo>
                  <a:pt x="3315235" y="2947545"/>
                </a:lnTo>
                <a:lnTo>
                  <a:pt x="0" y="29475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7689246">
            <a:off x="-1657617" y="6088825"/>
            <a:ext cx="3315235" cy="2947545"/>
          </a:xfrm>
          <a:custGeom>
            <a:avLst/>
            <a:gdLst/>
            <a:ahLst/>
            <a:cxnLst/>
            <a:rect r="r" b="b" t="t" l="l"/>
            <a:pathLst>
              <a:path h="2947545" w="3315235">
                <a:moveTo>
                  <a:pt x="0" y="0"/>
                </a:moveTo>
                <a:lnTo>
                  <a:pt x="3315234" y="0"/>
                </a:lnTo>
                <a:lnTo>
                  <a:pt x="3315234" y="2947546"/>
                </a:lnTo>
                <a:lnTo>
                  <a:pt x="0" y="2947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504186" y="3020746"/>
            <a:ext cx="6386353" cy="6546460"/>
            <a:chOff x="0" y="0"/>
            <a:chExt cx="5907123" cy="6055216"/>
          </a:xfrm>
        </p:grpSpPr>
        <p:sp>
          <p:nvSpPr>
            <p:cNvPr name="Freeform 7" id="7"/>
            <p:cNvSpPr/>
            <p:nvPr/>
          </p:nvSpPr>
          <p:spPr>
            <a:xfrm flipH="false" flipV="false" rot="0">
              <a:off x="0" y="0"/>
              <a:ext cx="5907123" cy="6055216"/>
            </a:xfrm>
            <a:custGeom>
              <a:avLst/>
              <a:gdLst/>
              <a:ahLst/>
              <a:cxnLst/>
              <a:rect r="r" b="b" t="t" l="l"/>
              <a:pathLst>
                <a:path h="6055216" w="5907123">
                  <a:moveTo>
                    <a:pt x="5782663" y="6055216"/>
                  </a:moveTo>
                  <a:lnTo>
                    <a:pt x="124460" y="6055216"/>
                  </a:lnTo>
                  <a:cubicBezTo>
                    <a:pt x="55880" y="6055216"/>
                    <a:pt x="0" y="5999336"/>
                    <a:pt x="0" y="5930755"/>
                  </a:cubicBezTo>
                  <a:lnTo>
                    <a:pt x="0" y="124460"/>
                  </a:lnTo>
                  <a:cubicBezTo>
                    <a:pt x="0" y="55880"/>
                    <a:pt x="55880" y="0"/>
                    <a:pt x="124460" y="0"/>
                  </a:cubicBezTo>
                  <a:lnTo>
                    <a:pt x="5782663" y="0"/>
                  </a:lnTo>
                  <a:cubicBezTo>
                    <a:pt x="5851243" y="0"/>
                    <a:pt x="5907123" y="55880"/>
                    <a:pt x="5907123" y="124460"/>
                  </a:cubicBezTo>
                  <a:lnTo>
                    <a:pt x="5907123" y="5930756"/>
                  </a:lnTo>
                  <a:cubicBezTo>
                    <a:pt x="5907123" y="5999336"/>
                    <a:pt x="5851243" y="6055216"/>
                    <a:pt x="5782663" y="6055216"/>
                  </a:cubicBezTo>
                  <a:close/>
                </a:path>
              </a:pathLst>
            </a:custGeom>
            <a:solidFill>
              <a:srgbClr val="EDA7A7"/>
            </a:solidFill>
          </p:spPr>
        </p:sp>
      </p:grpSp>
      <p:sp>
        <p:nvSpPr>
          <p:cNvPr name="Freeform 8" id="8"/>
          <p:cNvSpPr/>
          <p:nvPr/>
        </p:nvSpPr>
        <p:spPr>
          <a:xfrm flipH="false" flipV="false" rot="0">
            <a:off x="3440237" y="832758"/>
            <a:ext cx="11407525" cy="8621483"/>
          </a:xfrm>
          <a:custGeom>
            <a:avLst/>
            <a:gdLst/>
            <a:ahLst/>
            <a:cxnLst/>
            <a:rect r="r" b="b" t="t" l="l"/>
            <a:pathLst>
              <a:path h="8621483" w="11407525">
                <a:moveTo>
                  <a:pt x="0" y="0"/>
                </a:moveTo>
                <a:lnTo>
                  <a:pt x="11407526" y="0"/>
                </a:lnTo>
                <a:lnTo>
                  <a:pt x="11407526" y="8621484"/>
                </a:lnTo>
                <a:lnTo>
                  <a:pt x="0" y="8621484"/>
                </a:lnTo>
                <a:lnTo>
                  <a:pt x="0" y="0"/>
                </a:lnTo>
                <a:close/>
              </a:path>
            </a:pathLst>
          </a:custGeom>
          <a:blipFill>
            <a:blip r:embed="rId4"/>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sp>
        <p:nvSpPr>
          <p:cNvPr name="AutoShape 2" id="2"/>
          <p:cNvSpPr/>
          <p:nvPr/>
        </p:nvSpPr>
        <p:spPr>
          <a:xfrm rot="0">
            <a:off x="-970562" y="652445"/>
            <a:ext cx="19821877" cy="0"/>
          </a:xfrm>
          <a:prstGeom prst="line">
            <a:avLst/>
          </a:prstGeom>
          <a:ln cap="flat" w="114300">
            <a:solidFill>
              <a:srgbClr val="FFFFFF"/>
            </a:solidFill>
            <a:prstDash val="solid"/>
            <a:headEnd type="none" len="sm" w="sm"/>
            <a:tailEnd type="none" len="sm" w="sm"/>
          </a:ln>
        </p:spPr>
      </p:sp>
      <p:sp>
        <p:nvSpPr>
          <p:cNvPr name="Freeform 3" id="3"/>
          <p:cNvSpPr/>
          <p:nvPr/>
        </p:nvSpPr>
        <p:spPr>
          <a:xfrm flipH="false" flipV="false" rot="0">
            <a:off x="16578450" y="8533032"/>
            <a:ext cx="712262" cy="336706"/>
          </a:xfrm>
          <a:custGeom>
            <a:avLst/>
            <a:gdLst/>
            <a:ahLst/>
            <a:cxnLst/>
            <a:rect r="r" b="b" t="t" l="l"/>
            <a:pathLst>
              <a:path h="336706" w="712262">
                <a:moveTo>
                  <a:pt x="0" y="0"/>
                </a:moveTo>
                <a:lnTo>
                  <a:pt x="712262" y="0"/>
                </a:lnTo>
                <a:lnTo>
                  <a:pt x="712262" y="336705"/>
                </a:lnTo>
                <a:lnTo>
                  <a:pt x="0" y="336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121500" y="4405317"/>
            <a:ext cx="14045000" cy="3619492"/>
          </a:xfrm>
          <a:prstGeom prst="rect">
            <a:avLst/>
          </a:prstGeom>
        </p:spPr>
        <p:txBody>
          <a:bodyPr anchor="t" rtlCol="false" tIns="0" lIns="0" bIns="0" rIns="0">
            <a:spAutoFit/>
          </a:bodyPr>
          <a:lstStyle/>
          <a:p>
            <a:pPr algn="l">
              <a:lnSpc>
                <a:spcPts val="13799"/>
              </a:lnSpc>
            </a:pPr>
            <a:r>
              <a:rPr lang="en-US" sz="14999">
                <a:solidFill>
                  <a:srgbClr val="412D44"/>
                </a:solidFill>
                <a:latin typeface="Circe Contrast"/>
                <a:ea typeface="Circe Contrast"/>
                <a:cs typeface="Circe Contrast"/>
                <a:sym typeface="Circe Contrast"/>
              </a:rPr>
              <a:t>ESTRUCTURA DE FUNCIONES</a:t>
            </a:r>
          </a:p>
        </p:txBody>
      </p:sp>
      <p:sp>
        <p:nvSpPr>
          <p:cNvPr name="AutoShape 5" id="5"/>
          <p:cNvSpPr/>
          <p:nvPr/>
        </p:nvSpPr>
        <p:spPr>
          <a:xfrm rot="0">
            <a:off x="-818960" y="404795"/>
            <a:ext cx="19821877" cy="0"/>
          </a:xfrm>
          <a:prstGeom prst="line">
            <a:avLst/>
          </a:prstGeom>
          <a:ln cap="flat" w="114300">
            <a:solidFill>
              <a:srgbClr val="FFFFFF"/>
            </a:solidFill>
            <a:prstDash val="solid"/>
            <a:headEnd type="none" len="sm" w="sm"/>
            <a:tailEnd type="none" len="sm" w="sm"/>
          </a:ln>
        </p:spPr>
      </p:sp>
      <p:sp>
        <p:nvSpPr>
          <p:cNvPr name="AutoShape 6" id="6"/>
          <p:cNvSpPr/>
          <p:nvPr/>
        </p:nvSpPr>
        <p:spPr>
          <a:xfrm rot="0">
            <a:off x="-574329" y="9672305"/>
            <a:ext cx="19821877" cy="0"/>
          </a:xfrm>
          <a:prstGeom prst="line">
            <a:avLst/>
          </a:prstGeom>
          <a:ln cap="flat" w="114300">
            <a:solidFill>
              <a:srgbClr val="FFFFFF"/>
            </a:solidFill>
            <a:prstDash val="solid"/>
            <a:headEnd type="none" len="sm" w="sm"/>
            <a:tailEnd type="none" len="sm" w="sm"/>
          </a:ln>
        </p:spPr>
      </p:sp>
      <p:sp>
        <p:nvSpPr>
          <p:cNvPr name="AutoShape 7" id="7"/>
          <p:cNvSpPr/>
          <p:nvPr/>
        </p:nvSpPr>
        <p:spPr>
          <a:xfrm rot="0">
            <a:off x="-422728" y="9424655"/>
            <a:ext cx="19821877" cy="0"/>
          </a:xfrm>
          <a:prstGeom prst="line">
            <a:avLst/>
          </a:prstGeom>
          <a:ln cap="flat" w="114300">
            <a:solidFill>
              <a:srgbClr val="FFFFFF"/>
            </a:solidFill>
            <a:prstDash val="solid"/>
            <a:headEnd type="none" len="sm" w="sm"/>
            <a:tailEnd type="none" len="sm" w="sm"/>
          </a:ln>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grpSp>
        <p:nvGrpSpPr>
          <p:cNvPr name="Group 2" id="2"/>
          <p:cNvGrpSpPr/>
          <p:nvPr/>
        </p:nvGrpSpPr>
        <p:grpSpPr>
          <a:xfrm rot="0">
            <a:off x="-2560211" y="-461227"/>
            <a:ext cx="8328949" cy="11209454"/>
            <a:chOff x="0" y="0"/>
            <a:chExt cx="2193633" cy="2952284"/>
          </a:xfrm>
        </p:grpSpPr>
        <p:sp>
          <p:nvSpPr>
            <p:cNvPr name="Freeform 3" id="3"/>
            <p:cNvSpPr/>
            <p:nvPr/>
          </p:nvSpPr>
          <p:spPr>
            <a:xfrm flipH="false" flipV="false" rot="0">
              <a:off x="0" y="0"/>
              <a:ext cx="2193633" cy="2952284"/>
            </a:xfrm>
            <a:custGeom>
              <a:avLst/>
              <a:gdLst/>
              <a:ahLst/>
              <a:cxnLst/>
              <a:rect r="r" b="b" t="t" l="l"/>
              <a:pathLst>
                <a:path h="2952284" w="2193633">
                  <a:moveTo>
                    <a:pt x="0" y="0"/>
                  </a:moveTo>
                  <a:lnTo>
                    <a:pt x="2193633" y="0"/>
                  </a:lnTo>
                  <a:lnTo>
                    <a:pt x="2193633" y="2952284"/>
                  </a:lnTo>
                  <a:lnTo>
                    <a:pt x="0" y="2952284"/>
                  </a:lnTo>
                  <a:close/>
                </a:path>
              </a:pathLst>
            </a:custGeom>
            <a:solidFill>
              <a:srgbClr val="FFFFFF"/>
            </a:solidFill>
          </p:spPr>
        </p:sp>
        <p:sp>
          <p:nvSpPr>
            <p:cNvPr name="TextBox 4" id="4"/>
            <p:cNvSpPr txBox="true"/>
            <p:nvPr/>
          </p:nvSpPr>
          <p:spPr>
            <a:xfrm>
              <a:off x="0" y="-47625"/>
              <a:ext cx="2193633" cy="2999909"/>
            </a:xfrm>
            <a:prstGeom prst="rect">
              <a:avLst/>
            </a:prstGeom>
          </p:spPr>
          <p:txBody>
            <a:bodyPr anchor="ctr" rtlCol="false" tIns="50800" lIns="50800" bIns="50800" rIns="50800"/>
            <a:lstStyle/>
            <a:p>
              <a:pPr algn="ctr">
                <a:lnSpc>
                  <a:spcPts val="3413"/>
                </a:lnSpc>
              </a:pPr>
            </a:p>
          </p:txBody>
        </p:sp>
      </p:grpSp>
      <p:grpSp>
        <p:nvGrpSpPr>
          <p:cNvPr name="Group 5" id="5"/>
          <p:cNvGrpSpPr>
            <a:grpSpLocks noChangeAspect="true"/>
          </p:cNvGrpSpPr>
          <p:nvPr/>
        </p:nvGrpSpPr>
        <p:grpSpPr>
          <a:xfrm rot="0">
            <a:off x="14131212" y="9523603"/>
            <a:ext cx="5246370" cy="5246370"/>
            <a:chOff x="0" y="0"/>
            <a:chExt cx="6355080" cy="6355080"/>
          </a:xfrm>
        </p:grpSpPr>
        <p:sp>
          <p:nvSpPr>
            <p:cNvPr name="Freeform 6" id="6"/>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sp>
      </p:grpSp>
      <p:grpSp>
        <p:nvGrpSpPr>
          <p:cNvPr name="Group 7" id="7"/>
          <p:cNvGrpSpPr>
            <a:grpSpLocks noChangeAspect="true"/>
          </p:cNvGrpSpPr>
          <p:nvPr/>
        </p:nvGrpSpPr>
        <p:grpSpPr>
          <a:xfrm rot="0">
            <a:off x="-1590893" y="-4319710"/>
            <a:ext cx="5246370" cy="5246370"/>
            <a:chOff x="0" y="0"/>
            <a:chExt cx="6355080" cy="6355080"/>
          </a:xfrm>
        </p:grpSpPr>
        <p:sp>
          <p:nvSpPr>
            <p:cNvPr name="Freeform 8" id="8"/>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sp>
        <p:nvSpPr>
          <p:cNvPr name="Freeform 9" id="9"/>
          <p:cNvSpPr/>
          <p:nvPr/>
        </p:nvSpPr>
        <p:spPr>
          <a:xfrm flipH="false" flipV="false" rot="0">
            <a:off x="5717498" y="1088508"/>
            <a:ext cx="12241557" cy="8120637"/>
          </a:xfrm>
          <a:custGeom>
            <a:avLst/>
            <a:gdLst/>
            <a:ahLst/>
            <a:cxnLst/>
            <a:rect r="r" b="b" t="t" l="l"/>
            <a:pathLst>
              <a:path h="8120637" w="12241557">
                <a:moveTo>
                  <a:pt x="0" y="0"/>
                </a:moveTo>
                <a:lnTo>
                  <a:pt x="12241557" y="0"/>
                </a:lnTo>
                <a:lnTo>
                  <a:pt x="12241557" y="8120637"/>
                </a:lnTo>
                <a:lnTo>
                  <a:pt x="0" y="8120637"/>
                </a:lnTo>
                <a:lnTo>
                  <a:pt x="0" y="0"/>
                </a:lnTo>
                <a:close/>
              </a:path>
            </a:pathLst>
          </a:custGeom>
          <a:blipFill>
            <a:blip r:embed="rId2"/>
            <a:stretch>
              <a:fillRect l="0" t="0" r="0" b="0"/>
            </a:stretch>
          </a:blipFill>
        </p:spPr>
      </p:sp>
      <p:sp>
        <p:nvSpPr>
          <p:cNvPr name="TextBox 10" id="10"/>
          <p:cNvSpPr txBox="true"/>
          <p:nvPr/>
        </p:nvSpPr>
        <p:spPr>
          <a:xfrm rot="0">
            <a:off x="265303" y="4480977"/>
            <a:ext cx="6670033" cy="1410772"/>
          </a:xfrm>
          <a:prstGeom prst="rect">
            <a:avLst/>
          </a:prstGeom>
        </p:spPr>
        <p:txBody>
          <a:bodyPr anchor="t" rtlCol="false" tIns="0" lIns="0" bIns="0" rIns="0">
            <a:spAutoFit/>
          </a:bodyPr>
          <a:lstStyle/>
          <a:p>
            <a:pPr algn="l">
              <a:lnSpc>
                <a:spcPts val="10817"/>
              </a:lnSpc>
            </a:pPr>
            <a:r>
              <a:rPr lang="en-US" sz="9834">
                <a:solidFill>
                  <a:srgbClr val="412D44"/>
                </a:solidFill>
                <a:latin typeface="Circe Contrast"/>
                <a:ea typeface="Circe Contrast"/>
                <a:cs typeface="Circe Contrast"/>
                <a:sym typeface="Circe Contrast"/>
              </a:rPr>
              <a:t>Black box</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F6EEE8"/>
        </a:solidFill>
      </p:bgPr>
    </p:bg>
    <p:spTree>
      <p:nvGrpSpPr>
        <p:cNvPr id="1" name=""/>
        <p:cNvGrpSpPr/>
        <p:nvPr/>
      </p:nvGrpSpPr>
      <p:grpSpPr>
        <a:xfrm>
          <a:off x="0" y="0"/>
          <a:ext cx="0" cy="0"/>
          <a:chOff x="0" y="0"/>
          <a:chExt cx="0" cy="0"/>
        </a:xfrm>
      </p:grpSpPr>
      <p:sp>
        <p:nvSpPr>
          <p:cNvPr name="AutoShape 2" id="2"/>
          <p:cNvSpPr/>
          <p:nvPr/>
        </p:nvSpPr>
        <p:spPr>
          <a:xfrm rot="0">
            <a:off x="-970562" y="652445"/>
            <a:ext cx="19821877" cy="0"/>
          </a:xfrm>
          <a:prstGeom prst="line">
            <a:avLst/>
          </a:prstGeom>
          <a:ln cap="flat" w="114300">
            <a:solidFill>
              <a:srgbClr val="FFFFFF"/>
            </a:solidFill>
            <a:prstDash val="solid"/>
            <a:headEnd type="none" len="sm" w="sm"/>
            <a:tailEnd type="none" len="sm" w="sm"/>
          </a:ln>
        </p:spPr>
      </p:sp>
      <p:sp>
        <p:nvSpPr>
          <p:cNvPr name="AutoShape 3" id="3"/>
          <p:cNvSpPr/>
          <p:nvPr/>
        </p:nvSpPr>
        <p:spPr>
          <a:xfrm rot="0">
            <a:off x="-818960" y="404795"/>
            <a:ext cx="19821877" cy="0"/>
          </a:xfrm>
          <a:prstGeom prst="line">
            <a:avLst/>
          </a:prstGeom>
          <a:ln cap="flat" w="114300">
            <a:solidFill>
              <a:srgbClr val="FFFFFF"/>
            </a:solidFill>
            <a:prstDash val="solid"/>
            <a:headEnd type="none" len="sm" w="sm"/>
            <a:tailEnd type="none" len="sm" w="sm"/>
          </a:ln>
        </p:spPr>
      </p:sp>
      <p:sp>
        <p:nvSpPr>
          <p:cNvPr name="AutoShape 4" id="4"/>
          <p:cNvSpPr/>
          <p:nvPr/>
        </p:nvSpPr>
        <p:spPr>
          <a:xfrm rot="0">
            <a:off x="-574329" y="9672305"/>
            <a:ext cx="19821877" cy="0"/>
          </a:xfrm>
          <a:prstGeom prst="line">
            <a:avLst/>
          </a:prstGeom>
          <a:ln cap="flat" w="114300">
            <a:solidFill>
              <a:srgbClr val="FFFFFF"/>
            </a:solidFill>
            <a:prstDash val="solid"/>
            <a:headEnd type="none" len="sm" w="sm"/>
            <a:tailEnd type="none" len="sm" w="sm"/>
          </a:ln>
        </p:spPr>
      </p:sp>
      <p:sp>
        <p:nvSpPr>
          <p:cNvPr name="AutoShape 5" id="5"/>
          <p:cNvSpPr/>
          <p:nvPr/>
        </p:nvSpPr>
        <p:spPr>
          <a:xfrm rot="0">
            <a:off x="-422728" y="9424655"/>
            <a:ext cx="19821877" cy="0"/>
          </a:xfrm>
          <a:prstGeom prst="line">
            <a:avLst/>
          </a:prstGeom>
          <a:ln cap="flat" w="114300">
            <a:solidFill>
              <a:srgbClr val="FFFFFF"/>
            </a:solidFill>
            <a:prstDash val="solid"/>
            <a:headEnd type="none" len="sm" w="sm"/>
            <a:tailEnd type="none" len="sm" w="sm"/>
          </a:ln>
        </p:spPr>
      </p:sp>
      <p:sp>
        <p:nvSpPr>
          <p:cNvPr name="TextBox 6" id="6"/>
          <p:cNvSpPr txBox="true"/>
          <p:nvPr/>
        </p:nvSpPr>
        <p:spPr>
          <a:xfrm rot="0">
            <a:off x="320358" y="538145"/>
            <a:ext cx="9956472" cy="983735"/>
          </a:xfrm>
          <a:prstGeom prst="rect">
            <a:avLst/>
          </a:prstGeom>
        </p:spPr>
        <p:txBody>
          <a:bodyPr anchor="t" rtlCol="false" tIns="0" lIns="0" bIns="0" rIns="0">
            <a:spAutoFit/>
          </a:bodyPr>
          <a:lstStyle/>
          <a:p>
            <a:pPr algn="l" marL="0" indent="0" lvl="0">
              <a:lnSpc>
                <a:spcPts val="7655"/>
              </a:lnSpc>
            </a:pPr>
            <a:r>
              <a:rPr lang="en-US" sz="6959">
                <a:solidFill>
                  <a:srgbClr val="412D44"/>
                </a:solidFill>
                <a:latin typeface="Circe Contrast"/>
                <a:ea typeface="Circe Contrast"/>
                <a:cs typeface="Circe Contrast"/>
                <a:sym typeface="Circe Contrast"/>
              </a:rPr>
              <a:t>Secuencia de operaciones</a:t>
            </a:r>
          </a:p>
        </p:txBody>
      </p:sp>
      <p:grpSp>
        <p:nvGrpSpPr>
          <p:cNvPr name="Group 7" id="7"/>
          <p:cNvGrpSpPr/>
          <p:nvPr/>
        </p:nvGrpSpPr>
        <p:grpSpPr>
          <a:xfrm rot="0">
            <a:off x="1255848" y="1655230"/>
            <a:ext cx="5513725" cy="1255887"/>
            <a:chOff x="0" y="0"/>
            <a:chExt cx="7351633" cy="1674516"/>
          </a:xfrm>
        </p:grpSpPr>
        <p:sp>
          <p:nvSpPr>
            <p:cNvPr name="TextBox 8" id="8"/>
            <p:cNvSpPr txBox="true"/>
            <p:nvPr/>
          </p:nvSpPr>
          <p:spPr>
            <a:xfrm rot="0">
              <a:off x="0" y="0"/>
              <a:ext cx="7351633" cy="419100"/>
            </a:xfrm>
            <a:prstGeom prst="rect">
              <a:avLst/>
            </a:prstGeom>
          </p:spPr>
          <p:txBody>
            <a:bodyPr anchor="t" rtlCol="false" tIns="0" lIns="0" bIns="0" rIns="0">
              <a:spAutoFit/>
            </a:bodyPr>
            <a:lstStyle/>
            <a:p>
              <a:pPr algn="l" marL="0" indent="0" lvl="0">
                <a:lnSpc>
                  <a:spcPts val="2520"/>
                </a:lnSpc>
                <a:spcBef>
                  <a:spcPct val="0"/>
                </a:spcBef>
              </a:pPr>
              <a:r>
                <a:rPr lang="en-US" b="true" sz="2100" i="true">
                  <a:solidFill>
                    <a:srgbClr val="583D5B"/>
                  </a:solidFill>
                  <a:latin typeface="Circe Bold Italics"/>
                  <a:ea typeface="Circe Bold Italics"/>
                  <a:cs typeface="Circe Bold Italics"/>
                  <a:sym typeface="Circe Bold Italics"/>
                </a:rPr>
                <a:t>Fase 1 — Instalación del dispositivo</a:t>
              </a:r>
            </a:p>
          </p:txBody>
        </p:sp>
        <p:sp>
          <p:nvSpPr>
            <p:cNvPr name="TextBox 9" id="9"/>
            <p:cNvSpPr txBox="true"/>
            <p:nvPr/>
          </p:nvSpPr>
          <p:spPr>
            <a:xfrm rot="0">
              <a:off x="0" y="595228"/>
              <a:ext cx="7351633" cy="1079288"/>
            </a:xfrm>
            <a:prstGeom prst="rect">
              <a:avLst/>
            </a:prstGeom>
          </p:spPr>
          <p:txBody>
            <a:bodyPr anchor="t" rtlCol="false" tIns="0" lIns="0" bIns="0" rIns="0">
              <a:spAutoFit/>
            </a:bodyPr>
            <a:lstStyle/>
            <a:p>
              <a:pPr algn="l">
                <a:lnSpc>
                  <a:spcPts val="2240"/>
                </a:lnSpc>
              </a:pPr>
              <a:r>
                <a:rPr lang="en-US" sz="1600">
                  <a:solidFill>
                    <a:srgbClr val="201F1F"/>
                  </a:solidFill>
                  <a:latin typeface="Circe"/>
                  <a:ea typeface="Circe"/>
                  <a:cs typeface="Circe"/>
                  <a:sym typeface="Circe"/>
                </a:rPr>
                <a:t>1.1  El personal fija el dispositivo al equipo ciclo venoso.</a:t>
              </a:r>
            </a:p>
            <a:p>
              <a:pPr algn="l">
                <a:lnSpc>
                  <a:spcPts val="2240"/>
                </a:lnSpc>
                <a:spcBef>
                  <a:spcPct val="0"/>
                </a:spcBef>
              </a:pPr>
              <a:r>
                <a:rPr lang="en-US" sz="1600">
                  <a:solidFill>
                    <a:srgbClr val="201F1F"/>
                  </a:solidFill>
                  <a:latin typeface="Circe"/>
                  <a:ea typeface="Circe"/>
                  <a:cs typeface="Circe"/>
                  <a:sym typeface="Circe"/>
                </a:rPr>
                <a:t>1.2 Enciende el dispositivo.</a:t>
              </a:r>
            </a:p>
            <a:p>
              <a:pPr algn="l">
                <a:lnSpc>
                  <a:spcPts val="2240"/>
                </a:lnSpc>
                <a:spcBef>
                  <a:spcPct val="0"/>
                </a:spcBef>
              </a:pPr>
            </a:p>
          </p:txBody>
        </p:sp>
      </p:grpSp>
      <p:grpSp>
        <p:nvGrpSpPr>
          <p:cNvPr name="Group 10" id="10"/>
          <p:cNvGrpSpPr/>
          <p:nvPr/>
        </p:nvGrpSpPr>
        <p:grpSpPr>
          <a:xfrm rot="0">
            <a:off x="10965051" y="1302098"/>
            <a:ext cx="5513725" cy="2951337"/>
            <a:chOff x="0" y="0"/>
            <a:chExt cx="7351633" cy="3935116"/>
          </a:xfrm>
        </p:grpSpPr>
        <p:sp>
          <p:nvSpPr>
            <p:cNvPr name="TextBox 11" id="11"/>
            <p:cNvSpPr txBox="true"/>
            <p:nvPr/>
          </p:nvSpPr>
          <p:spPr>
            <a:xfrm rot="0">
              <a:off x="0" y="0"/>
              <a:ext cx="7351633" cy="838200"/>
            </a:xfrm>
            <a:prstGeom prst="rect">
              <a:avLst/>
            </a:prstGeom>
          </p:spPr>
          <p:txBody>
            <a:bodyPr anchor="t" rtlCol="false" tIns="0" lIns="0" bIns="0" rIns="0">
              <a:spAutoFit/>
            </a:bodyPr>
            <a:lstStyle/>
            <a:p>
              <a:pPr algn="l">
                <a:lnSpc>
                  <a:spcPts val="2520"/>
                </a:lnSpc>
              </a:pPr>
              <a:r>
                <a:rPr lang="en-US" sz="2100" i="true" b="true">
                  <a:solidFill>
                    <a:srgbClr val="583D5B"/>
                  </a:solidFill>
                  <a:latin typeface="Circe Bold Italics"/>
                  <a:ea typeface="Circe Bold Italics"/>
                  <a:cs typeface="Circe Bold Italics"/>
                  <a:sym typeface="Circe Bold Italics"/>
                </a:rPr>
                <a:t>Fase 2 -Configuración inicial</a:t>
              </a:r>
            </a:p>
            <a:p>
              <a:pPr algn="l" marL="0" indent="0" lvl="0">
                <a:lnSpc>
                  <a:spcPts val="2520"/>
                </a:lnSpc>
                <a:spcBef>
                  <a:spcPct val="0"/>
                </a:spcBef>
              </a:pPr>
            </a:p>
          </p:txBody>
        </p:sp>
        <p:sp>
          <p:nvSpPr>
            <p:cNvPr name="TextBox 12" id="12"/>
            <p:cNvSpPr txBox="true"/>
            <p:nvPr/>
          </p:nvSpPr>
          <p:spPr>
            <a:xfrm rot="0">
              <a:off x="0" y="1014328"/>
              <a:ext cx="7351633" cy="2920788"/>
            </a:xfrm>
            <a:prstGeom prst="rect">
              <a:avLst/>
            </a:prstGeom>
          </p:spPr>
          <p:txBody>
            <a:bodyPr anchor="t" rtlCol="false" tIns="0" lIns="0" bIns="0" rIns="0">
              <a:spAutoFit/>
            </a:bodyPr>
            <a:lstStyle/>
            <a:p>
              <a:pPr algn="l">
                <a:lnSpc>
                  <a:spcPts val="2240"/>
                </a:lnSpc>
              </a:pPr>
              <a:r>
                <a:rPr lang="en-US" sz="1600">
                  <a:solidFill>
                    <a:srgbClr val="201F1F"/>
                  </a:solidFill>
                  <a:latin typeface="Circe"/>
                  <a:ea typeface="Circe"/>
                  <a:cs typeface="Circe"/>
                  <a:sym typeface="Circe"/>
                </a:rPr>
                <a:t>2.1  El enfermero enciende el dispositivo móvil </a:t>
              </a:r>
            </a:p>
            <a:p>
              <a:pPr algn="l">
                <a:lnSpc>
                  <a:spcPts val="2240"/>
                </a:lnSpc>
              </a:pPr>
              <a:r>
                <a:rPr lang="en-US" sz="1600">
                  <a:solidFill>
                    <a:srgbClr val="201F1F"/>
                  </a:solidFill>
                  <a:latin typeface="Circe"/>
                  <a:ea typeface="Circe"/>
                  <a:cs typeface="Circe"/>
                  <a:sym typeface="Circe"/>
                </a:rPr>
                <a:t>2.2  La app enlaza con el dispositivo de monitoreo vía comunicación inalámbrica</a:t>
              </a:r>
            </a:p>
            <a:p>
              <a:pPr algn="l">
                <a:lnSpc>
                  <a:spcPts val="2240"/>
                </a:lnSpc>
              </a:pPr>
              <a:r>
                <a:rPr lang="en-US" sz="1600">
                  <a:solidFill>
                    <a:srgbClr val="201F1F"/>
                  </a:solidFill>
                  <a:latin typeface="Circe"/>
                  <a:ea typeface="Circe"/>
                  <a:cs typeface="Circe"/>
                  <a:sym typeface="Circe"/>
                </a:rPr>
                <a:t>2.3  Ingresa los datos iniciales para hallar el caudal teórico y el tiempo que durará el goteo intravenoso.</a:t>
              </a:r>
            </a:p>
            <a:p>
              <a:pPr algn="l">
                <a:lnSpc>
                  <a:spcPts val="2240"/>
                </a:lnSpc>
                <a:spcBef>
                  <a:spcPct val="0"/>
                </a:spcBef>
              </a:pPr>
              <a:r>
                <a:rPr lang="en-US" sz="1600">
                  <a:solidFill>
                    <a:srgbClr val="201F1F"/>
                  </a:solidFill>
                  <a:latin typeface="Circe"/>
                  <a:ea typeface="Circe"/>
                  <a:cs typeface="Circe"/>
                  <a:sym typeface="Circe"/>
                </a:rPr>
                <a:t>2.4  Se transmite el caudal teórico el tiempo que durará el goteo intravenoso.</a:t>
              </a:r>
            </a:p>
            <a:p>
              <a:pPr algn="l">
                <a:lnSpc>
                  <a:spcPts val="2240"/>
                </a:lnSpc>
                <a:spcBef>
                  <a:spcPct val="0"/>
                </a:spcBef>
              </a:pPr>
            </a:p>
          </p:txBody>
        </p:sp>
      </p:grpSp>
      <p:grpSp>
        <p:nvGrpSpPr>
          <p:cNvPr name="Group 13" id="13"/>
          <p:cNvGrpSpPr/>
          <p:nvPr/>
        </p:nvGrpSpPr>
        <p:grpSpPr>
          <a:xfrm rot="0">
            <a:off x="1255848" y="3325454"/>
            <a:ext cx="5513725" cy="2122662"/>
            <a:chOff x="0" y="0"/>
            <a:chExt cx="7351633" cy="2830216"/>
          </a:xfrm>
        </p:grpSpPr>
        <p:sp>
          <p:nvSpPr>
            <p:cNvPr name="TextBox 14" id="14"/>
            <p:cNvSpPr txBox="true"/>
            <p:nvPr/>
          </p:nvSpPr>
          <p:spPr>
            <a:xfrm rot="0">
              <a:off x="0" y="0"/>
              <a:ext cx="7351633" cy="838200"/>
            </a:xfrm>
            <a:prstGeom prst="rect">
              <a:avLst/>
            </a:prstGeom>
          </p:spPr>
          <p:txBody>
            <a:bodyPr anchor="t" rtlCol="false" tIns="0" lIns="0" bIns="0" rIns="0">
              <a:spAutoFit/>
            </a:bodyPr>
            <a:lstStyle/>
            <a:p>
              <a:pPr algn="l" marL="0" indent="0" lvl="0">
                <a:lnSpc>
                  <a:spcPts val="2520"/>
                </a:lnSpc>
                <a:spcBef>
                  <a:spcPct val="0"/>
                </a:spcBef>
              </a:pPr>
              <a:r>
                <a:rPr lang="en-US" b="true" sz="2100" i="true">
                  <a:solidFill>
                    <a:srgbClr val="583D5B"/>
                  </a:solidFill>
                  <a:latin typeface="Circe Bold Italics"/>
                  <a:ea typeface="Circe Bold Italics"/>
                  <a:cs typeface="Circe Bold Italics"/>
                  <a:sym typeface="Circe Bold Italics"/>
                </a:rPr>
                <a:t>Fase 3 - Monitoreo continuo</a:t>
              </a:r>
            </a:p>
            <a:p>
              <a:pPr algn="l" marL="0" indent="0" lvl="0">
                <a:lnSpc>
                  <a:spcPts val="2520"/>
                </a:lnSpc>
                <a:spcBef>
                  <a:spcPct val="0"/>
                </a:spcBef>
              </a:pPr>
            </a:p>
          </p:txBody>
        </p:sp>
        <p:sp>
          <p:nvSpPr>
            <p:cNvPr name="TextBox 15" id="15"/>
            <p:cNvSpPr txBox="true"/>
            <p:nvPr/>
          </p:nvSpPr>
          <p:spPr>
            <a:xfrm rot="0">
              <a:off x="0" y="1014328"/>
              <a:ext cx="7351633" cy="1815888"/>
            </a:xfrm>
            <a:prstGeom prst="rect">
              <a:avLst/>
            </a:prstGeom>
          </p:spPr>
          <p:txBody>
            <a:bodyPr anchor="t" rtlCol="false" tIns="0" lIns="0" bIns="0" rIns="0">
              <a:spAutoFit/>
            </a:bodyPr>
            <a:lstStyle/>
            <a:p>
              <a:pPr algn="l">
                <a:lnSpc>
                  <a:spcPts val="2240"/>
                </a:lnSpc>
              </a:pPr>
              <a:r>
                <a:rPr lang="en-US" sz="1600">
                  <a:solidFill>
                    <a:srgbClr val="201F1F"/>
                  </a:solidFill>
                  <a:latin typeface="Circe"/>
                  <a:ea typeface="Circe"/>
                  <a:cs typeface="Circe"/>
                  <a:sym typeface="Circe"/>
                </a:rPr>
                <a:t>3.1  Mide la distancia del dispositivo respecto del suelo y cama del paciente.</a:t>
              </a:r>
            </a:p>
            <a:p>
              <a:pPr algn="l">
                <a:lnSpc>
                  <a:spcPts val="2240"/>
                </a:lnSpc>
              </a:pPr>
              <a:r>
                <a:rPr lang="en-US" sz="1600">
                  <a:solidFill>
                    <a:srgbClr val="201F1F"/>
                  </a:solidFill>
                  <a:latin typeface="Circe"/>
                  <a:ea typeface="Circe"/>
                  <a:cs typeface="Circe"/>
                  <a:sym typeface="Circe"/>
                </a:rPr>
                <a:t>3.2  Detecta paso de gotas y se calcula caudal instantáneo.</a:t>
              </a:r>
            </a:p>
            <a:p>
              <a:pPr algn="l">
                <a:lnSpc>
                  <a:spcPts val="2240"/>
                </a:lnSpc>
                <a:spcBef>
                  <a:spcPct val="0"/>
                </a:spcBef>
              </a:pPr>
              <a:r>
                <a:rPr lang="en-US" sz="1600">
                  <a:solidFill>
                    <a:srgbClr val="201F1F"/>
                  </a:solidFill>
                  <a:latin typeface="Circe"/>
                  <a:ea typeface="Circe"/>
                  <a:cs typeface="Circe"/>
                  <a:sym typeface="Circe"/>
                </a:rPr>
                <a:t>3.3 Se recalcula el Timer dependiente del cambio del caudal.</a:t>
              </a:r>
            </a:p>
            <a:p>
              <a:pPr algn="l">
                <a:lnSpc>
                  <a:spcPts val="2240"/>
                </a:lnSpc>
                <a:spcBef>
                  <a:spcPct val="0"/>
                </a:spcBef>
              </a:pPr>
            </a:p>
          </p:txBody>
        </p:sp>
      </p:grpSp>
      <p:grpSp>
        <p:nvGrpSpPr>
          <p:cNvPr name="Group 16" id="16"/>
          <p:cNvGrpSpPr/>
          <p:nvPr/>
        </p:nvGrpSpPr>
        <p:grpSpPr>
          <a:xfrm rot="0">
            <a:off x="10965051" y="4386785"/>
            <a:ext cx="5513725" cy="2951337"/>
            <a:chOff x="0" y="0"/>
            <a:chExt cx="7351633" cy="3935116"/>
          </a:xfrm>
        </p:grpSpPr>
        <p:sp>
          <p:nvSpPr>
            <p:cNvPr name="TextBox 17" id="17"/>
            <p:cNvSpPr txBox="true"/>
            <p:nvPr/>
          </p:nvSpPr>
          <p:spPr>
            <a:xfrm rot="0">
              <a:off x="0" y="0"/>
              <a:ext cx="7351633" cy="838200"/>
            </a:xfrm>
            <a:prstGeom prst="rect">
              <a:avLst/>
            </a:prstGeom>
          </p:spPr>
          <p:txBody>
            <a:bodyPr anchor="t" rtlCol="false" tIns="0" lIns="0" bIns="0" rIns="0">
              <a:spAutoFit/>
            </a:bodyPr>
            <a:lstStyle/>
            <a:p>
              <a:pPr algn="l">
                <a:lnSpc>
                  <a:spcPts val="2520"/>
                </a:lnSpc>
              </a:pPr>
              <a:r>
                <a:rPr lang="en-US" sz="2100" i="true" b="true">
                  <a:solidFill>
                    <a:srgbClr val="583D5B"/>
                  </a:solidFill>
                  <a:latin typeface="Circe Bold Italics"/>
                  <a:ea typeface="Circe Bold Italics"/>
                  <a:cs typeface="Circe Bold Italics"/>
                  <a:sym typeface="Circe Bold Italics"/>
                </a:rPr>
                <a:t>Fase 4 — Evaluación de estados del sistema</a:t>
              </a:r>
            </a:p>
            <a:p>
              <a:pPr algn="l" marL="0" indent="0" lvl="0">
                <a:lnSpc>
                  <a:spcPts val="2520"/>
                </a:lnSpc>
                <a:spcBef>
                  <a:spcPct val="0"/>
                </a:spcBef>
              </a:pPr>
            </a:p>
          </p:txBody>
        </p:sp>
        <p:sp>
          <p:nvSpPr>
            <p:cNvPr name="TextBox 18" id="18"/>
            <p:cNvSpPr txBox="true"/>
            <p:nvPr/>
          </p:nvSpPr>
          <p:spPr>
            <a:xfrm rot="0">
              <a:off x="0" y="1014328"/>
              <a:ext cx="7351633" cy="2920788"/>
            </a:xfrm>
            <a:prstGeom prst="rect">
              <a:avLst/>
            </a:prstGeom>
          </p:spPr>
          <p:txBody>
            <a:bodyPr anchor="t" rtlCol="false" tIns="0" lIns="0" bIns="0" rIns="0">
              <a:spAutoFit/>
            </a:bodyPr>
            <a:lstStyle/>
            <a:p>
              <a:pPr algn="l">
                <a:lnSpc>
                  <a:spcPts val="2240"/>
                </a:lnSpc>
              </a:pPr>
              <a:r>
                <a:rPr lang="en-US" sz="1600">
                  <a:solidFill>
                    <a:srgbClr val="201F1F"/>
                  </a:solidFill>
                  <a:latin typeface="Circe"/>
                  <a:ea typeface="Circe"/>
                  <a:cs typeface="Circe"/>
                  <a:sym typeface="Circe"/>
                </a:rPr>
                <a:t>4.1  El microcontrolador compara el caudal instantáneo y contra el caudal teórico. </a:t>
              </a:r>
            </a:p>
            <a:p>
              <a:pPr algn="l">
                <a:lnSpc>
                  <a:spcPts val="2240"/>
                </a:lnSpc>
              </a:pPr>
              <a:r>
                <a:rPr lang="en-US" sz="1600">
                  <a:solidFill>
                    <a:srgbClr val="201F1F"/>
                  </a:solidFill>
                  <a:latin typeface="Circe"/>
                  <a:ea typeface="Circe"/>
                  <a:cs typeface="Circe"/>
                  <a:sym typeface="Circe"/>
                </a:rPr>
                <a:t>4.2  Compara la altura medida contra el rango aceptable</a:t>
              </a:r>
            </a:p>
            <a:p>
              <a:pPr algn="l">
                <a:lnSpc>
                  <a:spcPts val="2240"/>
                </a:lnSpc>
              </a:pPr>
              <a:r>
                <a:rPr lang="en-US" sz="1600">
                  <a:solidFill>
                    <a:srgbClr val="201F1F"/>
                  </a:solidFill>
                  <a:latin typeface="Circe"/>
                  <a:ea typeface="Circe"/>
                  <a:cs typeface="Circe"/>
                  <a:sym typeface="Circe"/>
                </a:rPr>
                <a:t>4.3  Clasifica el estado global del sistema: normal / alerta por desviación de caudal / alerta por altura / alerta por fin de bolsa próximo / batería baja</a:t>
              </a:r>
            </a:p>
            <a:p>
              <a:pPr algn="l">
                <a:lnSpc>
                  <a:spcPts val="2240"/>
                </a:lnSpc>
                <a:spcBef>
                  <a:spcPct val="0"/>
                </a:spcBef>
              </a:pPr>
            </a:p>
            <a:p>
              <a:pPr algn="l">
                <a:lnSpc>
                  <a:spcPts val="2240"/>
                </a:lnSpc>
                <a:spcBef>
                  <a:spcPct val="0"/>
                </a:spcBef>
              </a:pPr>
            </a:p>
          </p:txBody>
        </p:sp>
      </p:grpSp>
      <p:grpSp>
        <p:nvGrpSpPr>
          <p:cNvPr name="Group 19" id="19"/>
          <p:cNvGrpSpPr/>
          <p:nvPr/>
        </p:nvGrpSpPr>
        <p:grpSpPr>
          <a:xfrm rot="0">
            <a:off x="1255848" y="5673218"/>
            <a:ext cx="5513725" cy="4056237"/>
            <a:chOff x="0" y="0"/>
            <a:chExt cx="7351633" cy="5408316"/>
          </a:xfrm>
        </p:grpSpPr>
        <p:sp>
          <p:nvSpPr>
            <p:cNvPr name="TextBox 20" id="20"/>
            <p:cNvSpPr txBox="true"/>
            <p:nvPr/>
          </p:nvSpPr>
          <p:spPr>
            <a:xfrm rot="0">
              <a:off x="0" y="0"/>
              <a:ext cx="7351633" cy="838200"/>
            </a:xfrm>
            <a:prstGeom prst="rect">
              <a:avLst/>
            </a:prstGeom>
          </p:spPr>
          <p:txBody>
            <a:bodyPr anchor="t" rtlCol="false" tIns="0" lIns="0" bIns="0" rIns="0">
              <a:spAutoFit/>
            </a:bodyPr>
            <a:lstStyle/>
            <a:p>
              <a:pPr algn="l">
                <a:lnSpc>
                  <a:spcPts val="2520"/>
                </a:lnSpc>
              </a:pPr>
              <a:r>
                <a:rPr lang="en-US" sz="2100" i="true" b="true">
                  <a:solidFill>
                    <a:srgbClr val="583D5B"/>
                  </a:solidFill>
                  <a:latin typeface="Circe Bold Italics"/>
                  <a:ea typeface="Circe Bold Italics"/>
                  <a:cs typeface="Circe Bold Italics"/>
                  <a:sym typeface="Circe Bold Italics"/>
                </a:rPr>
                <a:t>Fase 5 — Generación y transmisión de alerta</a:t>
              </a:r>
            </a:p>
            <a:p>
              <a:pPr algn="l" marL="0" indent="0" lvl="0">
                <a:lnSpc>
                  <a:spcPts val="2520"/>
                </a:lnSpc>
                <a:spcBef>
                  <a:spcPct val="0"/>
                </a:spcBef>
              </a:pPr>
            </a:p>
          </p:txBody>
        </p:sp>
        <p:sp>
          <p:nvSpPr>
            <p:cNvPr name="TextBox 21" id="21"/>
            <p:cNvSpPr txBox="true"/>
            <p:nvPr/>
          </p:nvSpPr>
          <p:spPr>
            <a:xfrm rot="0">
              <a:off x="0" y="1014328"/>
              <a:ext cx="7351633" cy="4393988"/>
            </a:xfrm>
            <a:prstGeom prst="rect">
              <a:avLst/>
            </a:prstGeom>
          </p:spPr>
          <p:txBody>
            <a:bodyPr anchor="t" rtlCol="false" tIns="0" lIns="0" bIns="0" rIns="0">
              <a:spAutoFit/>
            </a:bodyPr>
            <a:lstStyle/>
            <a:p>
              <a:pPr algn="l">
                <a:lnSpc>
                  <a:spcPts val="2240"/>
                </a:lnSpc>
              </a:pPr>
              <a:r>
                <a:rPr lang="en-US" sz="1600">
                  <a:solidFill>
                    <a:srgbClr val="201F1F"/>
                  </a:solidFill>
                  <a:latin typeface="Circe"/>
                  <a:ea typeface="Circe"/>
                  <a:cs typeface="Circe"/>
                  <a:sym typeface="Circe"/>
                </a:rPr>
                <a:t>5.1  El caudal instantáneo está fuera del rango, se genera la señal de alerta correspondiente.</a:t>
              </a:r>
            </a:p>
            <a:p>
              <a:pPr algn="l">
                <a:lnSpc>
                  <a:spcPts val="2240"/>
                </a:lnSpc>
              </a:pPr>
              <a:r>
                <a:rPr lang="en-US" sz="1600">
                  <a:solidFill>
                    <a:srgbClr val="201F1F"/>
                  </a:solidFill>
                  <a:latin typeface="Circe"/>
                  <a:ea typeface="Circe"/>
                  <a:cs typeface="Circe"/>
                  <a:sym typeface="Circe"/>
                </a:rPr>
                <a:t>5.2 La altura medida no está dentro del rango , se genera una señal de alerta correspondiente.</a:t>
              </a:r>
            </a:p>
            <a:p>
              <a:pPr algn="l">
                <a:lnSpc>
                  <a:spcPts val="2240"/>
                </a:lnSpc>
              </a:pPr>
              <a:r>
                <a:rPr lang="en-US" sz="1600">
                  <a:solidFill>
                    <a:srgbClr val="201F1F"/>
                  </a:solidFill>
                  <a:latin typeface="Circe"/>
                  <a:ea typeface="Circe"/>
                  <a:cs typeface="Circe"/>
                  <a:sym typeface="Circe"/>
                </a:rPr>
                <a:t>5.3 Si la batería está baja , se genera una señal de alerta correspondiente.</a:t>
              </a:r>
            </a:p>
            <a:p>
              <a:pPr algn="l">
                <a:lnSpc>
                  <a:spcPts val="2240"/>
                </a:lnSpc>
              </a:pPr>
              <a:r>
                <a:rPr lang="en-US" sz="1600">
                  <a:solidFill>
                    <a:srgbClr val="201F1F"/>
                  </a:solidFill>
                  <a:latin typeface="Circe"/>
                  <a:ea typeface="Circe"/>
                  <a:cs typeface="Circe"/>
                  <a:sym typeface="Circe"/>
                </a:rPr>
                <a:t>5.4 Si el Timer llega a 0 , se genera una señal de alerta correspondiente.</a:t>
              </a:r>
            </a:p>
            <a:p>
              <a:pPr algn="l">
                <a:lnSpc>
                  <a:spcPts val="2240"/>
                </a:lnSpc>
              </a:pPr>
              <a:r>
                <a:rPr lang="en-US" sz="1600">
                  <a:solidFill>
                    <a:srgbClr val="201F1F"/>
                  </a:solidFill>
                  <a:latin typeface="Circe"/>
                  <a:ea typeface="Circe"/>
                  <a:cs typeface="Circe"/>
                  <a:sym typeface="Circe"/>
                </a:rPr>
                <a:t>5.5 La alerta se transmite de forma remota al dispositivo móvil del personal.</a:t>
              </a:r>
            </a:p>
            <a:p>
              <a:pPr algn="l">
                <a:lnSpc>
                  <a:spcPts val="2240"/>
                </a:lnSpc>
                <a:spcBef>
                  <a:spcPct val="0"/>
                </a:spcBef>
              </a:pPr>
              <a:r>
                <a:rPr lang="en-US" sz="1600">
                  <a:solidFill>
                    <a:srgbClr val="201F1F"/>
                  </a:solidFill>
                  <a:latin typeface="Circe"/>
                  <a:ea typeface="Circe"/>
                  <a:cs typeface="Circe"/>
                  <a:sym typeface="Circe"/>
                </a:rPr>
                <a:t>5.6  El personal recibe la alerta correspondiente.</a:t>
              </a:r>
            </a:p>
            <a:p>
              <a:pPr algn="l">
                <a:lnSpc>
                  <a:spcPts val="2240"/>
                </a:lnSpc>
                <a:spcBef>
                  <a:spcPct val="0"/>
                </a:spcBef>
              </a:pPr>
            </a:p>
          </p:txBody>
        </p:sp>
      </p:grpSp>
      <p:grpSp>
        <p:nvGrpSpPr>
          <p:cNvPr name="Group 22" id="22"/>
          <p:cNvGrpSpPr/>
          <p:nvPr/>
        </p:nvGrpSpPr>
        <p:grpSpPr>
          <a:xfrm rot="0">
            <a:off x="10965051" y="7338122"/>
            <a:ext cx="5513725" cy="1846437"/>
            <a:chOff x="0" y="0"/>
            <a:chExt cx="7351633" cy="2461916"/>
          </a:xfrm>
        </p:grpSpPr>
        <p:sp>
          <p:nvSpPr>
            <p:cNvPr name="TextBox 23" id="23"/>
            <p:cNvSpPr txBox="true"/>
            <p:nvPr/>
          </p:nvSpPr>
          <p:spPr>
            <a:xfrm rot="0">
              <a:off x="0" y="0"/>
              <a:ext cx="7351633" cy="838200"/>
            </a:xfrm>
            <a:prstGeom prst="rect">
              <a:avLst/>
            </a:prstGeom>
          </p:spPr>
          <p:txBody>
            <a:bodyPr anchor="t" rtlCol="false" tIns="0" lIns="0" bIns="0" rIns="0">
              <a:spAutoFit/>
            </a:bodyPr>
            <a:lstStyle/>
            <a:p>
              <a:pPr algn="l">
                <a:lnSpc>
                  <a:spcPts val="2520"/>
                </a:lnSpc>
              </a:pPr>
              <a:r>
                <a:rPr lang="en-US" sz="2100" i="true" b="true">
                  <a:solidFill>
                    <a:srgbClr val="583D5B"/>
                  </a:solidFill>
                  <a:latin typeface="Circe Bold Italics"/>
                  <a:ea typeface="Circe Bold Italics"/>
                  <a:cs typeface="Circe Bold Italics"/>
                  <a:sym typeface="Circe Bold Italics"/>
                </a:rPr>
                <a:t>Fase 6 - Finalización y reinicio del ciclo</a:t>
              </a:r>
            </a:p>
            <a:p>
              <a:pPr algn="l" marL="0" indent="0" lvl="0">
                <a:lnSpc>
                  <a:spcPts val="2520"/>
                </a:lnSpc>
                <a:spcBef>
                  <a:spcPct val="0"/>
                </a:spcBef>
              </a:pPr>
            </a:p>
          </p:txBody>
        </p:sp>
        <p:sp>
          <p:nvSpPr>
            <p:cNvPr name="TextBox 24" id="24"/>
            <p:cNvSpPr txBox="true"/>
            <p:nvPr/>
          </p:nvSpPr>
          <p:spPr>
            <a:xfrm rot="0">
              <a:off x="0" y="1014328"/>
              <a:ext cx="7351633" cy="1447588"/>
            </a:xfrm>
            <a:prstGeom prst="rect">
              <a:avLst/>
            </a:prstGeom>
          </p:spPr>
          <p:txBody>
            <a:bodyPr anchor="t" rtlCol="false" tIns="0" lIns="0" bIns="0" rIns="0">
              <a:spAutoFit/>
            </a:bodyPr>
            <a:lstStyle/>
            <a:p>
              <a:pPr algn="l">
                <a:lnSpc>
                  <a:spcPts val="2240"/>
                </a:lnSpc>
              </a:pPr>
              <a:r>
                <a:rPr lang="en-US" sz="1600">
                  <a:solidFill>
                    <a:srgbClr val="201F1F"/>
                  </a:solidFill>
                  <a:latin typeface="Circe"/>
                  <a:ea typeface="Circe"/>
                  <a:cs typeface="Circe"/>
                  <a:sym typeface="Circe"/>
                </a:rPr>
                <a:t>6.1 Se termina el medicamento y el dispositivo se queda esperando órdenes.</a:t>
              </a:r>
            </a:p>
            <a:p>
              <a:pPr algn="l">
                <a:lnSpc>
                  <a:spcPts val="2240"/>
                </a:lnSpc>
                <a:spcBef>
                  <a:spcPct val="0"/>
                </a:spcBef>
              </a:pPr>
              <a:r>
                <a:rPr lang="en-US" sz="1600">
                  <a:solidFill>
                    <a:srgbClr val="201F1F"/>
                  </a:solidFill>
                  <a:latin typeface="Circe"/>
                  <a:ea typeface="Circe"/>
                  <a:cs typeface="Circe"/>
                  <a:sym typeface="Circe"/>
                </a:rPr>
                <a:t>6.2 Retorno del ciclo.</a:t>
              </a:r>
            </a:p>
            <a:p>
              <a:pPr algn="l">
                <a:lnSpc>
                  <a:spcPts val="2240"/>
                </a:lnSpc>
                <a:spcBef>
                  <a:spcPct val="0"/>
                </a:spcBef>
              </a:pP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grpSp>
        <p:nvGrpSpPr>
          <p:cNvPr name="Group 2" id="2"/>
          <p:cNvGrpSpPr/>
          <p:nvPr/>
        </p:nvGrpSpPr>
        <p:grpSpPr>
          <a:xfrm rot="-5400000">
            <a:off x="-9312347" y="3400548"/>
            <a:ext cx="19973479" cy="361950"/>
            <a:chOff x="0" y="0"/>
            <a:chExt cx="26631306" cy="482600"/>
          </a:xfrm>
        </p:grpSpPr>
        <p:sp>
          <p:nvSpPr>
            <p:cNvPr name="AutoShape 3" id="3"/>
            <p:cNvSpPr/>
            <p:nvPr/>
          </p:nvSpPr>
          <p:spPr>
            <a:xfrm>
              <a:off x="0" y="406400"/>
              <a:ext cx="26429170" cy="0"/>
            </a:xfrm>
            <a:prstGeom prst="line">
              <a:avLst/>
            </a:prstGeom>
            <a:ln cap="flat" w="152400">
              <a:solidFill>
                <a:srgbClr val="FFFFFF"/>
              </a:solidFill>
              <a:prstDash val="solid"/>
              <a:headEnd type="none" len="sm" w="sm"/>
              <a:tailEnd type="none" len="sm" w="sm"/>
            </a:ln>
          </p:spPr>
        </p:sp>
        <p:sp>
          <p:nvSpPr>
            <p:cNvPr name="AutoShape 4" id="4"/>
            <p:cNvSpPr/>
            <p:nvPr/>
          </p:nvSpPr>
          <p:spPr>
            <a:xfrm>
              <a:off x="202136" y="76200"/>
              <a:ext cx="26429170" cy="0"/>
            </a:xfrm>
            <a:prstGeom prst="line">
              <a:avLst/>
            </a:prstGeom>
            <a:ln cap="flat" w="152400">
              <a:solidFill>
                <a:srgbClr val="FFFFFF"/>
              </a:solidFill>
              <a:prstDash val="solid"/>
              <a:headEnd type="none" len="sm" w="sm"/>
              <a:tailEnd type="none" len="sm" w="sm"/>
            </a:ln>
          </p:spPr>
        </p:sp>
      </p:grpSp>
      <p:sp>
        <p:nvSpPr>
          <p:cNvPr name="Freeform 5" id="5"/>
          <p:cNvSpPr/>
          <p:nvPr/>
        </p:nvSpPr>
        <p:spPr>
          <a:xfrm flipH="false" flipV="false" rot="0">
            <a:off x="3838250" y="163151"/>
            <a:ext cx="14321221" cy="9960697"/>
          </a:xfrm>
          <a:custGeom>
            <a:avLst/>
            <a:gdLst/>
            <a:ahLst/>
            <a:cxnLst/>
            <a:rect r="r" b="b" t="t" l="l"/>
            <a:pathLst>
              <a:path h="9960697" w="14321221">
                <a:moveTo>
                  <a:pt x="0" y="0"/>
                </a:moveTo>
                <a:lnTo>
                  <a:pt x="14321221" y="0"/>
                </a:lnTo>
                <a:lnTo>
                  <a:pt x="14321221" y="9960698"/>
                </a:lnTo>
                <a:lnTo>
                  <a:pt x="0" y="9960698"/>
                </a:lnTo>
                <a:lnTo>
                  <a:pt x="0" y="0"/>
                </a:lnTo>
                <a:close/>
              </a:path>
            </a:pathLst>
          </a:custGeom>
          <a:blipFill>
            <a:blip r:embed="rId2"/>
            <a:stretch>
              <a:fillRect l="0" t="0" r="0" b="0"/>
            </a:stretch>
          </a:blipFill>
        </p:spPr>
      </p:sp>
      <p:sp>
        <p:nvSpPr>
          <p:cNvPr name="TextBox 6" id="6"/>
          <p:cNvSpPr txBox="true"/>
          <p:nvPr/>
        </p:nvSpPr>
        <p:spPr>
          <a:xfrm rot="0">
            <a:off x="0" y="3648198"/>
            <a:ext cx="3838250" cy="2845930"/>
          </a:xfrm>
          <a:prstGeom prst="rect">
            <a:avLst/>
          </a:prstGeom>
        </p:spPr>
        <p:txBody>
          <a:bodyPr anchor="t" rtlCol="false" tIns="0" lIns="0" bIns="0" rIns="0">
            <a:spAutoFit/>
          </a:bodyPr>
          <a:lstStyle/>
          <a:p>
            <a:pPr algn="l" marL="0" indent="0" lvl="0">
              <a:lnSpc>
                <a:spcPts val="7424"/>
              </a:lnSpc>
            </a:pPr>
            <a:r>
              <a:rPr lang="en-US" sz="6749">
                <a:solidFill>
                  <a:srgbClr val="412D44"/>
                </a:solidFill>
                <a:latin typeface="Circe Contrast"/>
                <a:ea typeface="Circe Contrast"/>
                <a:cs typeface="Circe Contrast"/>
                <a:sym typeface="Circe Contrast"/>
              </a:rPr>
              <a:t>Esquema de funciones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sp>
        <p:nvSpPr>
          <p:cNvPr name="AutoShape 2" id="2"/>
          <p:cNvSpPr/>
          <p:nvPr/>
        </p:nvSpPr>
        <p:spPr>
          <a:xfrm rot="0">
            <a:off x="-970562" y="652445"/>
            <a:ext cx="19821877" cy="0"/>
          </a:xfrm>
          <a:prstGeom prst="line">
            <a:avLst/>
          </a:prstGeom>
          <a:ln cap="flat" w="114300">
            <a:solidFill>
              <a:srgbClr val="FFFFFF"/>
            </a:solidFill>
            <a:prstDash val="solid"/>
            <a:headEnd type="none" len="sm" w="sm"/>
            <a:tailEnd type="none" len="sm" w="sm"/>
          </a:ln>
        </p:spPr>
      </p:sp>
      <p:sp>
        <p:nvSpPr>
          <p:cNvPr name="Freeform 3" id="3"/>
          <p:cNvSpPr/>
          <p:nvPr/>
        </p:nvSpPr>
        <p:spPr>
          <a:xfrm flipH="false" flipV="false" rot="0">
            <a:off x="16578450" y="8533032"/>
            <a:ext cx="712262" cy="336706"/>
          </a:xfrm>
          <a:custGeom>
            <a:avLst/>
            <a:gdLst/>
            <a:ahLst/>
            <a:cxnLst/>
            <a:rect r="r" b="b" t="t" l="l"/>
            <a:pathLst>
              <a:path h="336706" w="712262">
                <a:moveTo>
                  <a:pt x="0" y="0"/>
                </a:moveTo>
                <a:lnTo>
                  <a:pt x="712262" y="0"/>
                </a:lnTo>
                <a:lnTo>
                  <a:pt x="712262" y="336705"/>
                </a:lnTo>
                <a:lnTo>
                  <a:pt x="0" y="336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121500" y="4405317"/>
            <a:ext cx="14045000" cy="1876417"/>
          </a:xfrm>
          <a:prstGeom prst="rect">
            <a:avLst/>
          </a:prstGeom>
        </p:spPr>
        <p:txBody>
          <a:bodyPr anchor="t" rtlCol="false" tIns="0" lIns="0" bIns="0" rIns="0">
            <a:spAutoFit/>
          </a:bodyPr>
          <a:lstStyle/>
          <a:p>
            <a:pPr algn="l">
              <a:lnSpc>
                <a:spcPts val="13799"/>
              </a:lnSpc>
            </a:pPr>
            <a:r>
              <a:rPr lang="en-US" sz="14999">
                <a:solidFill>
                  <a:srgbClr val="412D44"/>
                </a:solidFill>
                <a:latin typeface="Circe Contrast"/>
                <a:ea typeface="Circe Contrast"/>
                <a:cs typeface="Circe Contrast"/>
                <a:sym typeface="Circe Contrast"/>
              </a:rPr>
              <a:t>GANNT</a:t>
            </a:r>
          </a:p>
        </p:txBody>
      </p:sp>
      <p:sp>
        <p:nvSpPr>
          <p:cNvPr name="AutoShape 5" id="5"/>
          <p:cNvSpPr/>
          <p:nvPr/>
        </p:nvSpPr>
        <p:spPr>
          <a:xfrm rot="0">
            <a:off x="-818960" y="404795"/>
            <a:ext cx="19821877" cy="0"/>
          </a:xfrm>
          <a:prstGeom prst="line">
            <a:avLst/>
          </a:prstGeom>
          <a:ln cap="flat" w="114300">
            <a:solidFill>
              <a:srgbClr val="FFFFFF"/>
            </a:solidFill>
            <a:prstDash val="solid"/>
            <a:headEnd type="none" len="sm" w="sm"/>
            <a:tailEnd type="none" len="sm" w="sm"/>
          </a:ln>
        </p:spPr>
      </p:sp>
      <p:sp>
        <p:nvSpPr>
          <p:cNvPr name="AutoShape 6" id="6"/>
          <p:cNvSpPr/>
          <p:nvPr/>
        </p:nvSpPr>
        <p:spPr>
          <a:xfrm rot="0">
            <a:off x="-574329" y="9672305"/>
            <a:ext cx="19821877" cy="0"/>
          </a:xfrm>
          <a:prstGeom prst="line">
            <a:avLst/>
          </a:prstGeom>
          <a:ln cap="flat" w="114300">
            <a:solidFill>
              <a:srgbClr val="FFFFFF"/>
            </a:solidFill>
            <a:prstDash val="solid"/>
            <a:headEnd type="none" len="sm" w="sm"/>
            <a:tailEnd type="none" len="sm" w="sm"/>
          </a:ln>
        </p:spPr>
      </p:sp>
      <p:sp>
        <p:nvSpPr>
          <p:cNvPr name="AutoShape 7" id="7"/>
          <p:cNvSpPr/>
          <p:nvPr/>
        </p:nvSpPr>
        <p:spPr>
          <a:xfrm rot="0">
            <a:off x="-422728" y="9424655"/>
            <a:ext cx="19821877" cy="0"/>
          </a:xfrm>
          <a:prstGeom prst="line">
            <a:avLst/>
          </a:prstGeom>
          <a:ln cap="flat" w="114300">
            <a:solidFill>
              <a:srgbClr val="FFFFFF"/>
            </a:solidFill>
            <a:prstDash val="solid"/>
            <a:headEnd type="none" len="sm" w="sm"/>
            <a:tailEnd type="none" len="sm" w="sm"/>
          </a:ln>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sp>
        <p:nvSpPr>
          <p:cNvPr name="Freeform 2" id="2"/>
          <p:cNvSpPr/>
          <p:nvPr/>
        </p:nvSpPr>
        <p:spPr>
          <a:xfrm flipH="false" flipV="false" rot="0">
            <a:off x="2488746" y="214452"/>
            <a:ext cx="13310508" cy="9858095"/>
          </a:xfrm>
          <a:custGeom>
            <a:avLst/>
            <a:gdLst/>
            <a:ahLst/>
            <a:cxnLst/>
            <a:rect r="r" b="b" t="t" l="l"/>
            <a:pathLst>
              <a:path h="9858095" w="13310508">
                <a:moveTo>
                  <a:pt x="0" y="0"/>
                </a:moveTo>
                <a:lnTo>
                  <a:pt x="13310508" y="0"/>
                </a:lnTo>
                <a:lnTo>
                  <a:pt x="13310508" y="9858096"/>
                </a:lnTo>
                <a:lnTo>
                  <a:pt x="0" y="9858096"/>
                </a:lnTo>
                <a:lnTo>
                  <a:pt x="0" y="0"/>
                </a:lnTo>
                <a:close/>
              </a:path>
            </a:pathLst>
          </a:custGeom>
          <a:blipFill>
            <a:blip r:embed="rId2"/>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sp>
        <p:nvSpPr>
          <p:cNvPr name="AutoShape 2" id="2"/>
          <p:cNvSpPr/>
          <p:nvPr/>
        </p:nvSpPr>
        <p:spPr>
          <a:xfrm rot="0">
            <a:off x="-970562" y="652445"/>
            <a:ext cx="19821877" cy="0"/>
          </a:xfrm>
          <a:prstGeom prst="line">
            <a:avLst/>
          </a:prstGeom>
          <a:ln cap="flat" w="114300">
            <a:solidFill>
              <a:srgbClr val="FFFFFF"/>
            </a:solidFill>
            <a:prstDash val="solid"/>
            <a:headEnd type="none" len="sm" w="sm"/>
            <a:tailEnd type="none" len="sm" w="sm"/>
          </a:ln>
        </p:spPr>
      </p:sp>
      <p:sp>
        <p:nvSpPr>
          <p:cNvPr name="AutoShape 3" id="3"/>
          <p:cNvSpPr/>
          <p:nvPr/>
        </p:nvSpPr>
        <p:spPr>
          <a:xfrm rot="0">
            <a:off x="-818960" y="404795"/>
            <a:ext cx="19821877" cy="0"/>
          </a:xfrm>
          <a:prstGeom prst="line">
            <a:avLst/>
          </a:prstGeom>
          <a:ln cap="flat" w="114300">
            <a:solidFill>
              <a:srgbClr val="FFFFFF"/>
            </a:solidFill>
            <a:prstDash val="solid"/>
            <a:headEnd type="none" len="sm" w="sm"/>
            <a:tailEnd type="none" len="sm" w="sm"/>
          </a:ln>
        </p:spPr>
      </p:sp>
      <p:sp>
        <p:nvSpPr>
          <p:cNvPr name="AutoShape 4" id="4"/>
          <p:cNvSpPr/>
          <p:nvPr/>
        </p:nvSpPr>
        <p:spPr>
          <a:xfrm rot="0">
            <a:off x="-574329" y="9672305"/>
            <a:ext cx="19821877" cy="0"/>
          </a:xfrm>
          <a:prstGeom prst="line">
            <a:avLst/>
          </a:prstGeom>
          <a:ln cap="flat" w="114300">
            <a:solidFill>
              <a:srgbClr val="FFFFFF"/>
            </a:solidFill>
            <a:prstDash val="solid"/>
            <a:headEnd type="none" len="sm" w="sm"/>
            <a:tailEnd type="none" len="sm" w="sm"/>
          </a:ln>
        </p:spPr>
      </p:sp>
      <p:sp>
        <p:nvSpPr>
          <p:cNvPr name="AutoShape 5" id="5"/>
          <p:cNvSpPr/>
          <p:nvPr/>
        </p:nvSpPr>
        <p:spPr>
          <a:xfrm rot="0">
            <a:off x="-422728" y="9424655"/>
            <a:ext cx="19821877" cy="0"/>
          </a:xfrm>
          <a:prstGeom prst="line">
            <a:avLst/>
          </a:prstGeom>
          <a:ln cap="flat" w="114300">
            <a:solidFill>
              <a:srgbClr val="FFFFFF"/>
            </a:solidFill>
            <a:prstDash val="solid"/>
            <a:headEnd type="none" len="sm" w="sm"/>
            <a:tailEnd type="none" len="sm" w="sm"/>
          </a:ln>
        </p:spPr>
      </p:sp>
      <p:sp>
        <p:nvSpPr>
          <p:cNvPr name="TextBox 6" id="6"/>
          <p:cNvSpPr txBox="true"/>
          <p:nvPr/>
        </p:nvSpPr>
        <p:spPr>
          <a:xfrm rot="0">
            <a:off x="3094951" y="9728827"/>
            <a:ext cx="7876149" cy="314325"/>
          </a:xfrm>
          <a:prstGeom prst="rect">
            <a:avLst/>
          </a:prstGeom>
        </p:spPr>
        <p:txBody>
          <a:bodyPr anchor="t" rtlCol="false" tIns="0" lIns="0" bIns="0" rIns="0">
            <a:spAutoFit/>
          </a:bodyPr>
          <a:lstStyle/>
          <a:p>
            <a:pPr algn="l" marL="0" indent="0" lvl="0">
              <a:lnSpc>
                <a:spcPts val="2520"/>
              </a:lnSpc>
              <a:spcBef>
                <a:spcPct val="0"/>
              </a:spcBef>
            </a:pPr>
            <a:r>
              <a:rPr lang="en-US" b="true" sz="2100" i="true" u="sng">
                <a:solidFill>
                  <a:srgbClr val="583D5B"/>
                </a:solidFill>
                <a:latin typeface="Circe Bold Italics"/>
                <a:ea typeface="Circe Bold Italics"/>
                <a:cs typeface="Circe Bold Italics"/>
                <a:sym typeface="Circe Bold Italics"/>
                <a:hlinkClick r:id="rId2" tooltip="https://github.com/users/SolArotuma/projects/1/views/8"/>
              </a:rPr>
              <a:t>https://github.com/users/SolArotuma/projects/1/views/8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sp>
        <p:nvSpPr>
          <p:cNvPr name="AutoShape 2" id="2"/>
          <p:cNvSpPr/>
          <p:nvPr/>
        </p:nvSpPr>
        <p:spPr>
          <a:xfrm rot="0">
            <a:off x="-970562" y="652445"/>
            <a:ext cx="19821877" cy="0"/>
          </a:xfrm>
          <a:prstGeom prst="line">
            <a:avLst/>
          </a:prstGeom>
          <a:ln cap="flat" w="114300">
            <a:solidFill>
              <a:srgbClr val="FFFFFF"/>
            </a:solidFill>
            <a:prstDash val="solid"/>
            <a:headEnd type="none" len="sm" w="sm"/>
            <a:tailEnd type="none" len="sm" w="sm"/>
          </a:ln>
        </p:spPr>
      </p:sp>
      <p:sp>
        <p:nvSpPr>
          <p:cNvPr name="Freeform 3" id="3"/>
          <p:cNvSpPr/>
          <p:nvPr/>
        </p:nvSpPr>
        <p:spPr>
          <a:xfrm flipH="false" flipV="false" rot="0">
            <a:off x="16578450" y="8533032"/>
            <a:ext cx="712262" cy="336706"/>
          </a:xfrm>
          <a:custGeom>
            <a:avLst/>
            <a:gdLst/>
            <a:ahLst/>
            <a:cxnLst/>
            <a:rect r="r" b="b" t="t" l="l"/>
            <a:pathLst>
              <a:path h="336706" w="712262">
                <a:moveTo>
                  <a:pt x="0" y="0"/>
                </a:moveTo>
                <a:lnTo>
                  <a:pt x="712262" y="0"/>
                </a:lnTo>
                <a:lnTo>
                  <a:pt x="712262" y="336705"/>
                </a:lnTo>
                <a:lnTo>
                  <a:pt x="0" y="336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77733" y="966770"/>
            <a:ext cx="9126142" cy="1222025"/>
          </a:xfrm>
          <a:prstGeom prst="rect">
            <a:avLst/>
          </a:prstGeom>
        </p:spPr>
        <p:txBody>
          <a:bodyPr anchor="t" rtlCol="false" tIns="0" lIns="0" bIns="0" rIns="0">
            <a:spAutoFit/>
          </a:bodyPr>
          <a:lstStyle/>
          <a:p>
            <a:pPr algn="l">
              <a:lnSpc>
                <a:spcPts val="8966"/>
              </a:lnSpc>
            </a:pPr>
            <a:r>
              <a:rPr lang="en-US" sz="9746">
                <a:solidFill>
                  <a:srgbClr val="412D44"/>
                </a:solidFill>
                <a:latin typeface="Circe Contrast"/>
                <a:ea typeface="Circe Contrast"/>
                <a:cs typeface="Circe Contrast"/>
                <a:sym typeface="Circe Contrast"/>
              </a:rPr>
              <a:t>REFERENCIAS:</a:t>
            </a:r>
          </a:p>
        </p:txBody>
      </p:sp>
      <p:sp>
        <p:nvSpPr>
          <p:cNvPr name="AutoShape 5" id="5"/>
          <p:cNvSpPr/>
          <p:nvPr/>
        </p:nvSpPr>
        <p:spPr>
          <a:xfrm rot="0">
            <a:off x="-818960" y="404795"/>
            <a:ext cx="19821877" cy="0"/>
          </a:xfrm>
          <a:prstGeom prst="line">
            <a:avLst/>
          </a:prstGeom>
          <a:ln cap="flat" w="114300">
            <a:solidFill>
              <a:srgbClr val="FFFFFF"/>
            </a:solidFill>
            <a:prstDash val="solid"/>
            <a:headEnd type="none" len="sm" w="sm"/>
            <a:tailEnd type="none" len="sm" w="sm"/>
          </a:ln>
        </p:spPr>
      </p:sp>
      <p:sp>
        <p:nvSpPr>
          <p:cNvPr name="AutoShape 6" id="6"/>
          <p:cNvSpPr/>
          <p:nvPr/>
        </p:nvSpPr>
        <p:spPr>
          <a:xfrm rot="0">
            <a:off x="-574329" y="9672305"/>
            <a:ext cx="19821877" cy="0"/>
          </a:xfrm>
          <a:prstGeom prst="line">
            <a:avLst/>
          </a:prstGeom>
          <a:ln cap="flat" w="114300">
            <a:solidFill>
              <a:srgbClr val="FFFFFF"/>
            </a:solidFill>
            <a:prstDash val="solid"/>
            <a:headEnd type="none" len="sm" w="sm"/>
            <a:tailEnd type="none" len="sm" w="sm"/>
          </a:ln>
        </p:spPr>
      </p:sp>
      <p:sp>
        <p:nvSpPr>
          <p:cNvPr name="AutoShape 7" id="7"/>
          <p:cNvSpPr/>
          <p:nvPr/>
        </p:nvSpPr>
        <p:spPr>
          <a:xfrm rot="0">
            <a:off x="-422728" y="9424655"/>
            <a:ext cx="19821877" cy="0"/>
          </a:xfrm>
          <a:prstGeom prst="line">
            <a:avLst/>
          </a:prstGeom>
          <a:ln cap="flat" w="114300">
            <a:solidFill>
              <a:srgbClr val="FFFFFF"/>
            </a:solidFill>
            <a:prstDash val="solid"/>
            <a:headEnd type="none" len="sm" w="sm"/>
            <a:tailEnd type="none" len="sm" w="sm"/>
          </a:ln>
        </p:spPr>
      </p:sp>
      <p:sp>
        <p:nvSpPr>
          <p:cNvPr name="TextBox 8" id="8"/>
          <p:cNvSpPr txBox="true"/>
          <p:nvPr/>
        </p:nvSpPr>
        <p:spPr>
          <a:xfrm rot="0">
            <a:off x="177733" y="2169744"/>
            <a:ext cx="18357696" cy="6964411"/>
          </a:xfrm>
          <a:prstGeom prst="rect">
            <a:avLst/>
          </a:prstGeom>
        </p:spPr>
        <p:txBody>
          <a:bodyPr anchor="t" rtlCol="false" tIns="0" lIns="0" bIns="0" rIns="0">
            <a:spAutoFit/>
          </a:bodyPr>
          <a:lstStyle/>
          <a:p>
            <a:pPr algn="l">
              <a:lnSpc>
                <a:spcPts val="1565"/>
              </a:lnSpc>
            </a:pPr>
            <a:r>
              <a:rPr lang="en-US" sz="1118">
                <a:solidFill>
                  <a:srgbClr val="201F1F"/>
                </a:solidFill>
                <a:latin typeface="Circe"/>
                <a:ea typeface="Circe"/>
                <a:cs typeface="Circe"/>
                <a:sym typeface="Circe"/>
              </a:rPr>
              <a:t>[1]</a:t>
            </a:r>
          </a:p>
          <a:p>
            <a:pPr algn="l">
              <a:lnSpc>
                <a:spcPts val="1565"/>
              </a:lnSpc>
            </a:pPr>
            <a:r>
              <a:rPr lang="en-US" sz="1118">
                <a:solidFill>
                  <a:srgbClr val="201F1F"/>
                </a:solidFill>
                <a:latin typeface="Circe"/>
                <a:ea typeface="Circe"/>
                <a:cs typeface="Circe"/>
                <a:sym typeface="Circe"/>
              </a:rPr>
              <a:t>OE</a:t>
            </a:r>
            <a:r>
              <a:rPr lang="en-US" sz="1118">
                <a:solidFill>
                  <a:srgbClr val="201F1F"/>
                </a:solidFill>
                <a:latin typeface="Circe"/>
                <a:ea typeface="Circe"/>
                <a:cs typeface="Circe"/>
                <a:sym typeface="Circe"/>
              </a:rPr>
              <a:t>CD (2025), Estudios de la OCDE sobre los Sistemas de Salud: Perú 2025, OECD Publishing, Paris,</a:t>
            </a:r>
            <a:r>
              <a:rPr lang="en-US" sz="1118" u="sng">
                <a:solidFill>
                  <a:srgbClr val="201F1F"/>
                </a:solidFill>
                <a:latin typeface="Circe"/>
                <a:ea typeface="Circe"/>
                <a:cs typeface="Circe"/>
                <a:sym typeface="Circe"/>
                <a:hlinkClick r:id="rId4" tooltip="https://doi.org/10.1787/262a739e-es"/>
              </a:rPr>
              <a:t> https://doi.org/10.1787/262a739e-es</a:t>
            </a:r>
            <a:r>
              <a:rPr lang="en-US" sz="1118">
                <a:solidFill>
                  <a:srgbClr val="201F1F"/>
                </a:solidFill>
                <a:latin typeface="Circe"/>
                <a:ea typeface="Circe"/>
                <a:cs typeface="Circe"/>
                <a:sym typeface="Circe"/>
              </a:rPr>
              <a:t> </a:t>
            </a:r>
          </a:p>
          <a:p>
            <a:pPr algn="l">
              <a:lnSpc>
                <a:spcPts val="1565"/>
              </a:lnSpc>
            </a:pPr>
            <a:r>
              <a:rPr lang="en-US" sz="1118">
                <a:solidFill>
                  <a:srgbClr val="201F1F"/>
                </a:solidFill>
                <a:latin typeface="Circe"/>
                <a:ea typeface="Circe"/>
                <a:cs typeface="Circe"/>
                <a:sym typeface="Circe"/>
              </a:rPr>
              <a:t>[2] </a:t>
            </a:r>
          </a:p>
          <a:p>
            <a:pPr algn="l">
              <a:lnSpc>
                <a:spcPts val="1565"/>
              </a:lnSpc>
            </a:pPr>
            <a:r>
              <a:rPr lang="en-US" sz="1118">
                <a:solidFill>
                  <a:srgbClr val="201F1F"/>
                </a:solidFill>
                <a:latin typeface="Circe"/>
                <a:ea typeface="Circe"/>
                <a:cs typeface="Circe"/>
                <a:sym typeface="Circe"/>
              </a:rPr>
              <a:t>U. de P. de C. de la Salud, “ESCUELA DE POSGRADO,” Edu.pe. Accessed: Sep. 19, 2026. [Online]. Available: </a:t>
            </a:r>
            <a:r>
              <a:rPr lang="en-US" sz="1118" u="sng">
                <a:solidFill>
                  <a:srgbClr val="201F1F"/>
                </a:solidFill>
                <a:latin typeface="Circe"/>
                <a:ea typeface="Circe"/>
                <a:cs typeface="Circe"/>
                <a:sym typeface="Circe"/>
                <a:hlinkClick r:id="rId5" tooltip="https://repositorio.upeu.edu.pe/server/api/core/bitstreams/d6d66ffc-21c1-4e95-a788-f539eb6c3787/content"/>
              </a:rPr>
              <a:t>https://repositorio.upeu.edu.pe/server/api/core/bitstreams/d6d66ffc-21c1-4e95-a788-f539eb6c3787/content</a:t>
            </a:r>
          </a:p>
          <a:p>
            <a:pPr algn="l">
              <a:lnSpc>
                <a:spcPts val="1565"/>
              </a:lnSpc>
            </a:pPr>
            <a:r>
              <a:rPr lang="en-US" sz="1118">
                <a:solidFill>
                  <a:srgbClr val="201F1F"/>
                </a:solidFill>
                <a:latin typeface="Circe"/>
                <a:ea typeface="Circe"/>
                <a:cs typeface="Circe"/>
                <a:sym typeface="Circe"/>
              </a:rPr>
              <a:t>[3]</a:t>
            </a:r>
          </a:p>
          <a:p>
            <a:pPr algn="l">
              <a:lnSpc>
                <a:spcPts val="1565"/>
              </a:lnSpc>
            </a:pPr>
            <a:r>
              <a:rPr lang="en-US" sz="1118">
                <a:solidFill>
                  <a:srgbClr val="201F1F"/>
                </a:solidFill>
                <a:latin typeface="Circe"/>
                <a:ea typeface="Circe"/>
                <a:cs typeface="Circe"/>
                <a:sym typeface="Circe"/>
              </a:rPr>
              <a:t>D. O. Nyabuga y N. Iradukunda, “Intelligent IoT-based Alert System for Monitoring Drip of Intravenous Fluids (IV) and Reverse Blood Flow”, Journal of Technology Informatics and Engineering, vol. 5, núm. 2, pp. 314–333, ago. 2026, doi: 10.51903/JTIE.V5I2.550.</a:t>
            </a:r>
          </a:p>
          <a:p>
            <a:pPr algn="l">
              <a:lnSpc>
                <a:spcPts val="1565"/>
              </a:lnSpc>
            </a:pPr>
            <a:r>
              <a:rPr lang="en-US" sz="1118">
                <a:solidFill>
                  <a:srgbClr val="201F1F"/>
                </a:solidFill>
                <a:latin typeface="Circe"/>
                <a:ea typeface="Circe"/>
                <a:cs typeface="Circe"/>
                <a:sym typeface="Circe"/>
              </a:rPr>
              <a:t>[4]</a:t>
            </a:r>
          </a:p>
          <a:p>
            <a:pPr algn="l">
              <a:lnSpc>
                <a:spcPts val="1565"/>
              </a:lnSpc>
            </a:pPr>
            <a:r>
              <a:rPr lang="en-US" sz="1118">
                <a:solidFill>
                  <a:srgbClr val="201F1F"/>
                </a:solidFill>
                <a:latin typeface="Circe"/>
                <a:ea typeface="Circe"/>
                <a:cs typeface="Circe"/>
                <a:sym typeface="Circe"/>
              </a:rPr>
              <a:t>M. Kujawa, S. Motała, M. Gonet, R. Pietrzyk, T. Czechowski, y M. Baranowski, “Low-cost, programmable infusion pump with bolus mode for in-vivo imaging”, HardwareX, vol. 9, abr. 2021, doi: 10.1016/j.ohx.2021.e00194.</a:t>
            </a:r>
          </a:p>
          <a:p>
            <a:pPr algn="l">
              <a:lnSpc>
                <a:spcPts val="1565"/>
              </a:lnSpc>
            </a:pPr>
            <a:r>
              <a:rPr lang="en-US" sz="1118">
                <a:solidFill>
                  <a:srgbClr val="201F1F"/>
                </a:solidFill>
                <a:latin typeface="Circe"/>
                <a:ea typeface="Circe"/>
                <a:cs typeface="Circe"/>
                <a:sym typeface="Circe"/>
              </a:rPr>
              <a:t>[5] </a:t>
            </a:r>
          </a:p>
          <a:p>
            <a:pPr algn="l">
              <a:lnSpc>
                <a:spcPts val="1565"/>
              </a:lnSpc>
            </a:pPr>
            <a:r>
              <a:rPr lang="en-US" sz="1118">
                <a:solidFill>
                  <a:srgbClr val="201F1F"/>
                </a:solidFill>
                <a:latin typeface="Circe"/>
                <a:ea typeface="Circe"/>
                <a:cs typeface="Circe"/>
                <a:sym typeface="Circe"/>
              </a:rPr>
              <a:t>M. Iftikhar et al., “Automated IV Infusion Control System Design and Development for Medical Use”, Pakistan Journal of Scientific Research, vol. 3, núm. 1, pp. 106–112, jun. 2023, doi: 10.57041/PJOSR.V3I1.969.</a:t>
            </a:r>
          </a:p>
          <a:p>
            <a:pPr algn="l">
              <a:lnSpc>
                <a:spcPts val="1565"/>
              </a:lnSpc>
            </a:pPr>
            <a:r>
              <a:rPr lang="en-US" sz="1118">
                <a:solidFill>
                  <a:srgbClr val="201F1F"/>
                </a:solidFill>
                <a:latin typeface="Circe"/>
                <a:ea typeface="Circe"/>
                <a:cs typeface="Circe"/>
                <a:sym typeface="Circe"/>
              </a:rPr>
              <a:t>[6]</a:t>
            </a:r>
          </a:p>
          <a:p>
            <a:pPr algn="l">
              <a:lnSpc>
                <a:spcPts val="1565"/>
              </a:lnSpc>
            </a:pPr>
            <a:r>
              <a:rPr lang="en-US" sz="1118">
                <a:solidFill>
                  <a:srgbClr val="201F1F"/>
                </a:solidFill>
                <a:latin typeface="Circe"/>
                <a:ea typeface="Circe"/>
                <a:cs typeface="Circe"/>
                <a:sym typeface="Circe"/>
              </a:rPr>
              <a:t>J. T. BODWELL, D. A. van der MERWE, M. D. DESCH, y L. B. GRAY, “AU2021203887B2 - Syringe pump having a pressure sensor assembly - Google Patents”. Disponible en: </a:t>
            </a:r>
            <a:r>
              <a:rPr lang="en-US" sz="1118" u="sng">
                <a:solidFill>
                  <a:srgbClr val="201F1F"/>
                </a:solidFill>
                <a:latin typeface="Circe"/>
                <a:ea typeface="Circe"/>
                <a:cs typeface="Circe"/>
                <a:sym typeface="Circe"/>
                <a:hlinkClick r:id="rId6" tooltip="https://patents.google.com/patent/AU2021203887B2/en?q=(infusion+pump+automated)&amp;oq=infusion+pump+automated&amp;page=4"/>
              </a:rPr>
              <a:t>https://patents.google.com/patent/AU2021203887B2/en?q=(infusion+pump+automated)&amp;oq=infusion+pump+automated&amp;page=4</a:t>
            </a:r>
          </a:p>
          <a:p>
            <a:pPr algn="l">
              <a:lnSpc>
                <a:spcPts val="1565"/>
              </a:lnSpc>
            </a:pPr>
            <a:r>
              <a:rPr lang="en-US" sz="1118">
                <a:solidFill>
                  <a:srgbClr val="201F1F"/>
                </a:solidFill>
                <a:latin typeface="Circe"/>
                <a:ea typeface="Circe"/>
                <a:cs typeface="Circe"/>
                <a:sym typeface="Circe"/>
              </a:rPr>
              <a:t>[7]</a:t>
            </a:r>
          </a:p>
          <a:p>
            <a:pPr algn="l">
              <a:lnSpc>
                <a:spcPts val="1565"/>
              </a:lnSpc>
            </a:pPr>
            <a:r>
              <a:rPr lang="en-US" sz="1118">
                <a:solidFill>
                  <a:srgbClr val="201F1F"/>
                </a:solidFill>
                <a:latin typeface="Circe"/>
                <a:ea typeface="Circe"/>
                <a:cs typeface="Circe"/>
                <a:sym typeface="Circe"/>
              </a:rPr>
              <a:t>S. D. Sean Saint y A. Michael Rosinko, “US20210093782A1 - System and method for mitigating risk in automated medicament dosing - Google Patents”. [En línea]. Disponible en: </a:t>
            </a:r>
            <a:r>
              <a:rPr lang="en-US" sz="1118" u="sng">
                <a:solidFill>
                  <a:srgbClr val="201F1F"/>
                </a:solidFill>
                <a:latin typeface="Circe"/>
                <a:ea typeface="Circe"/>
                <a:cs typeface="Circe"/>
                <a:sym typeface="Circe"/>
                <a:hlinkClick r:id="rId7" tooltip="https://patents.google.com/patent/US20210093782A1/en?oq=US20210093782A1"/>
              </a:rPr>
              <a:t>https://patents.google.com/patent/US20210093782A1/en?oq=US20210093782A1</a:t>
            </a:r>
          </a:p>
          <a:p>
            <a:pPr algn="l">
              <a:lnSpc>
                <a:spcPts val="1565"/>
              </a:lnSpc>
            </a:pPr>
            <a:r>
              <a:rPr lang="en-US" sz="1118">
                <a:solidFill>
                  <a:srgbClr val="201F1F"/>
                </a:solidFill>
                <a:latin typeface="Circe"/>
                <a:ea typeface="Circe"/>
                <a:cs typeface="Circe"/>
                <a:sym typeface="Circe"/>
              </a:rPr>
              <a:t>[8]</a:t>
            </a:r>
          </a:p>
          <a:p>
            <a:pPr algn="l">
              <a:lnSpc>
                <a:spcPts val="1565"/>
              </a:lnSpc>
            </a:pPr>
            <a:r>
              <a:rPr lang="en-US" sz="1118">
                <a:solidFill>
                  <a:srgbClr val="201F1F"/>
                </a:solidFill>
                <a:latin typeface="Circe"/>
                <a:ea typeface="Circe"/>
                <a:cs typeface="Circe"/>
                <a:sym typeface="Circe"/>
              </a:rPr>
              <a:t>S. R. ISAACSON, W. F. HARDING, R. L. SONDEREGGER, A. J. MCKINNON, y M. IVOSEVIC, “ES2741248T3 - Sistemas y métodos de gestión de flujo intravenoso (IV) - Google Patents”. [En línea]. Disponible en: </a:t>
            </a:r>
            <a:r>
              <a:rPr lang="en-US" sz="1118" u="sng">
                <a:solidFill>
                  <a:srgbClr val="201F1F"/>
                </a:solidFill>
                <a:latin typeface="Circe"/>
                <a:ea typeface="Circe"/>
                <a:cs typeface="Circe"/>
                <a:sym typeface="Circe"/>
                <a:hlinkClick r:id="rId8" tooltip="https://patents.google.com/patent/ES2741248T3/es?q=(goteo+intravenoso)&amp;oq=goteo+intravenoso"/>
              </a:rPr>
              <a:t>https://patents.google.com/patent/ES2741248T3/es?q=(goteo+intravenoso)&amp;oq=goteo+intravenoso</a:t>
            </a:r>
          </a:p>
          <a:p>
            <a:pPr algn="l">
              <a:lnSpc>
                <a:spcPts val="1565"/>
              </a:lnSpc>
            </a:pPr>
            <a:r>
              <a:rPr lang="en-US" sz="1118">
                <a:solidFill>
                  <a:srgbClr val="201F1F"/>
                </a:solidFill>
                <a:latin typeface="Circe"/>
                <a:ea typeface="Circe"/>
                <a:cs typeface="Circe"/>
                <a:sym typeface="Circe"/>
              </a:rPr>
              <a:t>[9] BD, "Alaris™ Infusion System," BD, [En línea] https://www.bd.com/en-us/products-and-solutions/products/product-brands/alaris#bdalarisinfusionsystem (accessed Sep. 18, 2026).</a:t>
            </a:r>
          </a:p>
          <a:p>
            <a:pPr algn="l">
              <a:lnSpc>
                <a:spcPts val="1565"/>
              </a:lnSpc>
            </a:pPr>
            <a:r>
              <a:rPr lang="en-US" sz="1118">
                <a:solidFill>
                  <a:srgbClr val="201F1F"/>
                </a:solidFill>
                <a:latin typeface="Circe"/>
                <a:ea typeface="Circe"/>
                <a:cs typeface="Circe"/>
                <a:sym typeface="Circe"/>
              </a:rPr>
              <a:t>[10] B. Braun, "Infusion Therapy," B. Braun, [En línea] https://www.bbraun.com/en/products-and-solutions/therapies/infusion-therapy.html (accessed Sep. 18, 2026).</a:t>
            </a:r>
          </a:p>
          <a:p>
            <a:pPr algn="l">
              <a:lnSpc>
                <a:spcPts val="1565"/>
              </a:lnSpc>
            </a:pPr>
            <a:r>
              <a:rPr lang="en-US" sz="1118">
                <a:solidFill>
                  <a:srgbClr val="201F1F"/>
                </a:solidFill>
                <a:latin typeface="Circe"/>
                <a:ea typeface="Circe"/>
                <a:cs typeface="Circe"/>
                <a:sym typeface="Circe"/>
              </a:rPr>
              <a:t>[11] Fresenius Kabi, "Agilia Connect Range – Infusion and Nutrition Systems," Fresenius Kabi, [En línea] https://www.fresenius-kabi.com/gb/healthcare-professional-area/medtech/infusion-and-nutrition-systems/agilia-connect-range (accessed Sep. 18, 2026).</a:t>
            </a:r>
          </a:p>
          <a:p>
            <a:pPr algn="l">
              <a:lnSpc>
                <a:spcPts val="1565"/>
              </a:lnSpc>
            </a:pPr>
            <a:r>
              <a:rPr lang="en-US" sz="1118">
                <a:solidFill>
                  <a:srgbClr val="201F1F"/>
                </a:solidFill>
                <a:latin typeface="Circe"/>
                <a:ea typeface="Circe"/>
                <a:cs typeface="Circe"/>
                <a:sym typeface="Circe"/>
              </a:rPr>
              <a:t>[12] Shift Labs, "Purchase Now," Shift Labs, [En línea] https://www.shiftlabs.com/purchase-now (accessed Sep. 19, 2026).</a:t>
            </a:r>
          </a:p>
          <a:p>
            <a:pPr algn="l">
              <a:lnSpc>
                <a:spcPts val="1565"/>
              </a:lnSpc>
            </a:pPr>
            <a:r>
              <a:rPr lang="en-US" sz="1118">
                <a:solidFill>
                  <a:srgbClr val="201F1F"/>
                </a:solidFill>
                <a:latin typeface="Circe"/>
                <a:ea typeface="Circe"/>
                <a:cs typeface="Circe"/>
                <a:sym typeface="Circe"/>
              </a:rPr>
              <a:t>[13] IEMedic, "Bomba de Infusión," IEMedic, [En línea] https://iemedic.com.pe/product/bomba-de-infusion/ (accessed Sep. 18, 2026).</a:t>
            </a:r>
          </a:p>
          <a:p>
            <a:pPr algn="l">
              <a:lnSpc>
                <a:spcPts val="1565"/>
              </a:lnSpc>
            </a:pPr>
            <a:r>
              <a:rPr lang="en-US" sz="1118">
                <a:solidFill>
                  <a:srgbClr val="201F1F"/>
                </a:solidFill>
                <a:latin typeface="Circe"/>
                <a:ea typeface="Circe"/>
                <a:cs typeface="Circe"/>
                <a:sym typeface="Circe"/>
              </a:rPr>
              <a:t>[14] Made-in-China, "Hospital Medical Device Supply Fluids or Medication Infusion Pump," Made-in-China, [En línea] https://es.made-in-china.com/co_dpmmed/product_Hospital-Medical-Device-Supply-Fluids-or-Medication-Infusion-Pump_ysuunuugog.html?pv_id=1k2s6o8rl0b8&amp;faw_id=1k2s6o97u7b4&amp;bv_id=1k2s6oagk9d6&amp;pbv_id=1k2s6j4ql399u (accessed Sep. 18, 2026).</a:t>
            </a:r>
          </a:p>
          <a:p>
            <a:pPr algn="l">
              <a:lnSpc>
                <a:spcPts val="1565"/>
              </a:lnSpc>
            </a:pPr>
            <a:r>
              <a:rPr lang="en-US" sz="1118">
                <a:solidFill>
                  <a:srgbClr val="201F1F"/>
                </a:solidFill>
                <a:latin typeface="Circe"/>
                <a:ea typeface="Circe"/>
                <a:cs typeface="Circe"/>
                <a:sym typeface="Circe"/>
              </a:rPr>
              <a:t>[15]</a:t>
            </a:r>
          </a:p>
          <a:p>
            <a:pPr algn="l">
              <a:lnSpc>
                <a:spcPts val="1565"/>
              </a:lnSpc>
            </a:pPr>
            <a:r>
              <a:rPr lang="en-US" sz="1118">
                <a:solidFill>
                  <a:srgbClr val="201F1F"/>
                </a:solidFill>
                <a:latin typeface="Circe"/>
                <a:ea typeface="Circe"/>
                <a:cs typeface="Circe"/>
                <a:sym typeface="Circe"/>
              </a:rPr>
              <a:t>“Bolsa de perfusión - Todos los fabricantes de dispositivos médicos”. Consultado: el 18 de septiembre de 2026. [En línea]. Disponible en: https://www.medicalexpo.es/fabricante-medical/bolsa-perfusion-57247.html</a:t>
            </a:r>
          </a:p>
          <a:p>
            <a:pPr algn="l">
              <a:lnSpc>
                <a:spcPts val="1565"/>
              </a:lnSpc>
            </a:pPr>
            <a:r>
              <a:rPr lang="en-US" sz="1118">
                <a:solidFill>
                  <a:srgbClr val="201F1F"/>
                </a:solidFill>
                <a:latin typeface="Circe"/>
                <a:ea typeface="Circe"/>
                <a:cs typeface="Circe"/>
                <a:sym typeface="Circe"/>
              </a:rPr>
              <a:t>[16]</a:t>
            </a:r>
          </a:p>
          <a:p>
            <a:pPr algn="l">
              <a:lnSpc>
                <a:spcPts val="1565"/>
              </a:lnSpc>
            </a:pPr>
            <a:r>
              <a:rPr lang="en-US" sz="1118">
                <a:solidFill>
                  <a:srgbClr val="201F1F"/>
                </a:solidFill>
                <a:latin typeface="Circe"/>
                <a:ea typeface="Circe"/>
                <a:cs typeface="Circe"/>
                <a:sym typeface="Circe"/>
              </a:rPr>
              <a:t>“IEC 60601-1-8:2006 - Equipos electromédicos — Parte 1-8: Requisitos generales para la seguridad básica y el rendimiento esencial — Norma complementaria: Requisitos generales, ensayos y directrices para sistemas de alarma en equipos electromédicos y siste…”. [En línea]. Disponible en: https://www.iso.org/standard/41986.html</a:t>
            </a:r>
          </a:p>
          <a:p>
            <a:pPr algn="l">
              <a:lnSpc>
                <a:spcPts val="1565"/>
              </a:lnSpc>
            </a:pPr>
            <a:r>
              <a:rPr lang="en-US" sz="1118">
                <a:solidFill>
                  <a:srgbClr val="201F1F"/>
                </a:solidFill>
                <a:latin typeface="Circe"/>
                <a:ea typeface="Circe"/>
                <a:cs typeface="Circe"/>
                <a:sym typeface="Circe"/>
              </a:rPr>
              <a:t>[17]</a:t>
            </a:r>
          </a:p>
          <a:p>
            <a:pPr algn="l">
              <a:lnSpc>
                <a:spcPts val="1565"/>
              </a:lnSpc>
            </a:pPr>
            <a:r>
              <a:rPr lang="en-US" sz="1118">
                <a:solidFill>
                  <a:srgbClr val="201F1F"/>
                </a:solidFill>
                <a:latin typeface="Circe"/>
                <a:ea typeface="Circe"/>
                <a:cs typeface="Circe"/>
                <a:sym typeface="Circe"/>
              </a:rPr>
              <a:t>“IEC 60601-2-24:2012 | IEC”. [En línea]. Disponible en: https://webstore.iec.ch/en/publication/2635</a:t>
            </a:r>
          </a:p>
          <a:p>
            <a:pPr algn="l">
              <a:lnSpc>
                <a:spcPts val="1565"/>
              </a:lnSpc>
            </a:pPr>
            <a:r>
              <a:rPr lang="en-US" sz="1118">
                <a:solidFill>
                  <a:srgbClr val="201F1F"/>
                </a:solidFill>
                <a:latin typeface="Circe"/>
                <a:ea typeface="Circe"/>
                <a:cs typeface="Circe"/>
                <a:sym typeface="Circe"/>
              </a:rPr>
              <a:t>[18]</a:t>
            </a:r>
          </a:p>
          <a:p>
            <a:pPr algn="l">
              <a:lnSpc>
                <a:spcPts val="1565"/>
              </a:lnSpc>
            </a:pPr>
            <a:r>
              <a:rPr lang="en-US" sz="1118">
                <a:solidFill>
                  <a:srgbClr val="201F1F"/>
                </a:solidFill>
                <a:latin typeface="Circe"/>
                <a:ea typeface="Circe"/>
                <a:cs typeface="Circe"/>
                <a:sym typeface="Circe"/>
              </a:rPr>
              <a:t>“Decreto Supremo N.° 013-2006-SA - Normas y documentos legales - Ministerio de Salud - Plataforma del Estado Peruano”. [En línea]. Disponible en: </a:t>
            </a:r>
            <a:r>
              <a:rPr lang="en-US" sz="1118" u="sng">
                <a:solidFill>
                  <a:srgbClr val="201F1F"/>
                </a:solidFill>
                <a:latin typeface="Circe"/>
                <a:ea typeface="Circe"/>
                <a:cs typeface="Circe"/>
                <a:sym typeface="Circe"/>
                <a:hlinkClick r:id="rId9" tooltip="https://www.gob.pe/institucion/minsa/normas-legales/251365-013-2006-sa"/>
              </a:rPr>
              <a:t>https://www.gob.pe/institucion/minsa/normas-legales/251365-013-2006-sa</a:t>
            </a:r>
          </a:p>
          <a:p>
            <a:pPr algn="l">
              <a:lnSpc>
                <a:spcPts val="1565"/>
              </a:lnSpc>
            </a:pPr>
            <a:r>
              <a:rPr lang="en-US" sz="1118">
                <a:solidFill>
                  <a:srgbClr val="201F1F"/>
                </a:solidFill>
                <a:latin typeface="Circe"/>
                <a:ea typeface="Circe"/>
                <a:cs typeface="Circe"/>
                <a:sym typeface="Circe"/>
              </a:rPr>
              <a:t>[19]</a:t>
            </a:r>
          </a:p>
          <a:p>
            <a:pPr algn="l">
              <a:lnSpc>
                <a:spcPts val="1565"/>
              </a:lnSpc>
            </a:pPr>
            <a:r>
              <a:rPr lang="en-US" sz="1118">
                <a:solidFill>
                  <a:srgbClr val="201F1F"/>
                </a:solidFill>
                <a:latin typeface="Circe"/>
                <a:ea typeface="Circe"/>
                <a:cs typeface="Circe"/>
                <a:sym typeface="Circe"/>
              </a:rPr>
              <a:t>“Decreto Supremo N.° 013-2006-SA - Normas y documentos legales - Ministerio de Salud - Plataforma del Estado Peruano”. [En línea]. Disponible en: https://www.gob.pe/institucion/minsa/normas-legales/251365-013-2006-sa</a:t>
            </a:r>
          </a:p>
          <a:p>
            <a:pPr algn="l">
              <a:lnSpc>
                <a:spcPts val="1565"/>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F6EEE8"/>
        </a:solidFill>
      </p:bgPr>
    </p:bg>
    <p:spTree>
      <p:nvGrpSpPr>
        <p:cNvPr id="1" name=""/>
        <p:cNvGrpSpPr/>
        <p:nvPr/>
      </p:nvGrpSpPr>
      <p:grpSpPr>
        <a:xfrm>
          <a:off x="0" y="0"/>
          <a:ext cx="0" cy="0"/>
          <a:chOff x="0" y="0"/>
          <a:chExt cx="0" cy="0"/>
        </a:xfrm>
      </p:grpSpPr>
      <p:sp>
        <p:nvSpPr>
          <p:cNvPr name="TextBox 2" id="2"/>
          <p:cNvSpPr txBox="true"/>
          <p:nvPr/>
        </p:nvSpPr>
        <p:spPr>
          <a:xfrm rot="0">
            <a:off x="4909959" y="4143375"/>
            <a:ext cx="8468082" cy="2143125"/>
          </a:xfrm>
          <a:prstGeom prst="rect">
            <a:avLst/>
          </a:prstGeom>
        </p:spPr>
        <p:txBody>
          <a:bodyPr anchor="t" rtlCol="false" tIns="0" lIns="0" bIns="0" rIns="0">
            <a:spAutoFit/>
          </a:bodyPr>
          <a:lstStyle/>
          <a:p>
            <a:pPr algn="l">
              <a:lnSpc>
                <a:spcPts val="16500"/>
              </a:lnSpc>
            </a:pPr>
            <a:r>
              <a:rPr lang="en-US" sz="15000">
                <a:solidFill>
                  <a:srgbClr val="412D44"/>
                </a:solidFill>
                <a:latin typeface="Circe Contrast"/>
                <a:ea typeface="Circe Contrast"/>
                <a:cs typeface="Circe Contrast"/>
                <a:sym typeface="Circe Contrast"/>
              </a:rPr>
              <a:t>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DAHVk3HjDKg</dc:identifier>
  <dcterms:modified xsi:type="dcterms:W3CDTF">2011-08-01T06:04:30Z</dcterms:modified>
  <cp:revision>1</cp:revision>
  <dc:title>Presentación - H1 - Grupo 13</dc:title>
</cp:coreProperties>
</file>